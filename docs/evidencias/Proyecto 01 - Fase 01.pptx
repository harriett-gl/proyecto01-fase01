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3315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4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463040"/>
            <a:ext cx="4754880" cy="4754880"/>
          </a:xfrm>
          <a:prstGeom prst="ellipse">
            <a:avLst/>
          </a:prstGeom>
          <a:solidFill>
            <a:srgbClr val="2A1E5C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3" name="Shape 1"/>
          <p:cNvSpPr/>
          <p:nvPr/>
        </p:nvSpPr>
        <p:spPr>
          <a:xfrm>
            <a:off x="10424160" y="-274320"/>
            <a:ext cx="2743200" cy="2743200"/>
          </a:xfrm>
          <a:prstGeom prst="ellipse">
            <a:avLst/>
          </a:prstGeom>
          <a:solidFill>
            <a:srgbClr val="3557D6">
              <a:alpha val="75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4" name="Shape 2"/>
          <p:cNvSpPr/>
          <p:nvPr/>
        </p:nvSpPr>
        <p:spPr>
          <a:xfrm>
            <a:off x="-1280160" y="4572000"/>
            <a:ext cx="3840480" cy="3840480"/>
          </a:xfrm>
          <a:prstGeom prst="ellipse">
            <a:avLst/>
          </a:prstGeom>
          <a:solidFill>
            <a:srgbClr val="2A1E5C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5" name="Shape 3"/>
          <p:cNvSpPr/>
          <p:nvPr/>
        </p:nvSpPr>
        <p:spPr>
          <a:xfrm>
            <a:off x="-457200" y="5394960"/>
            <a:ext cx="1828800" cy="1828800"/>
          </a:xfrm>
          <a:prstGeom prst="ellipse">
            <a:avLst/>
          </a:prstGeom>
          <a:solidFill>
            <a:srgbClr val="A78BFA">
              <a:alpha val="65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CIENCIA DE DATOS · PROYECTO 01 · FASE 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Proyecto Red Metropolitana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un pipeline de datos por capas para unificar Transmetro, Transurbano, MetroRiel y Aerometro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160520"/>
            <a:ext cx="548640" cy="36576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0" name="Text 8"/>
          <p:cNvSpPr/>
          <p:nvPr/>
        </p:nvSpPr>
        <p:spPr>
          <a:xfrm>
            <a:off x="822960" y="44348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Rochelle Giulianne Esquivel Vargas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Susana Paola García García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Harriett Alexandra Guzmán López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0" y="58064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C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Rafael Landívar · Facultad de Ingeniería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C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Sistemas e Informática · Inge. Max Cerna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C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Guatemala, septiembre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operadores, cuatro maneras distintas de registrar datos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transporte metropolitano de Guatemala combina fuentes con formatos, identificadores y granularidades diferentes, lo que impide obtener una visión unificada de la red.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DD6F5"/>
            </a:solidFill>
            <a:prstDash val="solid"/>
          </a:ln>
          <a:effectLst>
            <a:outerShdw blurRad="101600" dist="38100" dir="5400000" algn="bl" rotWithShape="0">
              <a:srgbClr val="2A1E5C">
                <a:alpha val="15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6" name="Shape 4"/>
          <p:cNvSpPr/>
          <p:nvPr/>
        </p:nvSpPr>
        <p:spPr>
          <a:xfrm>
            <a:off x="1531620" y="2743200"/>
            <a:ext cx="640080" cy="640080"/>
          </a:xfrm>
          <a:prstGeom prst="ellipse">
            <a:avLst/>
          </a:prstGeom>
          <a:solidFill>
            <a:srgbClr val="3557D6"/>
          </a:solidFill>
          <a:ln/>
        </p:spPr>
        <p:txBody>
          <a:bodyPr/>
          <a:lstStyle/>
          <a:p>
            <a:endParaRPr lang="es-GT"/>
          </a:p>
        </p:txBody>
      </p:sp>
      <p:pic>
        <p:nvPicPr>
          <p:cNvPr id="7" name="Image 0" descr="/home/claude/proj/icons/b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239" y="2896819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5661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0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Transmetro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397764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 de abordaje + padrón de usuarios con operaciones CDC (insert/update/delete)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42316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DD6F5"/>
            </a:solidFill>
            <a:prstDash val="solid"/>
          </a:ln>
          <a:effectLst>
            <a:outerShdw blurRad="101600" dist="38100" dir="5400000" algn="bl" rotWithShape="0">
              <a:srgbClr val="2A1E5C">
                <a:alpha val="15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1" name="Shape 8"/>
          <p:cNvSpPr/>
          <p:nvPr/>
        </p:nvSpPr>
        <p:spPr>
          <a:xfrm>
            <a:off x="4366260" y="2743200"/>
            <a:ext cx="640080" cy="64008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GT"/>
          </a:p>
        </p:txBody>
      </p:sp>
      <p:pic>
        <p:nvPicPr>
          <p:cNvPr id="12" name="Image 1" descr="/home/claude/proj/icons/tick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9879" y="289681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35661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0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Transurbano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566160" y="397764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 en lote; los montos se registran en centavos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17920" y="242316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DD6F5"/>
            </a:solidFill>
            <a:prstDash val="solid"/>
          </a:ln>
          <a:effectLst>
            <a:outerShdw blurRad="101600" dist="38100" dir="5400000" algn="bl" rotWithShape="0">
              <a:srgbClr val="2A1E5C">
                <a:alpha val="15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6" name="Shape 12"/>
          <p:cNvSpPr/>
          <p:nvPr/>
        </p:nvSpPr>
        <p:spPr>
          <a:xfrm>
            <a:off x="7200900" y="2743200"/>
            <a:ext cx="640080" cy="640080"/>
          </a:xfrm>
          <a:prstGeom prst="ellipse">
            <a:avLst/>
          </a:prstGeom>
          <a:solidFill>
            <a:srgbClr val="3557D6"/>
          </a:solidFill>
          <a:ln/>
        </p:spPr>
        <p:txBody>
          <a:bodyPr/>
          <a:lstStyle/>
          <a:p>
            <a:endParaRPr lang="es-GT"/>
          </a:p>
        </p:txBody>
      </p:sp>
      <p:pic>
        <p:nvPicPr>
          <p:cNvPr id="17" name="Image 2" descr="/home/claude/proj/icons/subwa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4519" y="2896819"/>
            <a:ext cx="332842" cy="33284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55080" y="35661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0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MetroRiel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00800" y="397764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Viajes completos con entrada y salida, no abordajes individuales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052560" y="242316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DD6F5"/>
            </a:solidFill>
            <a:prstDash val="solid"/>
          </a:ln>
          <a:effectLst>
            <a:outerShdw blurRad="101600" dist="38100" dir="5400000" algn="bl" rotWithShape="0">
              <a:srgbClr val="2A1E5C">
                <a:alpha val="15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1" name="Shape 16"/>
          <p:cNvSpPr/>
          <p:nvPr/>
        </p:nvSpPr>
        <p:spPr>
          <a:xfrm>
            <a:off x="10035540" y="2743200"/>
            <a:ext cx="640080" cy="64008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GT"/>
          </a:p>
        </p:txBody>
      </p:sp>
      <p:pic>
        <p:nvPicPr>
          <p:cNvPr id="22" name="Image 3" descr="/home/claude/proj/icons/pla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9159" y="2896819"/>
            <a:ext cx="332842" cy="33284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89720" y="35661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0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Aerometro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35440" y="397764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Abordajes en streaming; las marcas de tiempo llegan en UTC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Metropolitana de Transporte · Fase 01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4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plataforma por capas para integrar, limpiar y modelar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pipeline conserva los datos originales, aplica reglas de calidad de forma trazable y construye un modelo dimensional listo para análisis en la Fase 02.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2514600" cy="3108960"/>
          </a:xfrm>
          <a:prstGeom prst="roundRect">
            <a:avLst>
              <a:gd name="adj" fmla="val 3636"/>
            </a:avLst>
          </a:prstGeom>
          <a:solidFill>
            <a:srgbClr val="2A1E5C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6" name="Shape 4"/>
          <p:cNvSpPr/>
          <p:nvPr/>
        </p:nvSpPr>
        <p:spPr>
          <a:xfrm>
            <a:off x="1577340" y="2788920"/>
            <a:ext cx="640080" cy="640080"/>
          </a:xfrm>
          <a:prstGeom prst="ellipse">
            <a:avLst/>
          </a:prstGeom>
          <a:solidFill>
            <a:srgbClr val="3557D6"/>
          </a:solidFill>
          <a:ln/>
        </p:spPr>
        <p:txBody>
          <a:bodyPr/>
          <a:lstStyle/>
          <a:p>
            <a:endParaRPr lang="es-GT"/>
          </a:p>
        </p:txBody>
      </p:sp>
      <p:pic>
        <p:nvPicPr>
          <p:cNvPr id="7" name="Image 0" descr="/home/claude/proj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0959" y="2942539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6118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Bronze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402336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Parquet particionados por fecha; conserva el dato crudo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172968" y="38404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78BFA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447288" y="2514600"/>
            <a:ext cx="2514600" cy="3108960"/>
          </a:xfrm>
          <a:prstGeom prst="roundRect">
            <a:avLst>
              <a:gd name="adj" fmla="val 3636"/>
            </a:avLst>
          </a:prstGeom>
          <a:solidFill>
            <a:srgbClr val="2A1E5C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2" name="Shape 9"/>
          <p:cNvSpPr/>
          <p:nvPr/>
        </p:nvSpPr>
        <p:spPr>
          <a:xfrm>
            <a:off x="4384548" y="2788920"/>
            <a:ext cx="640080" cy="640080"/>
          </a:xfrm>
          <a:prstGeom prst="ellipse">
            <a:avLst/>
          </a:prstGeom>
          <a:solidFill>
            <a:srgbClr val="3557D6"/>
          </a:solidFill>
          <a:ln/>
        </p:spPr>
        <p:txBody>
          <a:bodyPr/>
          <a:lstStyle/>
          <a:p>
            <a:endParaRPr lang="es-GT"/>
          </a:p>
        </p:txBody>
      </p:sp>
      <p:pic>
        <p:nvPicPr>
          <p:cNvPr id="13" name="Image 1" descr="/home/claude/proj/icons/uplo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8167" y="2942539"/>
            <a:ext cx="332842" cy="33284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84448" y="36118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Staging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3630168" y="402336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temporal en PostgreSQL; se vacía al finalizar cada corrida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980176" y="38404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78BFA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6254496" y="2514600"/>
            <a:ext cx="2514600" cy="3108960"/>
          </a:xfrm>
          <a:prstGeom prst="roundRect">
            <a:avLst>
              <a:gd name="adj" fmla="val 3636"/>
            </a:avLst>
          </a:prstGeom>
          <a:solidFill>
            <a:srgbClr val="2A1E5C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8" name="Shape 14"/>
          <p:cNvSpPr/>
          <p:nvPr/>
        </p:nvSpPr>
        <p:spPr>
          <a:xfrm>
            <a:off x="7191756" y="2788920"/>
            <a:ext cx="640080" cy="640080"/>
          </a:xfrm>
          <a:prstGeom prst="ellipse">
            <a:avLst/>
          </a:prstGeom>
          <a:solidFill>
            <a:srgbClr val="3557D6"/>
          </a:solidFill>
          <a:ln/>
        </p:spPr>
        <p:txBody>
          <a:bodyPr/>
          <a:lstStyle/>
          <a:p>
            <a:endParaRPr lang="es-GT"/>
          </a:p>
        </p:txBody>
      </p:sp>
      <p:pic>
        <p:nvPicPr>
          <p:cNvPr id="19" name="Image 2" descr="/home/claude/proj/icons/fil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5375" y="2942539"/>
            <a:ext cx="332842" cy="33284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91656" y="36118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6437376" y="402336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 unificados, padrón CDC, catálogos y cuarentena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8787384" y="38404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78BFA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9061704" y="2514600"/>
            <a:ext cx="2514600" cy="3108960"/>
          </a:xfrm>
          <a:prstGeom prst="roundRect">
            <a:avLst>
              <a:gd name="adj" fmla="val 3636"/>
            </a:avLst>
          </a:prstGeom>
          <a:solidFill>
            <a:srgbClr val="2A1E5C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4" name="Shape 19"/>
          <p:cNvSpPr/>
          <p:nvPr/>
        </p:nvSpPr>
        <p:spPr>
          <a:xfrm>
            <a:off x="9998964" y="2788920"/>
            <a:ext cx="640080" cy="640080"/>
          </a:xfrm>
          <a:prstGeom prst="ellipse">
            <a:avLst/>
          </a:prstGeom>
          <a:solidFill>
            <a:srgbClr val="3557D6"/>
          </a:solidFill>
          <a:ln/>
        </p:spPr>
        <p:txBody>
          <a:bodyPr/>
          <a:lstStyle/>
          <a:p>
            <a:endParaRPr lang="es-GT"/>
          </a:p>
        </p:txBody>
      </p:sp>
      <p:pic>
        <p:nvPicPr>
          <p:cNvPr id="25" name="Image 3" descr="/home/claude/proj/icons/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2583" y="2942539"/>
            <a:ext cx="332842" cy="33284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198864" y="36118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9244584" y="402336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dimensiones conformadas y 2 tablas de hechos para análisis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Metropolitana de Transporte · Fase 01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Y ARQUITECTURA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seleccionada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" name="Shape 3"/>
          <p:cNvSpPr/>
          <p:nvPr/>
        </p:nvSpPr>
        <p:spPr>
          <a:xfrm>
            <a:off x="777240" y="1892808"/>
            <a:ext cx="237744" cy="237744"/>
          </a:xfrm>
          <a:prstGeom prst="ellipse">
            <a:avLst/>
          </a:prstGeom>
          <a:solidFill>
            <a:srgbClr val="3557D6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1234440" y="16916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Kafka (Docker)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977640" y="169164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de eventos continuos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01200" y="1691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3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9092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478024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0" name="Shape 8"/>
          <p:cNvSpPr/>
          <p:nvPr/>
        </p:nvSpPr>
        <p:spPr>
          <a:xfrm>
            <a:off x="777240" y="2679192"/>
            <a:ext cx="237744" cy="237744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1" name="Text 9"/>
          <p:cNvSpPr/>
          <p:nvPr/>
        </p:nvSpPr>
        <p:spPr>
          <a:xfrm>
            <a:off x="1234440" y="2478024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Lake local · Parquet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77640" y="2478024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Bronze; datos crudos particionados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601200" y="2478024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3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archivos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264408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5" name="Shape 13"/>
          <p:cNvSpPr/>
          <p:nvPr/>
        </p:nvSpPr>
        <p:spPr>
          <a:xfrm>
            <a:off x="777240" y="3465576"/>
            <a:ext cx="237744" cy="237744"/>
          </a:xfrm>
          <a:prstGeom prst="ellipse">
            <a:avLst/>
          </a:prstGeom>
          <a:solidFill>
            <a:srgbClr val="3557D6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6" name="Text 14"/>
          <p:cNvSpPr/>
          <p:nvPr/>
        </p:nvSpPr>
        <p:spPr>
          <a:xfrm>
            <a:off x="1234440" y="326440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77640" y="3264408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Staging, Silver, Gold, cuarentena y auditoría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601200" y="326440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3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5432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050792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0" name="Shape 18"/>
          <p:cNvSpPr/>
          <p:nvPr/>
        </p:nvSpPr>
        <p:spPr>
          <a:xfrm>
            <a:off x="777240" y="4251960"/>
            <a:ext cx="237744" cy="237744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1" name="Text 19"/>
          <p:cNvSpPr/>
          <p:nvPr/>
        </p:nvSpPr>
        <p:spPr>
          <a:xfrm>
            <a:off x="1234440" y="405079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977640" y="4050792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Transformaciones, pruebas y linaje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601200" y="405079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3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 pruebas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837176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5" name="Shape 23"/>
          <p:cNvSpPr/>
          <p:nvPr/>
        </p:nvSpPr>
        <p:spPr>
          <a:xfrm>
            <a:off x="777240" y="5038344"/>
            <a:ext cx="237744" cy="237744"/>
          </a:xfrm>
          <a:prstGeom prst="ellipse">
            <a:avLst/>
          </a:prstGeom>
          <a:solidFill>
            <a:srgbClr val="3557D6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6" name="Text 24"/>
          <p:cNvSpPr/>
          <p:nvPr/>
        </p:nvSpPr>
        <p:spPr>
          <a:xfrm>
            <a:off x="1234440" y="4837176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Prefect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77640" y="4837176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Orquestación del flujo end-to-end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601200" y="4837176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3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Automatizado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56692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nunca consulta Bronze directamente: los datos siempre pasan por Silver para limpieza y control de calidad. Tableau queda establecido como consumidor de Gold en la Fase 02.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Metropolitana de Transporte · Fase 01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 Y ALMACENAMIENTO BRONZE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método de ingesta por tipo de fuente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  <a:effectLst>
            <a:outerShdw blurRad="101600" dist="38100" dir="5400000" algn="bl" rotWithShape="0">
              <a:srgbClr val="2A1E5C">
                <a:alpha val="1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3557D6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4672" y="2606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Validaciones de Transmetro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04672" y="299008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Abordajes de Aerometro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04672" y="443484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que pueden llegar de forma continua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737360"/>
            <a:ext cx="356616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  <a:effectLst>
            <a:outerShdw blurRad="101600" dist="38100" dir="5400000" algn="bl" rotWithShape="0">
              <a:srgbClr val="2A1E5C">
                <a:alpha val="1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1" name="Shape 9"/>
          <p:cNvSpPr/>
          <p:nvPr/>
        </p:nvSpPr>
        <p:spPr>
          <a:xfrm>
            <a:off x="4526280" y="2011680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A78BFA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2" name="Text 10"/>
          <p:cNvSpPr/>
          <p:nvPr/>
        </p:nvSpPr>
        <p:spPr>
          <a:xfrm>
            <a:off x="4526280" y="20116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53712" y="2606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Transacciones de Transurbano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53712" y="299008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Viajes de MetroRiel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53712" y="337413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Catálogos de estaciones/paradas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53712" y="443484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completos entregados por corrida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46720" y="1737360"/>
            <a:ext cx="356616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  <a:effectLst>
            <a:outerShdw blurRad="101600" dist="38100" dir="5400000" algn="bl" rotWithShape="0">
              <a:srgbClr val="2A1E5C">
                <a:alpha val="1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8" name="Shape 16"/>
          <p:cNvSpPr/>
          <p:nvPr/>
        </p:nvSpPr>
        <p:spPr>
          <a:xfrm>
            <a:off x="8275320" y="2011680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6D3FBF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9" name="Text 17"/>
          <p:cNvSpPr/>
          <p:nvPr/>
        </p:nvSpPr>
        <p:spPr>
          <a:xfrm>
            <a:off x="8275320" y="20116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02752" y="2606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Padrón de usuarios de Transmetro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302752" y="443484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Contiene inserciones, actualizaciones y eliminaciones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Metropolitana de Transporte · Fase 01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4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BRONZE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crudos, conservados y reprocesables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116836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Ubicación: </a:t>
            </a:r>
            <a:r>
              <a:rPr lang="en-US" sz="1400" dirty="0">
                <a:solidFill>
                  <a:srgbClr val="C8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 local organizado en carpetas y particiones por fecha.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665476"/>
            <a:ext cx="6675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Formato: </a:t>
            </a:r>
            <a:r>
              <a:rPr lang="en-US" sz="1400" dirty="0">
                <a:solidFill>
                  <a:srgbClr val="C8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— conserva tipos de datos, comprime el espacio y admite el contenido anidado de MetroRiel sin imponer una estructura relacional.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854196"/>
            <a:ext cx="6675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Trazabilidad: </a:t>
            </a:r>
            <a:r>
              <a:rPr lang="en-US" sz="1400" dirty="0">
                <a:solidFill>
                  <a:srgbClr val="C8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se conserva íntegro y permite volver a procesar cualquier fuente sin modificar el origen.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80960" y="1920240"/>
            <a:ext cx="3931920" cy="3108960"/>
          </a:xfrm>
          <a:prstGeom prst="roundRect">
            <a:avLst>
              <a:gd name="adj" fmla="val 3529"/>
            </a:avLst>
          </a:prstGeom>
          <a:solidFill>
            <a:srgbClr val="2A1E5C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8" name="Shape 6"/>
          <p:cNvSpPr/>
          <p:nvPr/>
        </p:nvSpPr>
        <p:spPr>
          <a:xfrm>
            <a:off x="9281160" y="2194560"/>
            <a:ext cx="731520" cy="731520"/>
          </a:xfrm>
          <a:prstGeom prst="ellipse">
            <a:avLst/>
          </a:prstGeom>
          <a:solidFill>
            <a:srgbClr val="3557D6"/>
          </a:solidFill>
          <a:ln/>
        </p:spPr>
        <p:txBody>
          <a:bodyPr/>
          <a:lstStyle/>
          <a:p>
            <a:endParaRPr lang="es-GT"/>
          </a:p>
        </p:txBody>
      </p:sp>
      <p:pic>
        <p:nvPicPr>
          <p:cNvPr id="9" name="Image 0" descr="/home/claude/proj/icons/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6725" y="2370125"/>
            <a:ext cx="380390" cy="38039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0" y="306324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 MB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7863840" y="38862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medido de la carpeta lake/bronze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Metropolitana de Transporte · Fase 01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Y PROCESAMIENTO CDC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padrón se procesa respetando el orden de la secuencia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crea una tarjeta, UPDATE modifica sus atributos y DELETE la marca como inactiva. Los borrados son lógicos para no perder el historial de viajes asociado a la tarjeta.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  <a:effectLst>
            <a:outerShdw blurRad="101600" dist="38100" dir="5400000" algn="bl" rotWithShape="0">
              <a:srgbClr val="2A1E5C">
                <a:alpha val="1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6" name="Shape 4"/>
          <p:cNvSpPr/>
          <p:nvPr/>
        </p:nvSpPr>
        <p:spPr>
          <a:xfrm>
            <a:off x="2208276" y="2487168"/>
            <a:ext cx="201168" cy="201168"/>
          </a:xfrm>
          <a:prstGeom prst="ellipse">
            <a:avLst/>
          </a:prstGeom>
          <a:solidFill>
            <a:srgbClr val="3557D6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0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10,800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51960" y="22860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  <a:effectLst>
            <a:outerShdw blurRad="101600" dist="38100" dir="5400000" algn="bl" rotWithShape="0">
              <a:srgbClr val="2A1E5C">
                <a:alpha val="1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0" name="Shape 8"/>
          <p:cNvSpPr/>
          <p:nvPr/>
        </p:nvSpPr>
        <p:spPr>
          <a:xfrm>
            <a:off x="5911596" y="2487168"/>
            <a:ext cx="201168" cy="201168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1" name="Text 9"/>
          <p:cNvSpPr/>
          <p:nvPr/>
        </p:nvSpPr>
        <p:spPr>
          <a:xfrm>
            <a:off x="4251960" y="278892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0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16,200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251960" y="36576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55280" y="22860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  <a:effectLst>
            <a:outerShdw blurRad="101600" dist="38100" dir="5400000" algn="bl" rotWithShape="0">
              <a:srgbClr val="2A1E5C">
                <a:alpha val="1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4" name="Shape 12"/>
          <p:cNvSpPr/>
          <p:nvPr/>
        </p:nvSpPr>
        <p:spPr>
          <a:xfrm>
            <a:off x="9614916" y="2487168"/>
            <a:ext cx="201168" cy="201168"/>
          </a:xfrm>
          <a:prstGeom prst="ellipse">
            <a:avLst/>
          </a:prstGeom>
          <a:solidFill>
            <a:srgbClr val="6D3FBF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5" name="Text 13"/>
          <p:cNvSpPr/>
          <p:nvPr/>
        </p:nvSpPr>
        <p:spPr>
          <a:xfrm>
            <a:off x="7955280" y="278892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0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4,050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7955280" y="36576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(lógico)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4526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31,050 operaciones CDC procesadas sobre el padrón de usuarios de Transmetro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521208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E7E1FB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9" name="Text 17"/>
          <p:cNvSpPr/>
          <p:nvPr/>
        </p:nvSpPr>
        <p:spPr>
          <a:xfrm>
            <a:off x="822960" y="52120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0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funciona como zona temporal: recibe los archivos de cada ejecución y se vacía al finalizar el pipeline. Bronze permanece conservado como fuente de reprocesamiento.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Metropolitana de Transporte · Fase 01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4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CDC Y USUARIOS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final del padrón y catálogos mínimos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120640" cy="4114800"/>
          </a:xfrm>
          <a:prstGeom prst="roundRect">
            <a:avLst>
              <a:gd name="adj" fmla="val 2667"/>
            </a:avLst>
          </a:prstGeom>
          <a:solidFill>
            <a:srgbClr val="2A1E5C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17,432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8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tarjetas en el padrón vigente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05840" y="3566160"/>
            <a:ext cx="3642577" cy="457200"/>
          </a:xfrm>
          <a:prstGeom prst="rect">
            <a:avLst/>
          </a:prstGeom>
          <a:solidFill>
            <a:srgbClr val="3557D6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8" name="Shape 6"/>
          <p:cNvSpPr/>
          <p:nvPr/>
        </p:nvSpPr>
        <p:spPr>
          <a:xfrm>
            <a:off x="4648417" y="3566160"/>
            <a:ext cx="563663" cy="457200"/>
          </a:xfrm>
          <a:prstGeom prst="rect">
            <a:avLst/>
          </a:prstGeom>
          <a:solidFill>
            <a:srgbClr val="463370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9" name="Text 7"/>
          <p:cNvSpPr/>
          <p:nvPr/>
        </p:nvSpPr>
        <p:spPr>
          <a:xfrm>
            <a:off x="1005840" y="4160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15,096 activas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0" y="4160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5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2,336 inactivas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66344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C8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eliminaciones se representan con un estado inactivo (borrado lógico), preservando el historial de viajes.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035040" y="182880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Catálogos mínimos de usuarios (sin padrón entregado)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35040" y="2423160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2A1E5C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4" name="Shape 12"/>
          <p:cNvSpPr/>
          <p:nvPr/>
        </p:nvSpPr>
        <p:spPr>
          <a:xfrm>
            <a:off x="6217920" y="2560320"/>
            <a:ext cx="640080" cy="64008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GT"/>
          </a:p>
        </p:txBody>
      </p:sp>
      <p:pic>
        <p:nvPicPr>
          <p:cNvPr id="15" name="Image 0" descr="/home/claude/proj/icons/ti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539" y="2713939"/>
            <a:ext cx="332842" cy="33284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040880" y="2514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Transurbano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040880" y="2834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C2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36,567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9509760" y="242316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9C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únicos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035040" y="3502152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2A1E5C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0" name="Shape 17"/>
          <p:cNvSpPr/>
          <p:nvPr/>
        </p:nvSpPr>
        <p:spPr>
          <a:xfrm>
            <a:off x="6217920" y="3639312"/>
            <a:ext cx="640080" cy="64008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GT"/>
          </a:p>
        </p:txBody>
      </p:sp>
      <p:pic>
        <p:nvPicPr>
          <p:cNvPr id="21" name="Image 1" descr="/home/claude/proj/icons/subw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539" y="3792931"/>
            <a:ext cx="332842" cy="33284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040880" y="359359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MetroRiel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7040880" y="391363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C2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22,885</a:t>
            </a:r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9509760" y="3502152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9C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únicos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6035040" y="4581144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2A1E5C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6" name="Shape 22"/>
          <p:cNvSpPr/>
          <p:nvPr/>
        </p:nvSpPr>
        <p:spPr>
          <a:xfrm>
            <a:off x="6217920" y="4718304"/>
            <a:ext cx="640080" cy="64008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GT"/>
          </a:p>
        </p:txBody>
      </p:sp>
      <p:pic>
        <p:nvPicPr>
          <p:cNvPr id="27" name="Image 2" descr="/home/claude/proj/icons/pla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1539" y="4871923"/>
            <a:ext cx="332842" cy="33284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040880" y="467258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Aerometro</a:t>
            </a:r>
            <a:endParaRPr lang="en-US" sz="1350" dirty="0"/>
          </a:p>
        </p:txBody>
      </p:sp>
      <p:sp>
        <p:nvSpPr>
          <p:cNvPr id="29" name="Text 24"/>
          <p:cNvSpPr/>
          <p:nvPr/>
        </p:nvSpPr>
        <p:spPr>
          <a:xfrm>
            <a:off x="7040880" y="499262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C2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14,496</a:t>
            </a:r>
            <a:endParaRPr lang="en-US" sz="2000" dirty="0"/>
          </a:p>
        </p:txBody>
      </p:sp>
      <p:sp>
        <p:nvSpPr>
          <p:cNvPr id="30" name="Text 25"/>
          <p:cNvSpPr/>
          <p:nvPr/>
        </p:nvSpPr>
        <p:spPr>
          <a:xfrm>
            <a:off x="9509760" y="4581144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9C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únicos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Metropolitana de Transporte · Fase 01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Y CALIDAD EN SILVER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Unificación de formatos y conformación de identidades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" name="Shape 3"/>
          <p:cNvSpPr/>
          <p:nvPr/>
        </p:nvSpPr>
        <p:spPr>
          <a:xfrm>
            <a:off x="713232" y="1929384"/>
            <a:ext cx="237744" cy="237744"/>
          </a:xfrm>
          <a:prstGeom prst="ellipse">
            <a:avLst/>
          </a:prstGeom>
          <a:solidFill>
            <a:srgbClr val="3557D6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1143000" y="1691640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Fechas y horas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840480" y="1691640"/>
            <a:ext cx="7589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Aerometro (UTC) se convierte a hora local de Guatemala; formatos estandarizados entre fuentes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9" name="Shape 7"/>
          <p:cNvSpPr/>
          <p:nvPr/>
        </p:nvSpPr>
        <p:spPr>
          <a:xfrm>
            <a:off x="713232" y="2770632"/>
            <a:ext cx="237744" cy="237744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0" name="Text 8"/>
          <p:cNvSpPr/>
          <p:nvPr/>
        </p:nvSpPr>
        <p:spPr>
          <a:xfrm>
            <a:off x="1143000" y="2532888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Moneda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840480" y="2532888"/>
            <a:ext cx="7589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centavos de Transurbano se transforman a quetzales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374136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3" name="Shape 11"/>
          <p:cNvSpPr/>
          <p:nvPr/>
        </p:nvSpPr>
        <p:spPr>
          <a:xfrm>
            <a:off x="713232" y="3611880"/>
            <a:ext cx="237744" cy="237744"/>
          </a:xfrm>
          <a:prstGeom prst="ellipse">
            <a:avLst/>
          </a:prstGeom>
          <a:solidFill>
            <a:srgbClr val="3557D6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4" name="Text 12"/>
          <p:cNvSpPr/>
          <p:nvPr/>
        </p:nvSpPr>
        <p:spPr>
          <a:xfrm>
            <a:off x="1143000" y="3374136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Zonas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840480" y="3374136"/>
            <a:ext cx="7589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Z10, "Zona 10" y el campo district se normalizan a una misma llave de zona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215384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7" name="Shape 15"/>
          <p:cNvSpPr/>
          <p:nvPr/>
        </p:nvSpPr>
        <p:spPr>
          <a:xfrm>
            <a:off x="713232" y="4453128"/>
            <a:ext cx="237744" cy="237744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8" name="Text 16"/>
          <p:cNvSpPr/>
          <p:nvPr/>
        </p:nvSpPr>
        <p:spPr>
          <a:xfrm>
            <a:off x="1143000" y="4215384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Identidad de usuario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840480" y="4215384"/>
            <a:ext cx="7589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Llaves de origen normalizadas por operador; llave sustituta seudonimizada mediante hash determinístico antes de Gold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056632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1" name="Shape 19"/>
          <p:cNvSpPr/>
          <p:nvPr/>
        </p:nvSpPr>
        <p:spPr>
          <a:xfrm>
            <a:off x="713232" y="5294376"/>
            <a:ext cx="237744" cy="237744"/>
          </a:xfrm>
          <a:prstGeom prst="ellipse">
            <a:avLst/>
          </a:prstGeom>
          <a:solidFill>
            <a:srgbClr val="3557D6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2" name="Text 20"/>
          <p:cNvSpPr/>
          <p:nvPr/>
        </p:nvSpPr>
        <p:spPr>
          <a:xfrm>
            <a:off x="1143000" y="5056632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Historización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840480" y="5056632"/>
            <a:ext cx="7589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padrón se historiza con SCD Tipo 2: versiones con periodo de vigencia e indicador de registro actual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Metropolitana de Transporte · Fase 01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4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Y CONFORMACIÓN EN SILVER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registros inválidos no se descartan: van a cuarentena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2A1E5C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5" name="Shape 3"/>
          <p:cNvSpPr/>
          <p:nvPr/>
        </p:nvSpPr>
        <p:spPr>
          <a:xfrm>
            <a:off x="1920240" y="2057400"/>
            <a:ext cx="822960" cy="822960"/>
          </a:xfrm>
          <a:prstGeom prst="ellipse">
            <a:avLst/>
          </a:prstGeom>
          <a:solidFill>
            <a:srgbClr val="3557D6"/>
          </a:solidFill>
          <a:ln/>
        </p:spPr>
        <p:txBody>
          <a:bodyPr/>
          <a:lstStyle/>
          <a:p>
            <a:endParaRPr lang="es-GT"/>
          </a:p>
        </p:txBody>
      </p:sp>
      <p:pic>
        <p:nvPicPr>
          <p:cNvPr id="6" name="Image 0" descr="/home/claude/proj/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7750" y="225491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0175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18,431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777240" y="384048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trasladados a cuarentena con su motivo de rechazo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52120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C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MetroRiel: 295,511 de 299,100 viajes pasan a Silver (3,589 sin salida)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480560" y="1828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Llaves CDC inválidas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680960" y="1883664"/>
            <a:ext cx="2834640" cy="256032"/>
          </a:xfrm>
          <a:prstGeom prst="roundRect">
            <a:avLst>
              <a:gd name="adj" fmla="val 14286"/>
            </a:avLst>
          </a:prstGeom>
          <a:solidFill>
            <a:srgbClr val="2E2263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2" name="Shape 9"/>
          <p:cNvSpPr/>
          <p:nvPr/>
        </p:nvSpPr>
        <p:spPr>
          <a:xfrm>
            <a:off x="7680960" y="1883664"/>
            <a:ext cx="2834640" cy="256032"/>
          </a:xfrm>
          <a:prstGeom prst="roundRect">
            <a:avLst>
              <a:gd name="adj" fmla="val 14286"/>
            </a:avLst>
          </a:prstGeom>
          <a:solidFill>
            <a:srgbClr val="3557D6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3" name="Text 10"/>
          <p:cNvSpPr/>
          <p:nvPr/>
        </p:nvSpPr>
        <p:spPr>
          <a:xfrm>
            <a:off x="10607040" y="18288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8,724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480560" y="2377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inválidos de Transurbano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680960" y="2432304"/>
            <a:ext cx="2834640" cy="256032"/>
          </a:xfrm>
          <a:prstGeom prst="roundRect">
            <a:avLst>
              <a:gd name="adj" fmla="val 14286"/>
            </a:avLst>
          </a:prstGeom>
          <a:solidFill>
            <a:srgbClr val="2E2263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6" name="Shape 13"/>
          <p:cNvSpPr/>
          <p:nvPr/>
        </p:nvSpPr>
        <p:spPr>
          <a:xfrm>
            <a:off x="7680960" y="2432304"/>
            <a:ext cx="1905031" cy="256032"/>
          </a:xfrm>
          <a:prstGeom prst="roundRect">
            <a:avLst>
              <a:gd name="adj" fmla="val 14286"/>
            </a:avLst>
          </a:prstGeom>
          <a:solidFill>
            <a:srgbClr val="A78BFA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7" name="Text 14"/>
          <p:cNvSpPr/>
          <p:nvPr/>
        </p:nvSpPr>
        <p:spPr>
          <a:xfrm>
            <a:off x="10607040" y="2377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5,863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48056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Viajes de MetroRiel sin salida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680960" y="2980944"/>
            <a:ext cx="2834640" cy="256032"/>
          </a:xfrm>
          <a:prstGeom prst="roundRect">
            <a:avLst>
              <a:gd name="adj" fmla="val 14286"/>
            </a:avLst>
          </a:prstGeom>
          <a:solidFill>
            <a:srgbClr val="2E2263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0" name="Shape 17"/>
          <p:cNvSpPr/>
          <p:nvPr/>
        </p:nvSpPr>
        <p:spPr>
          <a:xfrm>
            <a:off x="7680960" y="2980944"/>
            <a:ext cx="1166153" cy="256032"/>
          </a:xfrm>
          <a:prstGeom prst="roundRect">
            <a:avLst>
              <a:gd name="adj" fmla="val 14286"/>
            </a:avLst>
          </a:prstGeom>
          <a:solidFill>
            <a:srgbClr val="6D3FBF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1" name="Text 18"/>
          <p:cNvSpPr/>
          <p:nvPr/>
        </p:nvSpPr>
        <p:spPr>
          <a:xfrm>
            <a:off x="10607040" y="29260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3,589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480560" y="3474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 duplicadas (Transmetro)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680960" y="3529584"/>
            <a:ext cx="2834640" cy="256032"/>
          </a:xfrm>
          <a:prstGeom prst="roundRect">
            <a:avLst>
              <a:gd name="adj" fmla="val 14286"/>
            </a:avLst>
          </a:prstGeom>
          <a:solidFill>
            <a:srgbClr val="2E2263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4" name="Shape 21"/>
          <p:cNvSpPr/>
          <p:nvPr/>
        </p:nvSpPr>
        <p:spPr>
          <a:xfrm>
            <a:off x="7680960" y="3529584"/>
            <a:ext cx="362291" cy="256032"/>
          </a:xfrm>
          <a:prstGeom prst="roundRect">
            <a:avLst>
              <a:gd name="adj" fmla="val 14286"/>
            </a:avLst>
          </a:prstGeom>
          <a:solidFill>
            <a:srgbClr val="8A6FD1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5" name="Text 22"/>
          <p:cNvSpPr/>
          <p:nvPr/>
        </p:nvSpPr>
        <p:spPr>
          <a:xfrm>
            <a:off x="10607040" y="34747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1,115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480560" y="4023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Aerometro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7680960" y="4078224"/>
            <a:ext cx="2834640" cy="256032"/>
          </a:xfrm>
          <a:prstGeom prst="roundRect">
            <a:avLst>
              <a:gd name="adj" fmla="val 14286"/>
            </a:avLst>
          </a:prstGeom>
          <a:solidFill>
            <a:srgbClr val="2E2263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8" name="Shape 25"/>
          <p:cNvSpPr/>
          <p:nvPr/>
        </p:nvSpPr>
        <p:spPr>
          <a:xfrm>
            <a:off x="7680960" y="4078224"/>
            <a:ext cx="45720" cy="256032"/>
          </a:xfrm>
          <a:prstGeom prst="roundRect">
            <a:avLst>
              <a:gd name="adj" fmla="val 80000"/>
            </a:avLst>
          </a:prstGeom>
          <a:solidFill>
            <a:srgbClr val="463370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9" name="Text 26"/>
          <p:cNvSpPr/>
          <p:nvPr/>
        </p:nvSpPr>
        <p:spPr>
          <a:xfrm>
            <a:off x="10607040" y="4023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480560" y="46177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C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Aerometro no presenta registros inválidos.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Metropolitana de Transporte · Fase 01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DIMENSIONAL GOLD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dimensiones conformadas, dos tablas de hechos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011680" cy="685800"/>
          </a:xfrm>
          <a:prstGeom prst="roundRect">
            <a:avLst>
              <a:gd name="adj" fmla="val 46667"/>
            </a:avLst>
          </a:prstGeom>
          <a:solidFill>
            <a:srgbClr val="E7E1FB"/>
          </a:solidFill>
          <a:ln w="15875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0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dim_fecha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24912" y="1737360"/>
            <a:ext cx="2011680" cy="685800"/>
          </a:xfrm>
          <a:prstGeom prst="roundRect">
            <a:avLst>
              <a:gd name="adj" fmla="val 46667"/>
            </a:avLst>
          </a:prstGeom>
          <a:solidFill>
            <a:srgbClr val="E7E1FB"/>
          </a:solidFill>
          <a:ln w="15875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7" name="Text 5"/>
          <p:cNvSpPr/>
          <p:nvPr/>
        </p:nvSpPr>
        <p:spPr>
          <a:xfrm>
            <a:off x="2724912" y="17373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0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dim_hora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901184" y="1737360"/>
            <a:ext cx="2011680" cy="685800"/>
          </a:xfrm>
          <a:prstGeom prst="roundRect">
            <a:avLst>
              <a:gd name="adj" fmla="val 46667"/>
            </a:avLst>
          </a:prstGeom>
          <a:solidFill>
            <a:srgbClr val="E7E1FB"/>
          </a:solidFill>
          <a:ln w="15875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9" name="Text 7"/>
          <p:cNvSpPr/>
          <p:nvPr/>
        </p:nvSpPr>
        <p:spPr>
          <a:xfrm>
            <a:off x="4901184" y="17373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0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dim_modo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077456" y="1737360"/>
            <a:ext cx="2011680" cy="685800"/>
          </a:xfrm>
          <a:prstGeom prst="roundRect">
            <a:avLst>
              <a:gd name="adj" fmla="val 46667"/>
            </a:avLst>
          </a:prstGeom>
          <a:solidFill>
            <a:srgbClr val="E7E1FB"/>
          </a:solidFill>
          <a:ln w="15875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1" name="Text 9"/>
          <p:cNvSpPr/>
          <p:nvPr/>
        </p:nvSpPr>
        <p:spPr>
          <a:xfrm>
            <a:off x="7077456" y="17373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0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dim_usuario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253728" y="1737360"/>
            <a:ext cx="2011680" cy="685800"/>
          </a:xfrm>
          <a:prstGeom prst="roundRect">
            <a:avLst>
              <a:gd name="adj" fmla="val 46667"/>
            </a:avLst>
          </a:prstGeom>
          <a:solidFill>
            <a:srgbClr val="E7E1FB"/>
          </a:solidFill>
          <a:ln w="15875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3" name="Text 11"/>
          <p:cNvSpPr/>
          <p:nvPr/>
        </p:nvSpPr>
        <p:spPr>
          <a:xfrm>
            <a:off x="9253728" y="17373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0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dim_zona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25146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dimensiones conformadas compartidas entre ambos hechos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06324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1E1442"/>
          </a:solidFill>
          <a:ln/>
          <a:effectLst>
            <a:outerShdw blurRad="101600" dist="38100" dir="5400000" algn="bl" rotWithShape="0">
              <a:srgbClr val="2A1E5C">
                <a:alpha val="2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6" name="Text 14"/>
          <p:cNvSpPr/>
          <p:nvPr/>
        </p:nvSpPr>
        <p:spPr>
          <a:xfrm>
            <a:off x="822960" y="329184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fct_abordajes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2960" y="374904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1,352,058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22960" y="4434840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Grano: un abordaje válido por usuario, modo, ubicación y fecha/hora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502920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C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Transmetro · Transurbano · Aerometro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63640" y="306324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1E1442"/>
          </a:solidFill>
          <a:ln/>
          <a:effectLst>
            <a:outerShdw blurRad="101600" dist="38100" dir="5400000" algn="bl" rotWithShape="0">
              <a:srgbClr val="2A1E5C">
                <a:alpha val="2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1" name="Text 19"/>
          <p:cNvSpPr/>
          <p:nvPr/>
        </p:nvSpPr>
        <p:spPr>
          <a:xfrm>
            <a:off x="6537960" y="329184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fct_viajes_metroriel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537960" y="374904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295,511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537960" y="4434840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Grano: un viaje completo con entrada, salida y duración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37960" y="502920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C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MetroRiel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55778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en Gold: 1,718,037 registros preparados para análisis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Metropolitana de Transporte · Fase 01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4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ORQUESTACIÓN, PRUEBAS E IDEMPOTENCIA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corridas, los mismos conteos exactos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8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Prefect coordina la ingesta, la carga de Staging, la ejecución de dbt build, el registro de auditoría y la limpieza de Staging.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A1E5C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548640" y="2359152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1,730,184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21945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A1E5C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9" name="Text 7"/>
          <p:cNvSpPr/>
          <p:nvPr/>
        </p:nvSpPr>
        <p:spPr>
          <a:xfrm>
            <a:off x="3337560" y="2359152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1,919,887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337560" y="30632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21945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A1E5C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2" name="Text 10"/>
          <p:cNvSpPr/>
          <p:nvPr/>
        </p:nvSpPr>
        <p:spPr>
          <a:xfrm>
            <a:off x="6126480" y="2359152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1,718,037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126480" y="30632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15400" y="21945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A1E5C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5" name="Text 13"/>
          <p:cNvSpPr/>
          <p:nvPr/>
        </p:nvSpPr>
        <p:spPr>
          <a:xfrm>
            <a:off x="8915400" y="2359152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18,431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915400" y="30632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Cuarentena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9319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 ejecuciones finalizaron EXITOSAS, con duraciones de 71.28 y 72.60 segundos — misma cifra en ambas corridas.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572000"/>
            <a:ext cx="5303520" cy="1554480"/>
          </a:xfrm>
          <a:prstGeom prst="roundRect">
            <a:avLst>
              <a:gd name="adj" fmla="val 5882"/>
            </a:avLst>
          </a:prstGeom>
          <a:solidFill>
            <a:srgbClr val="3557D6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9" name="Shape 17"/>
          <p:cNvSpPr/>
          <p:nvPr/>
        </p:nvSpPr>
        <p:spPr>
          <a:xfrm>
            <a:off x="777240" y="480060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GT"/>
          </a:p>
        </p:txBody>
      </p:sp>
      <p:pic>
        <p:nvPicPr>
          <p:cNvPr id="20" name="Image 0" descr="/home/claude/proj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750" y="4998110"/>
            <a:ext cx="427939" cy="427939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828800" y="47548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 / 79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1828800" y="525780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dbt aprobadas — 0 errores, 0 advertencias, 0 omitidas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035040" y="4572000"/>
            <a:ext cx="5303520" cy="1554480"/>
          </a:xfrm>
          <a:prstGeom prst="roundRect">
            <a:avLst>
              <a:gd name="adj" fmla="val 5882"/>
            </a:avLst>
          </a:prstGeom>
          <a:solidFill>
            <a:srgbClr val="2A1E5C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4" name="Shape 21"/>
          <p:cNvSpPr/>
          <p:nvPr/>
        </p:nvSpPr>
        <p:spPr>
          <a:xfrm>
            <a:off x="6263640" y="4800600"/>
            <a:ext cx="822960" cy="82296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GT"/>
          </a:p>
        </p:txBody>
      </p:sp>
      <p:pic>
        <p:nvPicPr>
          <p:cNvPr id="25" name="Image 1" descr="/home/claude/proj/icons/red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150" y="4998110"/>
            <a:ext cx="427939" cy="427939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315200" y="47548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Idempotencia verificada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7315200" y="5230368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nueva corrida no introduce registros duplicados en ninguna capa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Metropolitana de Transporte · Fase 01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GOBERNANZA, SEGURIDAD Y ALCANCE POSTERIOR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Responsabilidad clara y datos personales protegidos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  <a:effectLst>
            <a:outerShdw blurRad="101600" dist="38100" dir="5400000" algn="bl" rotWithShape="0">
              <a:srgbClr val="2A1E5C">
                <a:alpha val="1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594360" cy="594360"/>
          </a:xfrm>
          <a:prstGeom prst="ellipse">
            <a:avLst/>
          </a:prstGeom>
          <a:solidFill>
            <a:srgbClr val="3557D6"/>
          </a:solidFill>
          <a:ln/>
        </p:spPr>
        <p:txBody>
          <a:bodyPr/>
          <a:lstStyle/>
          <a:p>
            <a:endParaRPr lang="es-GT"/>
          </a:p>
        </p:txBody>
      </p:sp>
      <p:pic>
        <p:nvPicPr>
          <p:cNvPr id="6" name="Image 0" descr="/home/claude/proj/icons/site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2200046"/>
            <a:ext cx="309067" cy="309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05740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Linaje y responsables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4672" y="288036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Equipo de datos: dimensiones fecha y hora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804672" y="359359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Planificación: autoriza cambios en zona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804672" y="4306824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Operaciones: valida modos de transporte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804672" y="5020056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Gobernanza y seguridad: dimensión usuario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4297680" y="178308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  <a:effectLst>
            <a:outerShdw blurRad="101600" dist="38100" dir="5400000" algn="bl" rotWithShape="0">
              <a:srgbClr val="2A1E5C">
                <a:alpha val="1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3" name="Shape 10"/>
          <p:cNvSpPr/>
          <p:nvPr/>
        </p:nvSpPr>
        <p:spPr>
          <a:xfrm>
            <a:off x="4572000" y="2057400"/>
            <a:ext cx="594360" cy="59436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GT"/>
          </a:p>
        </p:txBody>
      </p:sp>
      <p:pic>
        <p:nvPicPr>
          <p:cNvPr id="14" name="Image 1" descr="/home/claude/proj/icons/secr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646" y="2200046"/>
            <a:ext cx="309067" cy="30906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03520" y="205740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y datos personales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4553712" y="288036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Credenciales en variables de entorno</a:t>
            </a:r>
            <a:endParaRPr lang="en-US" sz="1080" dirty="0"/>
          </a:p>
        </p:txBody>
      </p:sp>
      <p:sp>
        <p:nvSpPr>
          <p:cNvPr id="17" name="Text 13"/>
          <p:cNvSpPr/>
          <p:nvPr/>
        </p:nvSpPr>
        <p:spPr>
          <a:xfrm>
            <a:off x="4553712" y="359359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Llaves seudonimizadas antes de Gold</a:t>
            </a:r>
            <a:endParaRPr lang="en-US" sz="1080" dirty="0"/>
          </a:p>
        </p:txBody>
      </p:sp>
      <p:sp>
        <p:nvSpPr>
          <p:cNvPr id="18" name="Text 14"/>
          <p:cNvSpPr/>
          <p:nvPr/>
        </p:nvSpPr>
        <p:spPr>
          <a:xfrm>
            <a:off x="4553712" y="4306824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Detalle restringido a personal autorizado</a:t>
            </a:r>
            <a:endParaRPr lang="en-US" sz="1080" dirty="0"/>
          </a:p>
        </p:txBody>
      </p:sp>
      <p:sp>
        <p:nvSpPr>
          <p:cNvPr id="19" name="Text 15"/>
          <p:cNvSpPr/>
          <p:nvPr/>
        </p:nvSpPr>
        <p:spPr>
          <a:xfrm>
            <a:off x="4553712" y="5020056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Retención: 12 meses de detalle individual</a:t>
            </a:r>
            <a:endParaRPr lang="en-US" sz="1080" dirty="0"/>
          </a:p>
        </p:txBody>
      </p:sp>
      <p:sp>
        <p:nvSpPr>
          <p:cNvPr id="20" name="Shape 16"/>
          <p:cNvSpPr/>
          <p:nvPr/>
        </p:nvSpPr>
        <p:spPr>
          <a:xfrm>
            <a:off x="8046720" y="178308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  <a:effectLst>
            <a:outerShdw blurRad="101600" dist="38100" dir="5400000" algn="bl" rotWithShape="0">
              <a:srgbClr val="2A1E5C">
                <a:alpha val="1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1" name="Shape 17"/>
          <p:cNvSpPr/>
          <p:nvPr/>
        </p:nvSpPr>
        <p:spPr>
          <a:xfrm>
            <a:off x="8321040" y="2057400"/>
            <a:ext cx="594360" cy="594360"/>
          </a:xfrm>
          <a:prstGeom prst="ellipse">
            <a:avLst/>
          </a:prstGeom>
          <a:solidFill>
            <a:srgbClr val="3557D6"/>
          </a:solidFill>
          <a:ln/>
        </p:spPr>
        <p:txBody>
          <a:bodyPr/>
          <a:lstStyle/>
          <a:p>
            <a:endParaRPr lang="es-GT"/>
          </a:p>
        </p:txBody>
      </p:sp>
      <p:pic>
        <p:nvPicPr>
          <p:cNvPr id="22" name="Image 2" descr="/home/claude/proj/icons/clip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3686" y="2200046"/>
            <a:ext cx="309067" cy="309067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052560" y="205740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 de la Fase 02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8302752" y="288036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Conexión de Tableau a Gold</a:t>
            </a:r>
            <a:endParaRPr lang="en-US" sz="1080" dirty="0"/>
          </a:p>
        </p:txBody>
      </p:sp>
      <p:sp>
        <p:nvSpPr>
          <p:cNvPr id="25" name="Text 20"/>
          <p:cNvSpPr/>
          <p:nvPr/>
        </p:nvSpPr>
        <p:spPr>
          <a:xfrm>
            <a:off x="8302752" y="359359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Análisis de demanda y cobertura</a:t>
            </a:r>
            <a:endParaRPr lang="en-US" sz="1080" dirty="0"/>
          </a:p>
        </p:txBody>
      </p:sp>
      <p:sp>
        <p:nvSpPr>
          <p:cNvPr id="26" name="Text 21"/>
          <p:cNvSpPr/>
          <p:nvPr/>
        </p:nvSpPr>
        <p:spPr>
          <a:xfrm>
            <a:off x="8302752" y="4306824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Evaluación del trazado de MetroRiel</a:t>
            </a:r>
            <a:endParaRPr lang="en-US" sz="1080" dirty="0"/>
          </a:p>
        </p:txBody>
      </p:sp>
      <p:sp>
        <p:nvSpPr>
          <p:cNvPr id="27" name="Text 22"/>
          <p:cNvSpPr/>
          <p:nvPr/>
        </p:nvSpPr>
        <p:spPr>
          <a:xfrm>
            <a:off x="8302752" y="5020056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Tabla de features y recomendación de movilidad</a:t>
            </a:r>
            <a:endParaRPr lang="en-US" sz="1080" dirty="0"/>
          </a:p>
        </p:txBody>
      </p:sp>
      <p:sp>
        <p:nvSpPr>
          <p:cNvPr id="28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Metropolitana de Transporte · Fase 01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4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flujo funciona de extremo a extremo con trazabilidad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84048" cy="384048"/>
          </a:xfrm>
          <a:prstGeom prst="ellipse">
            <a:avLst/>
          </a:prstGeom>
          <a:solidFill>
            <a:srgbClr val="3557D6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78992" y="1737360"/>
            <a:ext cx="481888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separación en Bronze, Staging, Silver y Gold facilitó controlar el procesamiento y mantener la trazabilidad de los datos.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384048" cy="384048"/>
          </a:xfrm>
          <a:prstGeom prst="ellipse">
            <a:avLst/>
          </a:prstGeom>
          <a:solidFill>
            <a:srgbClr val="3557D6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78992" y="3154680"/>
            <a:ext cx="481888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Streaming, batch y CDC representaron adecuadamente eventos continuos, archivos periódicos y cambios en el padrón de usuarios.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617720"/>
            <a:ext cx="384048" cy="384048"/>
          </a:xfrm>
          <a:prstGeom prst="ellipse">
            <a:avLst/>
          </a:prstGeom>
          <a:solidFill>
            <a:srgbClr val="3557D6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1" name="Text 9"/>
          <p:cNvSpPr/>
          <p:nvPr/>
        </p:nvSpPr>
        <p:spPr>
          <a:xfrm>
            <a:off x="548640" y="4617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78992" y="4572000"/>
            <a:ext cx="481888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18,431 registros inválidos fueron enviados a cuarentena con su motivo, en lugar de eliminarse silenciosamente.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783080"/>
            <a:ext cx="384048" cy="384048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4" name="Text 12"/>
          <p:cNvSpPr/>
          <p:nvPr/>
        </p:nvSpPr>
        <p:spPr>
          <a:xfrm>
            <a:off x="621792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48272" y="1737360"/>
            <a:ext cx="481888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Gold quedó conformado por 5 dimensiones y 2 tablas de hechos, con 1,718,037 registros listos para análisis.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3200400"/>
            <a:ext cx="384048" cy="384048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7" name="Text 15"/>
          <p:cNvSpPr/>
          <p:nvPr/>
        </p:nvSpPr>
        <p:spPr>
          <a:xfrm>
            <a:off x="6217920" y="3200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48272" y="3154680"/>
            <a:ext cx="481888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79 pruebas de dbt finalizaron sin errores, advertencias ni omisiones, respaldando la integridad de los modelos.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4617720"/>
            <a:ext cx="384048" cy="384048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0" name="Text 18"/>
          <p:cNvSpPr/>
          <p:nvPr/>
        </p:nvSpPr>
        <p:spPr>
          <a:xfrm>
            <a:off x="6217920" y="4617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748272" y="4572000"/>
            <a:ext cx="481888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ejecuciones consecutivas conservaron los mismos conteos, comprobando la idempotencia del pipeline.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Metropolitana de Transporte · Fase 01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0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pasos para fortalecer el pipeline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" name="Shape 3"/>
          <p:cNvSpPr/>
          <p:nvPr/>
        </p:nvSpPr>
        <p:spPr>
          <a:xfrm>
            <a:off x="749808" y="2212848"/>
            <a:ext cx="237744" cy="237744"/>
          </a:xfrm>
          <a:prstGeom prst="ellipse">
            <a:avLst/>
          </a:prstGeom>
          <a:solidFill>
            <a:srgbClr val="3557D6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1143000" y="1737360"/>
            <a:ext cx="4526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0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el tablero de la Fase 02 exclusivamente con la capa Gold.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8" name="Shape 6"/>
          <p:cNvSpPr/>
          <p:nvPr/>
        </p:nvSpPr>
        <p:spPr>
          <a:xfrm>
            <a:off x="749808" y="3584448"/>
            <a:ext cx="237744" cy="237744"/>
          </a:xfrm>
          <a:prstGeom prst="ellipse">
            <a:avLst/>
          </a:prstGeom>
          <a:solidFill>
            <a:srgbClr val="3557D6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9" name="Text 7"/>
          <p:cNvSpPr/>
          <p:nvPr/>
        </p:nvSpPr>
        <p:spPr>
          <a:xfrm>
            <a:off x="1143000" y="3108960"/>
            <a:ext cx="4526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0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alertas de frescura para detectar retrasos o caídas en el volumen de una fuente.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48056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1" name="Shape 9"/>
          <p:cNvSpPr/>
          <p:nvPr/>
        </p:nvSpPr>
        <p:spPr>
          <a:xfrm>
            <a:off x="749808" y="4956048"/>
            <a:ext cx="237744" cy="237744"/>
          </a:xfrm>
          <a:prstGeom prst="ellipse">
            <a:avLst/>
          </a:prstGeom>
          <a:solidFill>
            <a:srgbClr val="3557D6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2" name="Text 10"/>
          <p:cNvSpPr/>
          <p:nvPr/>
        </p:nvSpPr>
        <p:spPr>
          <a:xfrm>
            <a:off x="1143000" y="4480560"/>
            <a:ext cx="4526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0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GitHub Actions para ejecutar las pruebas de dbt en cada cambio del repositorio.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73736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4" name="Shape 12"/>
          <p:cNvSpPr/>
          <p:nvPr/>
        </p:nvSpPr>
        <p:spPr>
          <a:xfrm>
            <a:off x="6419088" y="2212848"/>
            <a:ext cx="237744" cy="237744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5" name="Text 13"/>
          <p:cNvSpPr/>
          <p:nvPr/>
        </p:nvSpPr>
        <p:spPr>
          <a:xfrm>
            <a:off x="6812280" y="1737360"/>
            <a:ext cx="4526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0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modelos incrementales de dbt cuando aumente el volumen de información.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310896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7" name="Shape 15"/>
          <p:cNvSpPr/>
          <p:nvPr/>
        </p:nvSpPr>
        <p:spPr>
          <a:xfrm>
            <a:off x="6419088" y="3584448"/>
            <a:ext cx="237744" cy="237744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8" name="Text 16"/>
          <p:cNvSpPr/>
          <p:nvPr/>
        </p:nvSpPr>
        <p:spPr>
          <a:xfrm>
            <a:off x="6812280" y="3108960"/>
            <a:ext cx="4526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0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Fortalecer la identidad de usuario con una tabla oficial que relacione tarjetas entre operadores.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448056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0" name="Shape 18"/>
          <p:cNvSpPr/>
          <p:nvPr/>
        </p:nvSpPr>
        <p:spPr>
          <a:xfrm>
            <a:off x="6419088" y="4956048"/>
            <a:ext cx="237744" cy="237744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1" name="Text 19"/>
          <p:cNvSpPr/>
          <p:nvPr/>
        </p:nvSpPr>
        <p:spPr>
          <a:xfrm>
            <a:off x="6812280" y="4480560"/>
            <a:ext cx="4526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0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y mantener una política de retención: 12 meses de detalle, luego datos agregados o anonimizados.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Metropolitana de Transporte · Fase 01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4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5029200" cy="5029200"/>
          </a:xfrm>
          <a:prstGeom prst="ellipse">
            <a:avLst/>
          </a:prstGeom>
          <a:solidFill>
            <a:srgbClr val="2A1E5C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3" name="Shape 1"/>
          <p:cNvSpPr/>
          <p:nvPr/>
        </p:nvSpPr>
        <p:spPr>
          <a:xfrm>
            <a:off x="8961120" y="3840480"/>
            <a:ext cx="4572000" cy="4572000"/>
          </a:xfrm>
          <a:prstGeom prst="ellipse">
            <a:avLst/>
          </a:prstGeom>
          <a:solidFill>
            <a:srgbClr val="2A1E5C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4" name="Shape 2"/>
          <p:cNvSpPr/>
          <p:nvPr/>
        </p:nvSpPr>
        <p:spPr>
          <a:xfrm>
            <a:off x="9692640" y="4572000"/>
            <a:ext cx="2194560" cy="2194560"/>
          </a:xfrm>
          <a:prstGeom prst="ellipse">
            <a:avLst/>
          </a:prstGeom>
          <a:solidFill>
            <a:srgbClr val="3557D6">
              <a:alpha val="75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5" name="Text 3"/>
          <p:cNvSpPr/>
          <p:nvPr/>
        </p:nvSpPr>
        <p:spPr>
          <a:xfrm>
            <a:off x="0" y="265176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0" y="356616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Red Metropolitana · Fase 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402336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Rochelle Esquivel · Susana García · Harriett Guzmán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1430</Words>
  <Application>Microsoft Macintosh PowerPoint</Application>
  <PresentationFormat>Panorámica</PresentationFormat>
  <Paragraphs>248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HARRIETT GUZMAN LOPEZ</dc:creator>
  <cp:keywords/>
  <dc:description/>
  <cp:lastModifiedBy>HARRIETT GUZMAN LOPEZ</cp:lastModifiedBy>
  <cp:revision>1</cp:revision>
  <dcterms:created xsi:type="dcterms:W3CDTF">2026-09-14T18:46:07Z</dcterms:created>
  <dcterms:modified xsi:type="dcterms:W3CDTF">2026-09-14T18:55:41Z</dcterms:modified>
  <cp:category/>
</cp:coreProperties>
</file>