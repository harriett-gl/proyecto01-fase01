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47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Hoja_de_c_lculo_de_Microsoft_Excel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doughnutChart>
        <c:varyColors val="1"/>
        <c:ser>
          <c:idx val="0"/>
          <c:order val="0"/>
          <c:tx>
            <c:strRef>
              <c:f>Sheet1!$B$1</c:f>
              <c:strCache>
                <c:ptCount val="1"/>
                <c:pt idx="0">
                  <c:v>Operaciones CDC</c:v>
                </c:pt>
              </c:strCache>
            </c:strRef>
          </c:tx>
          <c:spPr>
            <a:solidFill>
              <a:schemeClr val="accent1"/>
            </a:solidFill>
            <a:ln w="9525" cap="flat">
              <a:solidFill>
                <a:srgbClr val="F9F9F9"/>
              </a:solidFill>
              <a:prstDash val="solid"/>
              <a:round/>
            </a:ln>
            <a:effectLst/>
          </c:spPr>
          <c:dPt>
            <c:idx val="0"/>
            <c:bubble3D val="0"/>
            <c:spPr>
              <a:solidFill>
                <a:srgbClr val="3E8E6B"/>
              </a:solidFill>
              <a:effectLst/>
            </c:spPr>
            <c:extLst>
              <c:ext xmlns:c16="http://schemas.microsoft.com/office/drawing/2014/chart" uri="{C3380CC4-5D6E-409C-BE32-E72D297353CC}">
                <c16:uniqueId val="{00000001-F454-B043-B1DC-306A05075DFB}"/>
              </c:ext>
            </c:extLst>
          </c:dPt>
          <c:dPt>
            <c:idx val="1"/>
            <c:bubble3D val="0"/>
            <c:spPr>
              <a:solidFill>
                <a:srgbClr val="D94F86"/>
              </a:solidFill>
              <a:effectLst/>
            </c:spPr>
            <c:extLst>
              <c:ext xmlns:c16="http://schemas.microsoft.com/office/drawing/2014/chart" uri="{C3380CC4-5D6E-409C-BE32-E72D297353CC}">
                <c16:uniqueId val="{00000003-F454-B043-B1DC-306A05075DFB}"/>
              </c:ext>
            </c:extLst>
          </c:dPt>
          <c:dPt>
            <c:idx val="2"/>
            <c:bubble3D val="0"/>
            <c:spPr>
              <a:solidFill>
                <a:srgbClr val="24483A"/>
              </a:solidFill>
              <a:effectLst/>
            </c:spPr>
            <c:extLst>
              <c:ext xmlns:c16="http://schemas.microsoft.com/office/drawing/2014/chart" uri="{C3380CC4-5D6E-409C-BE32-E72D297353CC}">
                <c16:uniqueId val="{00000005-F454-B043-B1DC-306A05075DFB}"/>
              </c:ext>
            </c:extLst>
          </c:dPt>
          <c:dLbls>
            <c:dLbl>
              <c:idx val="0"/>
              <c:numFmt formatCode="#,##0" sourceLinked="0"/>
              <c:spPr/>
              <c:txPr>
                <a:bodyPr/>
                <a:lstStyle/>
                <a:p>
                  <a:pPr>
                    <a:defRPr sz="1100" b="0" i="0" u="none" strike="noStrike">
                      <a:solidFill>
                        <a:srgbClr val="FFFFFF"/>
                      </a:solidFill>
                      <a:latin typeface="Arial"/>
                    </a:defRPr>
                  </a:pPr>
                  <a:endParaRPr lang="es-GT"/>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F454-B043-B1DC-306A05075DFB}"/>
                </c:ext>
              </c:extLst>
            </c:dLbl>
            <c:dLbl>
              <c:idx val="1"/>
              <c:numFmt formatCode="#,##0" sourceLinked="0"/>
              <c:spPr/>
              <c:txPr>
                <a:bodyPr/>
                <a:lstStyle/>
                <a:p>
                  <a:pPr>
                    <a:defRPr sz="1100" b="0" i="0" u="none" strike="noStrike">
                      <a:solidFill>
                        <a:srgbClr val="FFFFFF"/>
                      </a:solidFill>
                      <a:latin typeface="Arial"/>
                    </a:defRPr>
                  </a:pPr>
                  <a:endParaRPr lang="es-GT"/>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F454-B043-B1DC-306A05075DFB}"/>
                </c:ext>
              </c:extLst>
            </c:dLbl>
            <c:dLbl>
              <c:idx val="2"/>
              <c:numFmt formatCode="#,##0" sourceLinked="0"/>
              <c:spPr/>
              <c:txPr>
                <a:bodyPr/>
                <a:lstStyle/>
                <a:p>
                  <a:pPr>
                    <a:defRPr sz="1100" b="0" i="0" u="none" strike="noStrike">
                      <a:solidFill>
                        <a:srgbClr val="FFFFFF"/>
                      </a:solidFill>
                      <a:latin typeface="Arial"/>
                    </a:defRPr>
                  </a:pPr>
                  <a:endParaRPr lang="es-GT"/>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F454-B043-B1DC-306A05075DFB}"/>
                </c:ext>
              </c:extLst>
            </c:dLbl>
            <c:numFmt formatCode="#,##0" sourceLinked="0"/>
            <c:spPr>
              <a:noFill/>
              <a:ln>
                <a:noFill/>
              </a:ln>
              <a:effectLst/>
            </c:spPr>
            <c:txPr>
              <a:bodyPr/>
              <a:lstStyle/>
              <a:p>
                <a:pPr>
                  <a:defRPr sz="1800" b="0" i="0" u="none" strike="noStrike">
                    <a:solidFill>
                      <a:srgbClr val="000000"/>
                    </a:solidFill>
                    <a:latin typeface="Arial"/>
                  </a:defRPr>
                </a:pPr>
                <a:endParaRPr lang="es-GT"/>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INSERT</c:v>
                </c:pt>
                <c:pt idx="1">
                  <c:v>UPDATE</c:v>
                </c:pt>
                <c:pt idx="2">
                  <c:v>DELETE</c:v>
                </c:pt>
              </c:strCache>
            </c:strRef>
          </c:cat>
          <c:val>
            <c:numRef>
              <c:f>Sheet1!$B$2:$B$4</c:f>
              <c:numCache>
                <c:formatCode>General</c:formatCode>
                <c:ptCount val="3"/>
                <c:pt idx="0">
                  <c:v>10800</c:v>
                </c:pt>
                <c:pt idx="1">
                  <c:v>16200</c:v>
                </c:pt>
                <c:pt idx="2">
                  <c:v>4050</c:v>
                </c:pt>
              </c:numCache>
            </c:numRef>
          </c:val>
          <c:extLst>
            <c:ext xmlns:c16="http://schemas.microsoft.com/office/drawing/2014/chart" uri="{C3380CC4-5D6E-409C-BE32-E72D297353CC}">
              <c16:uniqueId val="{00000006-F454-B043-B1DC-306A05075DFB}"/>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2B2B2B"/>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300" b="0" i="0" u="none" strike="noStrike">
                <a:solidFill>
                  <a:srgbClr val="24483A"/>
                </a:solidFill>
                <a:latin typeface="Calibri"/>
              </a:defRPr>
            </a:pPr>
            <a:r>
              <a:rPr lang="es-GT" sz="1300" b="0" i="0" u="none" strike="noStrike">
                <a:solidFill>
                  <a:srgbClr val="24483A"/>
                </a:solidFill>
                <a:latin typeface="Calibri"/>
              </a:rPr>
              <a:t>Tamaño por capa (MB)</a:t>
            </a:r>
          </a:p>
        </c:rich>
      </c:tx>
      <c:overlay val="0"/>
    </c:title>
    <c:autoTitleDeleted val="0"/>
    <c:plotArea>
      <c:layout/>
      <c:barChart>
        <c:barDir val="col"/>
        <c:grouping val="clustered"/>
        <c:varyColors val="0"/>
        <c:ser>
          <c:idx val="0"/>
          <c:order val="0"/>
          <c:tx>
            <c:strRef>
              <c:f>Sheet1!$B$1</c:f>
              <c:strCache>
                <c:ptCount val="1"/>
                <c:pt idx="0">
                  <c:v>Tamaño (MB)</c:v>
                </c:pt>
              </c:strCache>
            </c:strRef>
          </c:tx>
          <c:spPr>
            <a:solidFill>
              <a:srgbClr val="3E8E6B"/>
            </a:solidFill>
            <a:effectLst/>
          </c:spPr>
          <c:invertIfNegative val="0"/>
          <c:dPt>
            <c:idx val="0"/>
            <c:invertIfNegative val="0"/>
            <c:bubble3D val="0"/>
            <c:extLst>
              <c:ext xmlns:c16="http://schemas.microsoft.com/office/drawing/2014/chart" uri="{C3380CC4-5D6E-409C-BE32-E72D297353CC}">
                <c16:uniqueId val="{00000001-5E07-8F4A-A47F-B84F220CEC41}"/>
              </c:ext>
            </c:extLst>
          </c:dPt>
          <c:dPt>
            <c:idx val="1"/>
            <c:invertIfNegative val="0"/>
            <c:bubble3D val="0"/>
            <c:spPr>
              <a:solidFill>
                <a:srgbClr val="D94F86"/>
              </a:solidFill>
              <a:effectLst/>
            </c:spPr>
            <c:extLst>
              <c:ext xmlns:c16="http://schemas.microsoft.com/office/drawing/2014/chart" uri="{C3380CC4-5D6E-409C-BE32-E72D297353CC}">
                <c16:uniqueId val="{00000003-5E07-8F4A-A47F-B84F220CEC41}"/>
              </c:ext>
            </c:extLst>
          </c:dPt>
          <c:dPt>
            <c:idx val="2"/>
            <c:invertIfNegative val="0"/>
            <c:bubble3D val="0"/>
            <c:extLst>
              <c:ext xmlns:c16="http://schemas.microsoft.com/office/drawing/2014/chart" uri="{C3380CC4-5D6E-409C-BE32-E72D297353CC}">
                <c16:uniqueId val="{00000005-5E07-8F4A-A47F-B84F220CEC41}"/>
              </c:ext>
            </c:extLst>
          </c:dPt>
          <c:dPt>
            <c:idx val="3"/>
            <c:invertIfNegative val="0"/>
            <c:bubble3D val="0"/>
            <c:spPr>
              <a:solidFill>
                <a:srgbClr val="D94F86"/>
              </a:solidFill>
              <a:effectLst/>
            </c:spPr>
            <c:extLst>
              <c:ext xmlns:c16="http://schemas.microsoft.com/office/drawing/2014/chart" uri="{C3380CC4-5D6E-409C-BE32-E72D297353CC}">
                <c16:uniqueId val="{00000007-5E07-8F4A-A47F-B84F220CEC41}"/>
              </c:ext>
            </c:extLst>
          </c:dPt>
          <c:dPt>
            <c:idx val="4"/>
            <c:invertIfNegative val="0"/>
            <c:bubble3D val="0"/>
            <c:extLst>
              <c:ext xmlns:c16="http://schemas.microsoft.com/office/drawing/2014/chart" uri="{C3380CC4-5D6E-409C-BE32-E72D297353CC}">
                <c16:uniqueId val="{00000009-5E07-8F4A-A47F-B84F220CEC41}"/>
              </c:ext>
            </c:extLst>
          </c:dPt>
          <c:dPt>
            <c:idx val="5"/>
            <c:invertIfNegative val="0"/>
            <c:bubble3D val="0"/>
            <c:spPr>
              <a:solidFill>
                <a:srgbClr val="D94F86"/>
              </a:solidFill>
              <a:effectLst/>
            </c:spPr>
            <c:extLst>
              <c:ext xmlns:c16="http://schemas.microsoft.com/office/drawing/2014/chart" uri="{C3380CC4-5D6E-409C-BE32-E72D297353CC}">
                <c16:uniqueId val="{0000000B-5E07-8F4A-A47F-B84F220CEC41}"/>
              </c:ext>
            </c:extLst>
          </c:dPt>
          <c:dLbls>
            <c:numFmt formatCode="#,##0.0#" sourceLinked="0"/>
            <c:spPr>
              <a:noFill/>
              <a:ln>
                <a:noFill/>
              </a:ln>
              <a:effectLst/>
            </c:spPr>
            <c:txPr>
              <a:bodyPr/>
              <a:lstStyle/>
              <a:p>
                <a:pPr>
                  <a:defRPr sz="1100" b="0" i="0" u="none" strike="noStrike">
                    <a:solidFill>
                      <a:srgbClr val="2B2B2B"/>
                    </a:solidFill>
                    <a:latin typeface="Arial"/>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Bronze</c:v>
                </c:pt>
                <c:pt idx="1">
                  <c:v>Staging</c:v>
                </c:pt>
                <c:pt idx="2">
                  <c:v>Silver</c:v>
                </c:pt>
                <c:pt idx="3">
                  <c:v>Gold</c:v>
                </c:pt>
                <c:pt idx="4">
                  <c:v>Cuarentena</c:v>
                </c:pt>
                <c:pt idx="5">
                  <c:v>Audit</c:v>
                </c:pt>
              </c:strCache>
            </c:strRef>
          </c:cat>
          <c:val>
            <c:numRef>
              <c:f>Sheet1!$B$2:$B$7</c:f>
              <c:numCache>
                <c:formatCode>General</c:formatCode>
                <c:ptCount val="6"/>
                <c:pt idx="0">
                  <c:v>67</c:v>
                </c:pt>
                <c:pt idx="1">
                  <c:v>431</c:v>
                </c:pt>
                <c:pt idx="2">
                  <c:v>276</c:v>
                </c:pt>
                <c:pt idx="3">
                  <c:v>381</c:v>
                </c:pt>
                <c:pt idx="4">
                  <c:v>3.4</c:v>
                </c:pt>
                <c:pt idx="5">
                  <c:v>0.03</c:v>
                </c:pt>
              </c:numCache>
            </c:numRef>
          </c:val>
          <c:extLst>
            <c:ext xmlns:c16="http://schemas.microsoft.com/office/drawing/2014/chart" uri="{C3380CC4-5D6E-409C-BE32-E72D297353CC}">
              <c16:uniqueId val="{0000000C-5E07-8F4A-A47F-B84F220CEC41}"/>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B2B2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8E8E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32125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Somos Rochelle Esquivel, Susana García y Harriett Guzmán, y hoy presentamos la Fase 01 del Proyecto Red Metropolitana para el curso de Ciencia de Datos. Vamos a explicar cómo diseñamos e implementamos un pipeline de datos que integra los cuatro operadores de transporte de la ciudad, y cómo comprobamos que funciona de extremo a extremo. La presentación dura aproximadamente diez minutos.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área metropolitana tiene cuatro operadores: Transmetro, Transurbano, MetroRiel y Aerometro, y cada uno maneja su información a su manera. Transmetro y Aerometro generan eventos continuos; Transurbano entrega un archivo de transacciones con montos en centavos; MetroRiel registra viajes completos con entrada y salida; y Aerometro usa horario UTC. Además, el padrón de usuarios trae cambios de tipo CDC que no se pueden borrar físicamente sin perder el historial. A esto se suman errores de calidad. Por eso hacía falta una plataforma unificada que no perdiera los datos originales.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objetivo general es documentar las decisiones de arquitectura, los métodos aplicados y los resultados que demuestran que el pipeline de la Fase 01 funciona. Como objetivos específicos: primero, explicar cómo elegimos la ingesta, el almacenamiento y la transformación; segundo, describir el tratamiento del padrón CDC, la identidad y las reglas de calidad; tercero, justificar el grano y la estructura del modelo Gold; y cuarto, presentar las métricas, pruebas y evidencia de idempotencia.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Resolvimos el problema con una arquitectura por capas. Las fuentes entran por Kafka, batch o CDC y se guardan tal cual en Bronze, en archivos Parquet. Luego se cargan temporalmente a Staging en PostgreSQL. En Silver se limpian, unifican y validan los datos, y lo inválido va a cuarentena. Finalmente Gold organiza el modelo dimensional. La regla clave es que Gold nunca consulta Bronze directamente: todo pasa por Silver. Usamos Docker para la infraestructura, dbt para transformar y probar, y Prefect para orquestar.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ingesta según la naturaleza de cada fuente. Las validaciones de Transmetro y los abordajes de Aerometro son eventos continuos, por eso van por streaming con Kafka. Los catálogos, los viajes de MetroRiel y las transacciones de Transurbano llegan como archivos completos, así que van por batch; en el caso de Transurbano, esto hace la carga reproducible aunque no sea en tiempo real. El padrón de usuarios trae inserciones, actualizaciones y eliminaciones, por eso se trata como CDC. Todo se guarda en Bronze en formato Parquet, que conserva los tipos, comprime y admite el contenido anidado de MetroRiel. La medición fue de 67 megabytes.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 padrón de Transmetro procesamos 31,050 operaciones CDC, respetando el orden de la columna de secuencia: 10,800 inserciones, 16,200 actualizaciones y 4,050 eliminaciones. Un INSERT crea la tarjeta, un UPDATE modifica sus atributos y un DELETE la marca como inactiva. Los borrados son lógicos para no perder el historial de viajes de cada tarjeta. El resultado final es un padrón de 17,432 tarjetas: 15,096 activas y 2,336 inactivas. Para los otros tres operadores, que no entregaron padrón, construimos catálogos mínimos con las llaves distintas: 14,496 de Aerometro, 22,885 de MetroRiel y 36,567 de Transurbano, sin inventar atributos.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Silver integramos y aseguramos la calidad. Unificamos fechas y horas, convertimos la hora UTC de Aerometro a la hora local de Guatemala y pasamos los centavos de Transurbano a quetzales. Normalizamos las zonas: Z10, Zona 10 y el campo district apuntan a la misma llave. Para la identidad del usuario generamos una llave sustituta seudonimizada con un hash determinístico; la limitación es que no existe una tabla oficial que una tarjetas de distintos operadores, así que lo multimodal es una aproximación declarada. Finalmente, el padrón se historiza con SCD Tipo 2, con periodo de vigencia e indicador de registro actual.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registros que incumplen una regla no se descartan: se trasladan a cuarentena con el motivo del rechazo. En total documentamos 18,431. Un ejemplo claro es MetroRiel: de 299,100 viajes originales, 295,511 pasan a Silver y 3,589 no tienen estación de salida y van a cuarentena; la suma coincide con el origen. La mayor cantidad corresponde a llaves CDC inválidas, seguida de datos inválidos de Transurbano, viajes sin salida y validaciones duplicadas de Transmetro. Aerometro no presentó registros inválidos. Esto permite auditar la calidad y definir acciones de corrección por fuente.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capa Gold se construye solo a partir de Silver. Diseñamos el modelo a partir de los procesos de negocio y la matriz del bus. Tiene cinco dimensiones conformadas: fecha, hora, modo, usuario y zona, compartidas por dos tablas de hechos. fct_abordajes tiene como grano un abordaje válido de un usuario, en un modo, ubicación y momento. fct_viajes_metroriel guarda el viaje completo con entrada, salida y duración; separamos ambos hechos para no perder ese detalle. Gold contiene 1,352,058 abordajes, 295,511 viajes, 70,380 usuarios conformados, y 1,718,037 registros en total.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Usamos dbt para organizar los modelos SQL, declarar dependencias y ejecutar pruebas; la validación final registró 79 pruebas aprobadas, sin errores, advertencias ni omitidas. Prefect coordina el flujo: ingesta a Bronze, carga de Staging, dbt build, registro de auditoría y limpieza de Staging. Para comprobar la idempotencia ejecutamos el pipeline dos veces. Ambas corridas terminaron con el mismo resultado: 1,730,184 registros en Staging, 1,919,887 en Silver, 1,718,037 en Gold y 18,431 en cuarentena, con duraciones de 71.28 y 72.60 segundos. Esto demuestra que una nueva corrida no introduce duplicados.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También medimos cuánto espacio ocupa cada capa. Bronze ocupa 67 megabytes y vive en el sistema de archivos, fuera de PostgreSQL. Dentro de PostgreSQL, Staging ocupa 431 megabytes, Silver 276, Gold 381, cuarentena unos 3.4 megabytes y auditoría apenas 32 kilobytes. Staging es la más grande pero es temporal, porque se vacía al terminar cada ejecución. Estas cifras convierten las afirmaciones del proyecto en resultados medidos y sirven de referencia para comparar futuras versiones.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la parte técnica con gobernanza y seguridad. Definimos oficialmente qué es un abordaje, un viaje de MetroRiel, un usuario activo y un registro inválido, para que todos calculen las métricas igual. Asignamos responsables: el equipo de datos para fecha y hora, planificación para zonas, operaciones para modos y gobernanza para usuarios. El repositorio en GitHub contiene los requisitos, los pasos de instalación y el historial de cambios. En seguridad, las credenciales van en variables de entorno, las llaves se seudonimizan antes de Gold, los analistas consultan datos agregados y proponemos conservar el detalle individual 12 meses.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conclusión, la arquitectura por capas permitió integrar fuentes muy distintas manteniendo la trazabilidad. Los métodos de ingesta se eligieron según cada fuente; Bronze conservó los datos originales; el CDC construyó el estado vigente del padrón; y las reglas de calidad enviaron 18,431 registros inválidos a cuarentena en lugar de eliminarlos. Gold quedó con cinco dimensiones y dos hechos, las 79 pruebas de dbt pasaron y dos corridas consecutivas dieron exactamente los mismos conteos. La Fase 01 deja una base completa y reproducible para la visualización y el análisis de la Fase 02.</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nuestras recomendaciones. Conectar el tablero de la Fase 02 únicamente con Gold; agregar alertas de frescura para detectar fuentes que no llegan; automatizar las pruebas de dbt con GitHub Actions; evaluar modelos incrementales cuando crezca el volumen; construir una tabla oficial de identidad entre operadores para identificar mejor a los usuarios multimodales; y definir una política de retención y acceso restringido al detalle individual. Con esto concluimos la presentación. Muchas gracias; quedamos atentos a sus preguntas.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Muchas gracias por su atención. Con gusto responderemos sus preguntas. El repositorio del proyecto está disponible en GitHub.</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1.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7.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harriett-gl/Proyecto01-Fase01.git"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483A"/>
        </a:solidFill>
        <a:effectLst/>
      </p:bgPr>
    </p:bg>
    <p:spTree>
      <p:nvGrpSpPr>
        <p:cNvPr id="1" name=""/>
        <p:cNvGrpSpPr/>
        <p:nvPr/>
      </p:nvGrpSpPr>
      <p:grpSpPr>
        <a:xfrm>
          <a:off x="0" y="0"/>
          <a:ext cx="0" cy="0"/>
          <a:chOff x="0" y="0"/>
          <a:chExt cx="0" cy="0"/>
        </a:xfrm>
      </p:grpSpPr>
      <p:sp>
        <p:nvSpPr>
          <p:cNvPr id="3" name="Shape 0"/>
          <p:cNvSpPr/>
          <p:nvPr/>
        </p:nvSpPr>
        <p:spPr>
          <a:xfrm>
            <a:off x="5852160" y="-822960"/>
            <a:ext cx="4754880" cy="4754880"/>
          </a:xfrm>
          <a:prstGeom prst="ellipse">
            <a:avLst/>
          </a:prstGeom>
          <a:solidFill>
            <a:srgbClr val="D94F86"/>
          </a:solidFill>
          <a:ln w="12700">
            <a:solidFill>
              <a:srgbClr val="D94F86"/>
            </a:solidFill>
            <a:prstDash val="solid"/>
          </a:ln>
        </p:spPr>
        <p:txBody>
          <a:bodyPr/>
          <a:lstStyle/>
          <a:p>
            <a:endParaRPr lang="es-GT"/>
          </a:p>
        </p:txBody>
      </p:sp>
      <p:sp>
        <p:nvSpPr>
          <p:cNvPr id="4" name="Shape 1"/>
          <p:cNvSpPr/>
          <p:nvPr/>
        </p:nvSpPr>
        <p:spPr>
          <a:xfrm>
            <a:off x="6949440" y="3017520"/>
            <a:ext cx="2926080" cy="2926080"/>
          </a:xfrm>
          <a:prstGeom prst="ellipse">
            <a:avLst/>
          </a:prstGeom>
          <a:solidFill>
            <a:srgbClr val="3E8E6B"/>
          </a:solidFill>
          <a:ln w="12700">
            <a:solidFill>
              <a:srgbClr val="3E8E6B"/>
            </a:solidFill>
            <a:prstDash val="solid"/>
          </a:ln>
        </p:spPr>
        <p:txBody>
          <a:bodyPr/>
          <a:lstStyle/>
          <a:p>
            <a:endParaRPr lang="es-GT"/>
          </a:p>
        </p:txBody>
      </p:sp>
      <p:sp>
        <p:nvSpPr>
          <p:cNvPr id="5" name="Shape 2"/>
          <p:cNvSpPr/>
          <p:nvPr/>
        </p:nvSpPr>
        <p:spPr>
          <a:xfrm>
            <a:off x="5486400" y="3566160"/>
            <a:ext cx="1188720" cy="1188720"/>
          </a:xfrm>
          <a:prstGeom prst="ellipse">
            <a:avLst/>
          </a:prstGeom>
          <a:solidFill>
            <a:srgbClr val="FADCE7"/>
          </a:solidFill>
          <a:ln w="12700">
            <a:solidFill>
              <a:srgbClr val="FADCE7"/>
            </a:solidFill>
            <a:prstDash val="solid"/>
          </a:ln>
        </p:spPr>
        <p:txBody>
          <a:bodyPr/>
          <a:lstStyle/>
          <a:p>
            <a:endParaRPr lang="es-GT"/>
          </a:p>
        </p:txBody>
      </p:sp>
      <p:sp>
        <p:nvSpPr>
          <p:cNvPr id="6" name="Text 3"/>
          <p:cNvSpPr txBox="1"/>
          <p:nvPr/>
        </p:nvSpPr>
        <p:spPr>
          <a:xfrm>
            <a:off x="548640" y="731520"/>
            <a:ext cx="5120640" cy="137160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Proyecto Red Metropolitana</a:t>
            </a:r>
            <a:endParaRPr lang="en-US" sz="3800" dirty="0"/>
          </a:p>
        </p:txBody>
      </p:sp>
      <p:sp>
        <p:nvSpPr>
          <p:cNvPr id="7" name="Text 4"/>
          <p:cNvSpPr txBox="1"/>
          <p:nvPr/>
        </p:nvSpPr>
        <p:spPr>
          <a:xfrm>
            <a:off x="548640" y="2194560"/>
            <a:ext cx="5120640" cy="548640"/>
          </a:xfrm>
          <a:prstGeom prst="rect">
            <a:avLst/>
          </a:prstGeom>
          <a:noFill/>
          <a:ln/>
        </p:spPr>
        <p:txBody>
          <a:bodyPr wrap="square" lIns="0" tIns="0" rIns="0" bIns="0" rtlCol="0" anchor="t"/>
          <a:lstStyle/>
          <a:p>
            <a:pPr marL="0" indent="0">
              <a:buNone/>
            </a:pPr>
            <a:r>
              <a:rPr lang="en-US" sz="1800" dirty="0">
                <a:solidFill>
                  <a:srgbClr val="CFE8D8"/>
                </a:solidFill>
                <a:latin typeface="Century Schoolbook" panose="02040604050505020304" pitchFamily="18" charset="0"/>
                <a:ea typeface="Calibri" pitchFamily="34" charset="-122"/>
                <a:cs typeface="Calibri" pitchFamily="34" charset="-120"/>
              </a:rPr>
              <a:t>Fase 01 · Desglose de la arquitectura de datos</a:t>
            </a:r>
            <a:endParaRPr lang="en-US" sz="1800" dirty="0">
              <a:latin typeface="Century Schoolbook" panose="02040604050505020304" pitchFamily="18" charset="0"/>
            </a:endParaRPr>
          </a:p>
        </p:txBody>
      </p:sp>
      <p:sp>
        <p:nvSpPr>
          <p:cNvPr id="8" name="Text 5"/>
          <p:cNvSpPr txBox="1"/>
          <p:nvPr/>
        </p:nvSpPr>
        <p:spPr>
          <a:xfrm>
            <a:off x="548640" y="3017520"/>
            <a:ext cx="4937760" cy="777240"/>
          </a:xfrm>
          <a:prstGeom prst="rect">
            <a:avLst/>
          </a:prstGeom>
          <a:noFill/>
          <a:ln/>
        </p:spPr>
        <p:txBody>
          <a:bodyPr wrap="square" lIns="0" tIns="0" rIns="0" bIns="0" rtlCol="0" anchor="t"/>
          <a:lstStyle/>
          <a:p>
            <a:pPr marL="0" indent="0">
              <a:buNone/>
            </a:pPr>
            <a:r>
              <a:rPr lang="en-US" sz="1200" dirty="0">
                <a:solidFill>
                  <a:srgbClr val="FADCE7"/>
                </a:solidFill>
                <a:latin typeface="Century Schoolbook" panose="02040604050505020304" pitchFamily="18" charset="0"/>
                <a:ea typeface="Calibri" pitchFamily="34" charset="-122"/>
                <a:cs typeface="Calibri" pitchFamily="34" charset="-120"/>
              </a:rPr>
              <a:t>Rochelle Giulianne Esquivel Vargas – 1283220</a:t>
            </a:r>
            <a:endParaRPr lang="en-US" sz="1200" dirty="0">
              <a:latin typeface="Century Schoolbook" panose="02040604050505020304" pitchFamily="18" charset="0"/>
            </a:endParaRPr>
          </a:p>
          <a:p>
            <a:pPr marL="0" indent="0">
              <a:buNone/>
            </a:pPr>
            <a:r>
              <a:rPr lang="en-US" sz="1200" dirty="0">
                <a:solidFill>
                  <a:srgbClr val="FADCE7"/>
                </a:solidFill>
                <a:latin typeface="Century Schoolbook" panose="02040604050505020304" pitchFamily="18" charset="0"/>
                <a:ea typeface="Calibri" pitchFamily="34" charset="-122"/>
                <a:cs typeface="Calibri" pitchFamily="34" charset="-120"/>
              </a:rPr>
              <a:t>Susana Paola García García – 1224323</a:t>
            </a:r>
            <a:endParaRPr lang="en-US" sz="1200" dirty="0">
              <a:latin typeface="Century Schoolbook" panose="02040604050505020304" pitchFamily="18" charset="0"/>
            </a:endParaRPr>
          </a:p>
          <a:p>
            <a:pPr marL="0" indent="0">
              <a:buNone/>
            </a:pPr>
            <a:r>
              <a:rPr lang="en-US" sz="1200" dirty="0">
                <a:solidFill>
                  <a:srgbClr val="FADCE7"/>
                </a:solidFill>
                <a:latin typeface="Century Schoolbook" panose="02040604050505020304" pitchFamily="18" charset="0"/>
                <a:ea typeface="Calibri" pitchFamily="34" charset="-122"/>
                <a:cs typeface="Calibri" pitchFamily="34" charset="-120"/>
              </a:rPr>
              <a:t>Harriett Alexandra Guzmán López – 1112423</a:t>
            </a:r>
            <a:endParaRPr lang="en-US" sz="1200" dirty="0">
              <a:latin typeface="Century Schoolbook" panose="02040604050505020304" pitchFamily="18" charset="0"/>
            </a:endParaRPr>
          </a:p>
        </p:txBody>
      </p:sp>
      <p:sp>
        <p:nvSpPr>
          <p:cNvPr id="9" name="Text 6"/>
          <p:cNvSpPr txBox="1"/>
          <p:nvPr/>
        </p:nvSpPr>
        <p:spPr>
          <a:xfrm>
            <a:off x="548640" y="4114800"/>
            <a:ext cx="4937760" cy="548640"/>
          </a:xfrm>
          <a:prstGeom prst="rect">
            <a:avLst/>
          </a:prstGeom>
          <a:noFill/>
          <a:ln/>
        </p:spPr>
        <p:txBody>
          <a:bodyPr wrap="square" lIns="0" tIns="0" rIns="0" bIns="0" rtlCol="0" anchor="t"/>
          <a:lstStyle/>
          <a:p>
            <a:pPr marL="0" indent="0">
              <a:buNone/>
            </a:pPr>
            <a:r>
              <a:rPr lang="en-US" sz="1050" dirty="0">
                <a:solidFill>
                  <a:srgbClr val="FFFFFF"/>
                </a:solidFill>
                <a:latin typeface="Century Schoolbook" panose="02040604050505020304" pitchFamily="18" charset="0"/>
                <a:ea typeface="Calibri" pitchFamily="34" charset="-122"/>
                <a:cs typeface="Calibri" pitchFamily="34" charset="-120"/>
              </a:rPr>
              <a:t>Universidad Rafael Landívar · Ingeniería en Sistemas e Informática</a:t>
            </a:r>
            <a:endParaRPr lang="en-US" sz="1050" dirty="0">
              <a:latin typeface="Century Schoolbook" panose="02040604050505020304" pitchFamily="18" charset="0"/>
            </a:endParaRPr>
          </a:p>
          <a:p>
            <a:pPr marL="0" indent="0">
              <a:buNone/>
            </a:pPr>
            <a:r>
              <a:rPr lang="en-US" sz="1050" dirty="0">
                <a:solidFill>
                  <a:srgbClr val="FFFFFF"/>
                </a:solidFill>
                <a:latin typeface="Century Schoolbook" panose="02040604050505020304" pitchFamily="18" charset="0"/>
                <a:ea typeface="Calibri" pitchFamily="34" charset="-122"/>
                <a:cs typeface="Calibri" pitchFamily="34" charset="-120"/>
              </a:rPr>
              <a:t>Ciencia de Datos · Ing. Max Cerna · Guatemala, 30 de septiembre del 2026</a:t>
            </a:r>
            <a:endParaRPr lang="en-US" sz="1050" dirty="0">
              <a:latin typeface="Century Schoolbook" panose="020406040505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Cuatro operadores, cuatro idiomas</a:t>
            </a:r>
            <a:endParaRPr lang="en-US" sz="3200" dirty="0"/>
          </a:p>
        </p:txBody>
      </p:sp>
      <p:sp>
        <p:nvSpPr>
          <p:cNvPr id="4" name="Shape 1"/>
          <p:cNvSpPr/>
          <p:nvPr/>
        </p:nvSpPr>
        <p:spPr>
          <a:xfrm>
            <a:off x="457200" y="1188720"/>
            <a:ext cx="1874520" cy="2331720"/>
          </a:xfrm>
          <a:prstGeom prst="roundRect">
            <a:avLst>
              <a:gd name="adj" fmla="val 585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5" name="Shape 2"/>
          <p:cNvSpPr/>
          <p:nvPr/>
        </p:nvSpPr>
        <p:spPr>
          <a:xfrm>
            <a:off x="685800" y="1417320"/>
            <a:ext cx="685800" cy="685800"/>
          </a:xfrm>
          <a:prstGeom prst="ellipse">
            <a:avLst/>
          </a:prstGeom>
          <a:solidFill>
            <a:srgbClr val="3E8E6B"/>
          </a:solidFill>
          <a:ln w="12700">
            <a:solidFill>
              <a:srgbClr val="3E8E6B"/>
            </a:solidFill>
            <a:prstDash val="solid"/>
          </a:ln>
        </p:spPr>
        <p:txBody>
          <a:bodyPr/>
          <a:lstStyle/>
          <a:p>
            <a:endParaRPr lang="es-GT"/>
          </a:p>
        </p:txBody>
      </p:sp>
      <p:pic>
        <p:nvPicPr>
          <p:cNvPr id="6" name="Image 0" descr="preencoded.png"/>
          <p:cNvPicPr>
            <a:picLocks noChangeAspect="1"/>
          </p:cNvPicPr>
          <p:nvPr/>
        </p:nvPicPr>
        <p:blipFill>
          <a:blip r:embed="rId3"/>
          <a:stretch>
            <a:fillRect/>
          </a:stretch>
        </p:blipFill>
        <p:spPr>
          <a:xfrm>
            <a:off x="857250" y="1588770"/>
            <a:ext cx="342900" cy="342900"/>
          </a:xfrm>
          <a:prstGeom prst="rect">
            <a:avLst/>
          </a:prstGeom>
        </p:spPr>
      </p:pic>
      <p:sp>
        <p:nvSpPr>
          <p:cNvPr id="7" name="Text 3"/>
          <p:cNvSpPr txBox="1"/>
          <p:nvPr/>
        </p:nvSpPr>
        <p:spPr>
          <a:xfrm>
            <a:off x="685800" y="2240280"/>
            <a:ext cx="1508760" cy="365760"/>
          </a:xfrm>
          <a:prstGeom prst="rect">
            <a:avLst/>
          </a:prstGeom>
          <a:noFill/>
          <a:ln/>
        </p:spPr>
        <p:txBody>
          <a:bodyPr wrap="square" lIns="0" tIns="0" rIns="0" bIns="0" rtlCol="0" anchor="ctr"/>
          <a:lstStyle/>
          <a:p>
            <a:pPr marL="0" indent="0">
              <a:buNone/>
            </a:pPr>
            <a:r>
              <a:rPr lang="en-US" sz="1700" b="1" dirty="0">
                <a:solidFill>
                  <a:srgbClr val="24483A"/>
                </a:solidFill>
                <a:latin typeface="Century Schoolbook" panose="02040604050505020304" pitchFamily="18" charset="0"/>
                <a:ea typeface="Cambria" pitchFamily="34" charset="-122"/>
                <a:cs typeface="Cambria" pitchFamily="34" charset="-120"/>
              </a:rPr>
              <a:t>Transmetro</a:t>
            </a:r>
            <a:endParaRPr lang="en-US" sz="1700" dirty="0">
              <a:latin typeface="Century Schoolbook" panose="02040604050505020304" pitchFamily="18" charset="0"/>
            </a:endParaRPr>
          </a:p>
        </p:txBody>
      </p:sp>
      <p:sp>
        <p:nvSpPr>
          <p:cNvPr id="8" name="Text 4"/>
          <p:cNvSpPr txBox="1"/>
          <p:nvPr/>
        </p:nvSpPr>
        <p:spPr>
          <a:xfrm>
            <a:off x="685800" y="2651760"/>
            <a:ext cx="1463040" cy="77724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Validaciones por streaming y un padrón de usuarios con cambios CDC.</a:t>
            </a:r>
            <a:endParaRPr lang="en-US" sz="1200" dirty="0">
              <a:latin typeface="Century Schoolbook" panose="02040604050505020304" pitchFamily="18" charset="0"/>
            </a:endParaRPr>
          </a:p>
        </p:txBody>
      </p:sp>
      <p:sp>
        <p:nvSpPr>
          <p:cNvPr id="9" name="Shape 5"/>
          <p:cNvSpPr/>
          <p:nvPr/>
        </p:nvSpPr>
        <p:spPr>
          <a:xfrm>
            <a:off x="2575560" y="1188720"/>
            <a:ext cx="1874520" cy="2331720"/>
          </a:xfrm>
          <a:prstGeom prst="roundRect">
            <a:avLst>
              <a:gd name="adj" fmla="val 585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10" name="Shape 6"/>
          <p:cNvSpPr/>
          <p:nvPr/>
        </p:nvSpPr>
        <p:spPr>
          <a:xfrm>
            <a:off x="2804160" y="1417320"/>
            <a:ext cx="685800" cy="685800"/>
          </a:xfrm>
          <a:prstGeom prst="ellipse">
            <a:avLst/>
          </a:prstGeom>
          <a:solidFill>
            <a:srgbClr val="D94F86"/>
          </a:solidFill>
          <a:ln w="12700">
            <a:solidFill>
              <a:srgbClr val="D94F86"/>
            </a:solidFill>
            <a:prstDash val="solid"/>
          </a:ln>
        </p:spPr>
        <p:txBody>
          <a:bodyPr/>
          <a:lstStyle/>
          <a:p>
            <a:endParaRPr lang="es-GT"/>
          </a:p>
        </p:txBody>
      </p:sp>
      <p:pic>
        <p:nvPicPr>
          <p:cNvPr id="11" name="Image 1" descr="preencoded.png"/>
          <p:cNvPicPr>
            <a:picLocks noChangeAspect="1"/>
          </p:cNvPicPr>
          <p:nvPr/>
        </p:nvPicPr>
        <p:blipFill>
          <a:blip r:embed="rId4"/>
          <a:stretch>
            <a:fillRect/>
          </a:stretch>
        </p:blipFill>
        <p:spPr>
          <a:xfrm>
            <a:off x="2975610" y="1588770"/>
            <a:ext cx="342900" cy="342900"/>
          </a:xfrm>
          <a:prstGeom prst="rect">
            <a:avLst/>
          </a:prstGeom>
        </p:spPr>
      </p:pic>
      <p:sp>
        <p:nvSpPr>
          <p:cNvPr id="12" name="Text 7"/>
          <p:cNvSpPr txBox="1"/>
          <p:nvPr/>
        </p:nvSpPr>
        <p:spPr>
          <a:xfrm>
            <a:off x="2804160" y="2240280"/>
            <a:ext cx="1508760" cy="365760"/>
          </a:xfrm>
          <a:prstGeom prst="rect">
            <a:avLst/>
          </a:prstGeom>
          <a:noFill/>
          <a:ln/>
        </p:spPr>
        <p:txBody>
          <a:bodyPr wrap="square" lIns="0" tIns="0" rIns="0" bIns="0" rtlCol="0" anchor="ctr"/>
          <a:lstStyle/>
          <a:p>
            <a:pPr marL="0" indent="0">
              <a:buNone/>
            </a:pPr>
            <a:r>
              <a:rPr lang="en-US" sz="1700" b="1" dirty="0">
                <a:solidFill>
                  <a:srgbClr val="24483A"/>
                </a:solidFill>
                <a:latin typeface="Century Schoolbook" panose="02040604050505020304" pitchFamily="18" charset="0"/>
                <a:ea typeface="Cambria" pitchFamily="34" charset="-122"/>
                <a:cs typeface="Cambria" pitchFamily="34" charset="-120"/>
              </a:rPr>
              <a:t>Transurbano</a:t>
            </a:r>
            <a:endParaRPr lang="en-US" sz="1700" dirty="0">
              <a:latin typeface="Century Schoolbook" panose="02040604050505020304" pitchFamily="18" charset="0"/>
            </a:endParaRPr>
          </a:p>
        </p:txBody>
      </p:sp>
      <p:sp>
        <p:nvSpPr>
          <p:cNvPr id="13" name="Text 8"/>
          <p:cNvSpPr txBox="1"/>
          <p:nvPr/>
        </p:nvSpPr>
        <p:spPr>
          <a:xfrm>
            <a:off x="2804160" y="2651760"/>
            <a:ext cx="1463040" cy="77724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Transacciones en un archivo completo; montos en centavos.</a:t>
            </a:r>
            <a:endParaRPr lang="en-US" sz="1200" dirty="0">
              <a:latin typeface="Century Schoolbook" panose="02040604050505020304" pitchFamily="18" charset="0"/>
            </a:endParaRPr>
          </a:p>
        </p:txBody>
      </p:sp>
      <p:sp>
        <p:nvSpPr>
          <p:cNvPr id="14" name="Shape 9"/>
          <p:cNvSpPr/>
          <p:nvPr/>
        </p:nvSpPr>
        <p:spPr>
          <a:xfrm>
            <a:off x="4693920" y="1188720"/>
            <a:ext cx="1874520" cy="2331720"/>
          </a:xfrm>
          <a:prstGeom prst="roundRect">
            <a:avLst>
              <a:gd name="adj" fmla="val 585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15" name="Shape 10"/>
          <p:cNvSpPr/>
          <p:nvPr/>
        </p:nvSpPr>
        <p:spPr>
          <a:xfrm>
            <a:off x="4922520" y="1417320"/>
            <a:ext cx="685800" cy="685800"/>
          </a:xfrm>
          <a:prstGeom prst="ellipse">
            <a:avLst/>
          </a:prstGeom>
          <a:solidFill>
            <a:srgbClr val="3E8E6B"/>
          </a:solidFill>
          <a:ln w="12700">
            <a:solidFill>
              <a:srgbClr val="3E8E6B"/>
            </a:solidFill>
            <a:prstDash val="solid"/>
          </a:ln>
        </p:spPr>
        <p:txBody>
          <a:bodyPr/>
          <a:lstStyle/>
          <a:p>
            <a:endParaRPr lang="es-GT"/>
          </a:p>
        </p:txBody>
      </p:sp>
      <p:pic>
        <p:nvPicPr>
          <p:cNvPr id="16" name="Image 2" descr="preencoded.png"/>
          <p:cNvPicPr>
            <a:picLocks noChangeAspect="1"/>
          </p:cNvPicPr>
          <p:nvPr/>
        </p:nvPicPr>
        <p:blipFill>
          <a:blip r:embed="rId5"/>
          <a:stretch>
            <a:fillRect/>
          </a:stretch>
        </p:blipFill>
        <p:spPr>
          <a:xfrm>
            <a:off x="5093970" y="1588770"/>
            <a:ext cx="342900" cy="342900"/>
          </a:xfrm>
          <a:prstGeom prst="rect">
            <a:avLst/>
          </a:prstGeom>
        </p:spPr>
      </p:pic>
      <p:sp>
        <p:nvSpPr>
          <p:cNvPr id="17" name="Text 11"/>
          <p:cNvSpPr txBox="1"/>
          <p:nvPr/>
        </p:nvSpPr>
        <p:spPr>
          <a:xfrm>
            <a:off x="4922520" y="2240280"/>
            <a:ext cx="1508760" cy="365760"/>
          </a:xfrm>
          <a:prstGeom prst="rect">
            <a:avLst/>
          </a:prstGeom>
          <a:noFill/>
          <a:ln/>
        </p:spPr>
        <p:txBody>
          <a:bodyPr wrap="square" lIns="0" tIns="0" rIns="0" bIns="0" rtlCol="0" anchor="ctr"/>
          <a:lstStyle/>
          <a:p>
            <a:pPr marL="0" indent="0">
              <a:buNone/>
            </a:pPr>
            <a:r>
              <a:rPr lang="en-US" sz="1700" b="1" dirty="0">
                <a:solidFill>
                  <a:srgbClr val="24483A"/>
                </a:solidFill>
                <a:latin typeface="Century Schoolbook" panose="02040604050505020304" pitchFamily="18" charset="0"/>
                <a:ea typeface="Cambria" pitchFamily="34" charset="-122"/>
                <a:cs typeface="Cambria" pitchFamily="34" charset="-120"/>
              </a:rPr>
              <a:t>MetroRiel</a:t>
            </a:r>
            <a:endParaRPr lang="en-US" sz="1700" dirty="0">
              <a:latin typeface="Century Schoolbook" panose="02040604050505020304" pitchFamily="18" charset="0"/>
            </a:endParaRPr>
          </a:p>
        </p:txBody>
      </p:sp>
      <p:sp>
        <p:nvSpPr>
          <p:cNvPr id="18" name="Text 12"/>
          <p:cNvSpPr txBox="1"/>
          <p:nvPr/>
        </p:nvSpPr>
        <p:spPr>
          <a:xfrm>
            <a:off x="4922520" y="2651760"/>
            <a:ext cx="1463040" cy="77724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Viajes completos con entrada, salida y duración.</a:t>
            </a:r>
            <a:endParaRPr lang="en-US" sz="1200" dirty="0">
              <a:latin typeface="Century Schoolbook" panose="02040604050505020304" pitchFamily="18" charset="0"/>
            </a:endParaRPr>
          </a:p>
        </p:txBody>
      </p:sp>
      <p:sp>
        <p:nvSpPr>
          <p:cNvPr id="19" name="Shape 13"/>
          <p:cNvSpPr/>
          <p:nvPr/>
        </p:nvSpPr>
        <p:spPr>
          <a:xfrm>
            <a:off x="6812280" y="1188720"/>
            <a:ext cx="1874520" cy="2331720"/>
          </a:xfrm>
          <a:prstGeom prst="roundRect">
            <a:avLst>
              <a:gd name="adj" fmla="val 585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20" name="Shape 14"/>
          <p:cNvSpPr/>
          <p:nvPr/>
        </p:nvSpPr>
        <p:spPr>
          <a:xfrm>
            <a:off x="7040880" y="1417320"/>
            <a:ext cx="685800" cy="685800"/>
          </a:xfrm>
          <a:prstGeom prst="ellipse">
            <a:avLst/>
          </a:prstGeom>
          <a:solidFill>
            <a:srgbClr val="D94F86"/>
          </a:solidFill>
          <a:ln w="12700">
            <a:solidFill>
              <a:srgbClr val="D94F86"/>
            </a:solidFill>
            <a:prstDash val="solid"/>
          </a:ln>
        </p:spPr>
        <p:txBody>
          <a:bodyPr/>
          <a:lstStyle/>
          <a:p>
            <a:endParaRPr lang="es-GT"/>
          </a:p>
        </p:txBody>
      </p:sp>
      <p:pic>
        <p:nvPicPr>
          <p:cNvPr id="21" name="Image 3" descr="preencoded.png"/>
          <p:cNvPicPr>
            <a:picLocks noChangeAspect="1"/>
          </p:cNvPicPr>
          <p:nvPr/>
        </p:nvPicPr>
        <p:blipFill>
          <a:blip r:embed="rId6"/>
          <a:stretch>
            <a:fillRect/>
          </a:stretch>
        </p:blipFill>
        <p:spPr>
          <a:xfrm>
            <a:off x="7212330" y="1588770"/>
            <a:ext cx="342900" cy="342900"/>
          </a:xfrm>
          <a:prstGeom prst="rect">
            <a:avLst/>
          </a:prstGeom>
        </p:spPr>
      </p:pic>
      <p:sp>
        <p:nvSpPr>
          <p:cNvPr id="22" name="Text 15"/>
          <p:cNvSpPr txBox="1"/>
          <p:nvPr/>
        </p:nvSpPr>
        <p:spPr>
          <a:xfrm>
            <a:off x="7040880" y="2240280"/>
            <a:ext cx="1508760" cy="365760"/>
          </a:xfrm>
          <a:prstGeom prst="rect">
            <a:avLst/>
          </a:prstGeom>
          <a:noFill/>
          <a:ln/>
        </p:spPr>
        <p:txBody>
          <a:bodyPr wrap="square" lIns="0" tIns="0" rIns="0" bIns="0" rtlCol="0" anchor="ctr"/>
          <a:lstStyle/>
          <a:p>
            <a:pPr marL="0" indent="0">
              <a:buNone/>
            </a:pPr>
            <a:r>
              <a:rPr lang="en-US" sz="1700" b="1" dirty="0">
                <a:solidFill>
                  <a:srgbClr val="24483A"/>
                </a:solidFill>
                <a:latin typeface="Century Schoolbook" panose="02040604050505020304" pitchFamily="18" charset="0"/>
                <a:ea typeface="Cambria" pitchFamily="34" charset="-122"/>
                <a:cs typeface="Cambria" pitchFamily="34" charset="-120"/>
              </a:rPr>
              <a:t>Aerometro</a:t>
            </a:r>
            <a:endParaRPr lang="en-US" sz="1700" dirty="0">
              <a:latin typeface="Century Schoolbook" panose="02040604050505020304" pitchFamily="18" charset="0"/>
            </a:endParaRPr>
          </a:p>
        </p:txBody>
      </p:sp>
      <p:sp>
        <p:nvSpPr>
          <p:cNvPr id="23" name="Text 16"/>
          <p:cNvSpPr txBox="1"/>
          <p:nvPr/>
        </p:nvSpPr>
        <p:spPr>
          <a:xfrm>
            <a:off x="7040880" y="2651760"/>
            <a:ext cx="1463040" cy="77724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Abordajes continuos en horario UTC.</a:t>
            </a:r>
            <a:endParaRPr lang="en-US" sz="1200" dirty="0">
              <a:latin typeface="Century Schoolbook" panose="02040604050505020304" pitchFamily="18" charset="0"/>
            </a:endParaRPr>
          </a:p>
        </p:txBody>
      </p:sp>
      <p:sp>
        <p:nvSpPr>
          <p:cNvPr id="24" name="Shape 17"/>
          <p:cNvSpPr/>
          <p:nvPr/>
        </p:nvSpPr>
        <p:spPr>
          <a:xfrm>
            <a:off x="457200" y="3749040"/>
            <a:ext cx="8229600" cy="868680"/>
          </a:xfrm>
          <a:prstGeom prst="roundRect">
            <a:avLst>
              <a:gd name="adj" fmla="val 12632"/>
            </a:avLst>
          </a:prstGeom>
          <a:solidFill>
            <a:srgbClr val="FADCE7"/>
          </a:solidFill>
          <a:ln w="12700">
            <a:solidFill>
              <a:srgbClr val="FADCE7"/>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5" name="Text 18"/>
          <p:cNvSpPr txBox="1"/>
          <p:nvPr/>
        </p:nvSpPr>
        <p:spPr>
          <a:xfrm>
            <a:off x="685800" y="3794760"/>
            <a:ext cx="7772400" cy="777240"/>
          </a:xfrm>
          <a:prstGeom prst="rect">
            <a:avLst/>
          </a:prstGeom>
          <a:noFill/>
          <a:ln/>
        </p:spPr>
        <p:txBody>
          <a:bodyPr wrap="square" lIns="0" tIns="0" rIns="0" bIns="0" rtlCol="0" anchor="ctr"/>
          <a:lstStyle/>
          <a:p>
            <a:pPr marL="0" indent="0">
              <a:buNone/>
            </a:pPr>
            <a:r>
              <a:rPr lang="en-US" sz="1300" b="1" dirty="0">
                <a:solidFill>
                  <a:srgbClr val="D94F86"/>
                </a:solidFill>
                <a:latin typeface="Century Schoolbook" panose="02040604050505020304" pitchFamily="18" charset="0"/>
                <a:ea typeface="Calibri" pitchFamily="34" charset="-122"/>
                <a:cs typeface="Calibri" pitchFamily="34" charset="-120"/>
              </a:rPr>
              <a:t>El problema: </a:t>
            </a:r>
            <a:r>
              <a:rPr lang="en-US" sz="1300" dirty="0">
                <a:solidFill>
                  <a:srgbClr val="2B2B2B"/>
                </a:solidFill>
                <a:latin typeface="Century Schoolbook" panose="02040604050505020304" pitchFamily="18" charset="0"/>
                <a:ea typeface="Calibri" pitchFamily="34" charset="-122"/>
                <a:cs typeface="Calibri" pitchFamily="34" charset="-120"/>
              </a:rPr>
              <a:t>formatos, zonas y llaves distintas, más duplicados, llaves inexistentes, paradas nulas, fechas futuras y viajes sin salida. No había una visión única de la red.</a:t>
            </a:r>
            <a:endParaRPr lang="en-US" sz="1300" dirty="0">
              <a:latin typeface="Century Schoolbook" panose="02040604050505020304" pitchFamily="18" charset="0"/>
            </a:endParaRPr>
          </a:p>
        </p:txBody>
      </p:sp>
      <p:sp>
        <p:nvSpPr>
          <p:cNvPr id="2"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Objetivos</a:t>
            </a:r>
            <a:endParaRPr lang="en-US" sz="3200" dirty="0"/>
          </a:p>
        </p:txBody>
      </p:sp>
      <p:sp>
        <p:nvSpPr>
          <p:cNvPr id="4" name="Shape 1"/>
          <p:cNvSpPr/>
          <p:nvPr/>
        </p:nvSpPr>
        <p:spPr>
          <a:xfrm>
            <a:off x="457200" y="1188720"/>
            <a:ext cx="3291840" cy="3429000"/>
          </a:xfrm>
          <a:prstGeom prst="roundRect">
            <a:avLst>
              <a:gd name="adj" fmla="val 3333"/>
            </a:avLst>
          </a:prstGeom>
          <a:solidFill>
            <a:srgbClr val="24483A"/>
          </a:solidFill>
          <a:ln w="12700">
            <a:solidFill>
              <a:srgbClr val="24483A"/>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Shape 2"/>
          <p:cNvSpPr/>
          <p:nvPr/>
        </p:nvSpPr>
        <p:spPr>
          <a:xfrm>
            <a:off x="731520" y="1463040"/>
            <a:ext cx="685800" cy="68580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6" name="Image 0" descr="preencoded.png"/>
          <p:cNvPicPr>
            <a:picLocks noChangeAspect="1"/>
          </p:cNvPicPr>
          <p:nvPr/>
        </p:nvPicPr>
        <p:blipFill>
          <a:blip r:embed="rId3"/>
          <a:stretch>
            <a:fillRect/>
          </a:stretch>
        </p:blipFill>
        <p:spPr>
          <a:xfrm>
            <a:off x="902970" y="1634490"/>
            <a:ext cx="342900" cy="342900"/>
          </a:xfrm>
          <a:prstGeom prst="rect">
            <a:avLst/>
          </a:prstGeom>
        </p:spPr>
      </p:pic>
      <p:sp>
        <p:nvSpPr>
          <p:cNvPr id="7" name="Text 3"/>
          <p:cNvSpPr txBox="1"/>
          <p:nvPr/>
        </p:nvSpPr>
        <p:spPr>
          <a:xfrm>
            <a:off x="731520" y="2286000"/>
            <a:ext cx="2743200" cy="365760"/>
          </a:xfrm>
          <a:prstGeom prst="rect">
            <a:avLst/>
          </a:prstGeom>
          <a:noFill/>
          <a:ln/>
        </p:spPr>
        <p:txBody>
          <a:bodyPr wrap="square" lIns="0" tIns="0" rIns="0" bIns="0" rtlCol="0" anchor="ctr"/>
          <a:lstStyle/>
          <a:p>
            <a:pPr marL="0" indent="0">
              <a:buNone/>
            </a:pPr>
            <a:r>
              <a:rPr lang="en-US" sz="1800" b="1" dirty="0">
                <a:solidFill>
                  <a:srgbClr val="FADCE7"/>
                </a:solidFill>
                <a:latin typeface="Century Schoolbook" panose="02040604050505020304" pitchFamily="18" charset="0"/>
                <a:ea typeface="Cambria" pitchFamily="34" charset="-122"/>
                <a:cs typeface="Cambria" pitchFamily="34" charset="-120"/>
              </a:rPr>
              <a:t>Objetivo general</a:t>
            </a:r>
            <a:endParaRPr lang="en-US" sz="1800" dirty="0">
              <a:latin typeface="Century Schoolbook" panose="02040604050505020304" pitchFamily="18" charset="0"/>
            </a:endParaRPr>
          </a:p>
        </p:txBody>
      </p:sp>
      <p:sp>
        <p:nvSpPr>
          <p:cNvPr id="8" name="Text 4"/>
          <p:cNvSpPr txBox="1"/>
          <p:nvPr/>
        </p:nvSpPr>
        <p:spPr>
          <a:xfrm>
            <a:off x="731520" y="2697480"/>
            <a:ext cx="2788920" cy="1737360"/>
          </a:xfrm>
          <a:prstGeom prst="rect">
            <a:avLst/>
          </a:prstGeom>
          <a:noFill/>
          <a:ln/>
        </p:spPr>
        <p:txBody>
          <a:bodyPr wrap="square" lIns="0" tIns="0" rIns="0" bIns="0" rtlCol="0" anchor="t"/>
          <a:lstStyle/>
          <a:p>
            <a:pPr marL="0" indent="0">
              <a:buNone/>
            </a:pPr>
            <a:r>
              <a:rPr lang="en-US" sz="1400" dirty="0">
                <a:solidFill>
                  <a:srgbClr val="FFFFFF"/>
                </a:solidFill>
                <a:latin typeface="Century Schoolbook" panose="02040604050505020304" pitchFamily="18" charset="0"/>
                <a:ea typeface="Calibri" pitchFamily="34" charset="-122"/>
                <a:cs typeface="Calibri" pitchFamily="34" charset="-120"/>
              </a:rPr>
              <a:t>Documentar las decisiones de arquitectura, los métodos aplicados y los resultados que demuestran el funcionamiento del pipeline de la Red Metropolitana.</a:t>
            </a:r>
            <a:endParaRPr lang="en-US" sz="1400" dirty="0">
              <a:latin typeface="Century Schoolbook" panose="02040604050505020304" pitchFamily="18" charset="0"/>
            </a:endParaRPr>
          </a:p>
        </p:txBody>
      </p:sp>
      <p:sp>
        <p:nvSpPr>
          <p:cNvPr id="9" name="Shape 5"/>
          <p:cNvSpPr/>
          <p:nvPr/>
        </p:nvSpPr>
        <p:spPr>
          <a:xfrm>
            <a:off x="4023360" y="1188720"/>
            <a:ext cx="4663440" cy="768096"/>
          </a:xfrm>
          <a:prstGeom prst="roundRect">
            <a:avLst>
              <a:gd name="adj" fmla="val 142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0" name="Shape 6"/>
          <p:cNvSpPr/>
          <p:nvPr/>
        </p:nvSpPr>
        <p:spPr>
          <a:xfrm>
            <a:off x="4206240" y="1344168"/>
            <a:ext cx="457200" cy="457200"/>
          </a:xfrm>
          <a:prstGeom prst="ellipse">
            <a:avLst/>
          </a:prstGeom>
          <a:solidFill>
            <a:srgbClr val="3E8E6B"/>
          </a:solidFill>
          <a:ln w="12700">
            <a:solidFill>
              <a:srgbClr val="FFFFFF"/>
            </a:solidFill>
            <a:prstDash val="solid"/>
          </a:ln>
        </p:spPr>
        <p:txBody>
          <a:bodyPr/>
          <a:lstStyle/>
          <a:p>
            <a:endParaRPr lang="es-GT">
              <a:latin typeface="Century Schoolbook" panose="02040604050505020304" pitchFamily="18" charset="0"/>
            </a:endParaRPr>
          </a:p>
        </p:txBody>
      </p:sp>
      <p:sp>
        <p:nvSpPr>
          <p:cNvPr id="11" name="Text 7"/>
          <p:cNvSpPr txBox="1"/>
          <p:nvPr/>
        </p:nvSpPr>
        <p:spPr>
          <a:xfrm>
            <a:off x="4206240" y="1344168"/>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Schoolbook" panose="02040604050505020304" pitchFamily="18" charset="0"/>
                <a:ea typeface="Cambria" pitchFamily="34" charset="-122"/>
                <a:cs typeface="Cambria" pitchFamily="34" charset="-120"/>
              </a:rPr>
              <a:t>1</a:t>
            </a:r>
            <a:endParaRPr lang="en-US" sz="1600" dirty="0">
              <a:latin typeface="Century Schoolbook" panose="02040604050505020304" pitchFamily="18" charset="0"/>
            </a:endParaRPr>
          </a:p>
        </p:txBody>
      </p:sp>
      <p:sp>
        <p:nvSpPr>
          <p:cNvPr id="12" name="Text 8"/>
          <p:cNvSpPr txBox="1"/>
          <p:nvPr/>
        </p:nvSpPr>
        <p:spPr>
          <a:xfrm>
            <a:off x="4846320" y="1234440"/>
            <a:ext cx="3703320" cy="676656"/>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Explicar la selección de los métodos de ingesta, almacenamiento y transformación.</a:t>
            </a:r>
            <a:endParaRPr lang="en-US" sz="1250" dirty="0">
              <a:latin typeface="Century Schoolbook" panose="02040604050505020304" pitchFamily="18" charset="0"/>
            </a:endParaRPr>
          </a:p>
        </p:txBody>
      </p:sp>
      <p:sp>
        <p:nvSpPr>
          <p:cNvPr id="13" name="Shape 9"/>
          <p:cNvSpPr/>
          <p:nvPr/>
        </p:nvSpPr>
        <p:spPr>
          <a:xfrm>
            <a:off x="4023360" y="2066544"/>
            <a:ext cx="4663440" cy="768096"/>
          </a:xfrm>
          <a:prstGeom prst="roundRect">
            <a:avLst>
              <a:gd name="adj" fmla="val 142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4" name="Shape 10"/>
          <p:cNvSpPr/>
          <p:nvPr/>
        </p:nvSpPr>
        <p:spPr>
          <a:xfrm>
            <a:off x="4206240" y="2221992"/>
            <a:ext cx="457200" cy="457200"/>
          </a:xfrm>
          <a:prstGeom prst="ellipse">
            <a:avLst/>
          </a:prstGeom>
          <a:solidFill>
            <a:srgbClr val="D94F86"/>
          </a:solidFill>
          <a:ln w="12700">
            <a:solidFill>
              <a:srgbClr val="FFFFFF"/>
            </a:solidFill>
            <a:prstDash val="solid"/>
          </a:ln>
        </p:spPr>
        <p:txBody>
          <a:bodyPr/>
          <a:lstStyle/>
          <a:p>
            <a:endParaRPr lang="es-GT">
              <a:latin typeface="Century Schoolbook" panose="02040604050505020304" pitchFamily="18" charset="0"/>
            </a:endParaRPr>
          </a:p>
        </p:txBody>
      </p:sp>
      <p:sp>
        <p:nvSpPr>
          <p:cNvPr id="15" name="Text 11"/>
          <p:cNvSpPr txBox="1"/>
          <p:nvPr/>
        </p:nvSpPr>
        <p:spPr>
          <a:xfrm>
            <a:off x="4206240" y="2221992"/>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Schoolbook" panose="02040604050505020304" pitchFamily="18" charset="0"/>
                <a:ea typeface="Cambria" pitchFamily="34" charset="-122"/>
                <a:cs typeface="Cambria" pitchFamily="34" charset="-120"/>
              </a:rPr>
              <a:t>2</a:t>
            </a:r>
            <a:endParaRPr lang="en-US" sz="1600" dirty="0">
              <a:latin typeface="Century Schoolbook" panose="02040604050505020304" pitchFamily="18" charset="0"/>
            </a:endParaRPr>
          </a:p>
        </p:txBody>
      </p:sp>
      <p:sp>
        <p:nvSpPr>
          <p:cNvPr id="16" name="Text 12"/>
          <p:cNvSpPr txBox="1"/>
          <p:nvPr/>
        </p:nvSpPr>
        <p:spPr>
          <a:xfrm>
            <a:off x="4846320" y="2112264"/>
            <a:ext cx="3703320" cy="676656"/>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Describir el tratamiento del padrón CDC, la identidad y las reglas de calidad.</a:t>
            </a:r>
            <a:endParaRPr lang="en-US" sz="1250" dirty="0">
              <a:latin typeface="Century Schoolbook" panose="02040604050505020304" pitchFamily="18" charset="0"/>
            </a:endParaRPr>
          </a:p>
        </p:txBody>
      </p:sp>
      <p:sp>
        <p:nvSpPr>
          <p:cNvPr id="17" name="Shape 13"/>
          <p:cNvSpPr/>
          <p:nvPr/>
        </p:nvSpPr>
        <p:spPr>
          <a:xfrm>
            <a:off x="4023360" y="2944368"/>
            <a:ext cx="4663440" cy="768096"/>
          </a:xfrm>
          <a:prstGeom prst="roundRect">
            <a:avLst>
              <a:gd name="adj" fmla="val 142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8" name="Shape 14"/>
          <p:cNvSpPr/>
          <p:nvPr/>
        </p:nvSpPr>
        <p:spPr>
          <a:xfrm>
            <a:off x="4206240" y="3099816"/>
            <a:ext cx="457200" cy="457200"/>
          </a:xfrm>
          <a:prstGeom prst="ellipse">
            <a:avLst/>
          </a:prstGeom>
          <a:solidFill>
            <a:srgbClr val="3E8E6B"/>
          </a:solidFill>
          <a:ln w="12700">
            <a:solidFill>
              <a:srgbClr val="FFFFFF"/>
            </a:solidFill>
            <a:prstDash val="solid"/>
          </a:ln>
        </p:spPr>
        <p:txBody>
          <a:bodyPr/>
          <a:lstStyle/>
          <a:p>
            <a:endParaRPr lang="es-GT">
              <a:latin typeface="Century Schoolbook" panose="02040604050505020304" pitchFamily="18" charset="0"/>
            </a:endParaRPr>
          </a:p>
        </p:txBody>
      </p:sp>
      <p:sp>
        <p:nvSpPr>
          <p:cNvPr id="19" name="Text 15"/>
          <p:cNvSpPr txBox="1"/>
          <p:nvPr/>
        </p:nvSpPr>
        <p:spPr>
          <a:xfrm>
            <a:off x="4206240" y="3099816"/>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Schoolbook" panose="02040604050505020304" pitchFamily="18" charset="0"/>
                <a:ea typeface="Cambria" pitchFamily="34" charset="-122"/>
                <a:cs typeface="Cambria" pitchFamily="34" charset="-120"/>
              </a:rPr>
              <a:t>3</a:t>
            </a:r>
            <a:endParaRPr lang="en-US" sz="1600" dirty="0">
              <a:latin typeface="Century Schoolbook" panose="02040604050505020304" pitchFamily="18" charset="0"/>
            </a:endParaRPr>
          </a:p>
        </p:txBody>
      </p:sp>
      <p:sp>
        <p:nvSpPr>
          <p:cNvPr id="20" name="Text 16"/>
          <p:cNvSpPr txBox="1"/>
          <p:nvPr/>
        </p:nvSpPr>
        <p:spPr>
          <a:xfrm>
            <a:off x="4846320" y="2990088"/>
            <a:ext cx="3703320" cy="676656"/>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Justificar el grano y la estructura del modelo dimensional Gold.</a:t>
            </a:r>
            <a:endParaRPr lang="en-US" sz="1250" dirty="0">
              <a:latin typeface="Century Schoolbook" panose="02040604050505020304" pitchFamily="18" charset="0"/>
            </a:endParaRPr>
          </a:p>
        </p:txBody>
      </p:sp>
      <p:sp>
        <p:nvSpPr>
          <p:cNvPr id="21" name="Shape 17"/>
          <p:cNvSpPr/>
          <p:nvPr/>
        </p:nvSpPr>
        <p:spPr>
          <a:xfrm>
            <a:off x="4023360" y="3822192"/>
            <a:ext cx="4663440" cy="768096"/>
          </a:xfrm>
          <a:prstGeom prst="roundRect">
            <a:avLst>
              <a:gd name="adj" fmla="val 1428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2" name="Shape 18"/>
          <p:cNvSpPr/>
          <p:nvPr/>
        </p:nvSpPr>
        <p:spPr>
          <a:xfrm>
            <a:off x="4206240" y="3977640"/>
            <a:ext cx="457200" cy="457200"/>
          </a:xfrm>
          <a:prstGeom prst="ellipse">
            <a:avLst/>
          </a:prstGeom>
          <a:solidFill>
            <a:srgbClr val="D94F86"/>
          </a:solidFill>
          <a:ln w="12700">
            <a:solidFill>
              <a:srgbClr val="FFFFFF"/>
            </a:solidFill>
            <a:prstDash val="solid"/>
          </a:ln>
        </p:spPr>
        <p:txBody>
          <a:bodyPr/>
          <a:lstStyle/>
          <a:p>
            <a:endParaRPr lang="es-GT">
              <a:latin typeface="Century Schoolbook" panose="02040604050505020304" pitchFamily="18" charset="0"/>
            </a:endParaRPr>
          </a:p>
        </p:txBody>
      </p:sp>
      <p:sp>
        <p:nvSpPr>
          <p:cNvPr id="23" name="Text 19"/>
          <p:cNvSpPr txBox="1"/>
          <p:nvPr/>
        </p:nvSpPr>
        <p:spPr>
          <a:xfrm>
            <a:off x="4206240" y="397764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entury Schoolbook" panose="02040604050505020304" pitchFamily="18" charset="0"/>
                <a:ea typeface="Cambria" pitchFamily="34" charset="-122"/>
                <a:cs typeface="Cambria" pitchFamily="34" charset="-120"/>
              </a:rPr>
              <a:t>4</a:t>
            </a:r>
            <a:endParaRPr lang="en-US" sz="1600" dirty="0">
              <a:latin typeface="Century Schoolbook" panose="02040604050505020304" pitchFamily="18" charset="0"/>
            </a:endParaRPr>
          </a:p>
        </p:txBody>
      </p:sp>
      <p:sp>
        <p:nvSpPr>
          <p:cNvPr id="24" name="Text 20"/>
          <p:cNvSpPr txBox="1"/>
          <p:nvPr/>
        </p:nvSpPr>
        <p:spPr>
          <a:xfrm>
            <a:off x="4846320" y="3867912"/>
            <a:ext cx="3703320" cy="676656"/>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Presentar métricas, pruebas y evidencia de idempotencia del pipeline.</a:t>
            </a:r>
            <a:endParaRPr lang="en-US" sz="125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Arquitectura por capas</a:t>
            </a:r>
            <a:endParaRPr lang="en-US" sz="3200" dirty="0"/>
          </a:p>
        </p:txBody>
      </p:sp>
      <p:sp>
        <p:nvSpPr>
          <p:cNvPr id="4" name="Shape 1"/>
          <p:cNvSpPr/>
          <p:nvPr/>
        </p:nvSpPr>
        <p:spPr>
          <a:xfrm>
            <a:off x="457200" y="1234440"/>
            <a:ext cx="1417320" cy="777240"/>
          </a:xfrm>
          <a:prstGeom prst="roundRect">
            <a:avLst>
              <a:gd name="adj" fmla="val 14118"/>
            </a:avLst>
          </a:prstGeom>
          <a:solidFill>
            <a:srgbClr val="3E8E6B"/>
          </a:solidFill>
          <a:ln w="12700">
            <a:solidFill>
              <a:srgbClr val="3E8E6B"/>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Text 2"/>
          <p:cNvSpPr txBox="1"/>
          <p:nvPr/>
        </p:nvSpPr>
        <p:spPr>
          <a:xfrm>
            <a:off x="457200" y="1234440"/>
            <a:ext cx="141732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anose="02040604050505020304" pitchFamily="18" charset="0"/>
                <a:ea typeface="Cambria" pitchFamily="34" charset="-122"/>
                <a:cs typeface="Cambria" pitchFamily="34" charset="-120"/>
              </a:rPr>
              <a:t>Fuentes</a:t>
            </a:r>
            <a:endParaRPr lang="en-US" sz="1800" dirty="0">
              <a:latin typeface="Century Schoolbook" panose="02040604050505020304" pitchFamily="18" charset="0"/>
            </a:endParaRPr>
          </a:p>
        </p:txBody>
      </p:sp>
      <p:sp>
        <p:nvSpPr>
          <p:cNvPr id="6" name="Text 3"/>
          <p:cNvSpPr txBox="1"/>
          <p:nvPr/>
        </p:nvSpPr>
        <p:spPr>
          <a:xfrm>
            <a:off x="457200" y="2103120"/>
            <a:ext cx="1417320" cy="868680"/>
          </a:xfrm>
          <a:prstGeom prst="rect">
            <a:avLst/>
          </a:prstGeom>
          <a:noFill/>
          <a:ln/>
        </p:spPr>
        <p:txBody>
          <a:bodyPr wrap="square" lIns="0" tIns="0" rIns="0" bIns="0" rtlCol="0" anchor="t"/>
          <a:lstStyle/>
          <a:p>
            <a:pPr marL="0" indent="0" algn="ctr">
              <a:buNone/>
            </a:pPr>
            <a:r>
              <a:rPr lang="en-US" sz="1150" dirty="0">
                <a:solidFill>
                  <a:srgbClr val="2B2B2B"/>
                </a:solidFill>
                <a:latin typeface="Century Schoolbook" panose="02040604050505020304" pitchFamily="18" charset="0"/>
                <a:ea typeface="Calibri" pitchFamily="34" charset="-122"/>
                <a:cs typeface="Calibri" pitchFamily="34" charset="-120"/>
              </a:rPr>
              <a:t>Kafka, batch y CDC</a:t>
            </a:r>
            <a:endParaRPr lang="en-US" sz="1150" dirty="0">
              <a:latin typeface="Century Schoolbook" panose="02040604050505020304" pitchFamily="18" charset="0"/>
            </a:endParaRPr>
          </a:p>
        </p:txBody>
      </p:sp>
      <p:sp>
        <p:nvSpPr>
          <p:cNvPr id="7" name="Shape 4"/>
          <p:cNvSpPr/>
          <p:nvPr/>
        </p:nvSpPr>
        <p:spPr>
          <a:xfrm>
            <a:off x="1901952" y="1490472"/>
            <a:ext cx="230886" cy="256032"/>
          </a:xfrm>
          <a:prstGeom prst="rightArrow">
            <a:avLst/>
          </a:prstGeom>
          <a:solidFill>
            <a:srgbClr val="6B6B6B"/>
          </a:solidFill>
          <a:ln w="12700">
            <a:solidFill>
              <a:srgbClr val="6B6B6B"/>
            </a:solidFill>
            <a:prstDash val="solid"/>
          </a:ln>
        </p:spPr>
        <p:txBody>
          <a:bodyPr/>
          <a:lstStyle/>
          <a:p>
            <a:endParaRPr lang="es-GT">
              <a:latin typeface="Century Schoolbook" panose="02040604050505020304" pitchFamily="18" charset="0"/>
            </a:endParaRPr>
          </a:p>
        </p:txBody>
      </p:sp>
      <p:sp>
        <p:nvSpPr>
          <p:cNvPr id="8" name="Shape 5"/>
          <p:cNvSpPr/>
          <p:nvPr/>
        </p:nvSpPr>
        <p:spPr>
          <a:xfrm>
            <a:off x="2160270" y="1234440"/>
            <a:ext cx="1417320" cy="777240"/>
          </a:xfrm>
          <a:prstGeom prst="roundRect">
            <a:avLst>
              <a:gd name="adj" fmla="val 14118"/>
            </a:avLst>
          </a:prstGeom>
          <a:solidFill>
            <a:srgbClr val="D94F86"/>
          </a:solidFill>
          <a:ln w="12700">
            <a:solidFill>
              <a:srgbClr val="D94F86"/>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9" name="Text 6"/>
          <p:cNvSpPr txBox="1"/>
          <p:nvPr/>
        </p:nvSpPr>
        <p:spPr>
          <a:xfrm>
            <a:off x="2160270" y="1234440"/>
            <a:ext cx="141732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anose="02040604050505020304" pitchFamily="18" charset="0"/>
                <a:ea typeface="Cambria" pitchFamily="34" charset="-122"/>
                <a:cs typeface="Cambria" pitchFamily="34" charset="-120"/>
              </a:rPr>
              <a:t>Bronze</a:t>
            </a:r>
            <a:endParaRPr lang="en-US" sz="1800" dirty="0">
              <a:latin typeface="Century Schoolbook" panose="02040604050505020304" pitchFamily="18" charset="0"/>
            </a:endParaRPr>
          </a:p>
        </p:txBody>
      </p:sp>
      <p:sp>
        <p:nvSpPr>
          <p:cNvPr id="10" name="Text 7"/>
          <p:cNvSpPr txBox="1"/>
          <p:nvPr/>
        </p:nvSpPr>
        <p:spPr>
          <a:xfrm>
            <a:off x="2160270" y="2103120"/>
            <a:ext cx="1417320" cy="868680"/>
          </a:xfrm>
          <a:prstGeom prst="rect">
            <a:avLst/>
          </a:prstGeom>
          <a:noFill/>
          <a:ln/>
        </p:spPr>
        <p:txBody>
          <a:bodyPr wrap="square" lIns="0" tIns="0" rIns="0" bIns="0" rtlCol="0" anchor="t"/>
          <a:lstStyle/>
          <a:p>
            <a:pPr marL="0" indent="0" algn="ctr">
              <a:buNone/>
            </a:pPr>
            <a:r>
              <a:rPr lang="en-US" sz="1150" dirty="0">
                <a:solidFill>
                  <a:srgbClr val="2B2B2B"/>
                </a:solidFill>
                <a:latin typeface="Century Schoolbook" panose="02040604050505020304" pitchFamily="18" charset="0"/>
                <a:ea typeface="Calibri" pitchFamily="34" charset="-122"/>
                <a:cs typeface="Calibri" pitchFamily="34" charset="-120"/>
              </a:rPr>
              <a:t>Parquet particionado por fecha</a:t>
            </a:r>
            <a:endParaRPr lang="en-US" sz="1150" dirty="0">
              <a:latin typeface="Century Schoolbook" panose="02040604050505020304" pitchFamily="18" charset="0"/>
            </a:endParaRPr>
          </a:p>
        </p:txBody>
      </p:sp>
      <p:sp>
        <p:nvSpPr>
          <p:cNvPr id="11" name="Shape 8"/>
          <p:cNvSpPr/>
          <p:nvPr/>
        </p:nvSpPr>
        <p:spPr>
          <a:xfrm>
            <a:off x="3605022" y="1490472"/>
            <a:ext cx="230886" cy="256032"/>
          </a:xfrm>
          <a:prstGeom prst="rightArrow">
            <a:avLst/>
          </a:prstGeom>
          <a:solidFill>
            <a:srgbClr val="6B6B6B"/>
          </a:solidFill>
          <a:ln w="12700">
            <a:solidFill>
              <a:srgbClr val="6B6B6B"/>
            </a:solidFill>
            <a:prstDash val="solid"/>
          </a:ln>
        </p:spPr>
        <p:txBody>
          <a:bodyPr/>
          <a:lstStyle/>
          <a:p>
            <a:endParaRPr lang="es-GT">
              <a:latin typeface="Century Schoolbook" panose="02040604050505020304" pitchFamily="18" charset="0"/>
            </a:endParaRPr>
          </a:p>
        </p:txBody>
      </p:sp>
      <p:sp>
        <p:nvSpPr>
          <p:cNvPr id="12" name="Shape 9"/>
          <p:cNvSpPr/>
          <p:nvPr/>
        </p:nvSpPr>
        <p:spPr>
          <a:xfrm>
            <a:off x="3863340" y="1234440"/>
            <a:ext cx="1417320" cy="777240"/>
          </a:xfrm>
          <a:prstGeom prst="roundRect">
            <a:avLst>
              <a:gd name="adj" fmla="val 14118"/>
            </a:avLst>
          </a:prstGeom>
          <a:solidFill>
            <a:srgbClr val="3E8E6B"/>
          </a:solidFill>
          <a:ln w="12700">
            <a:solidFill>
              <a:srgbClr val="3E8E6B"/>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3" name="Text 10"/>
          <p:cNvSpPr txBox="1"/>
          <p:nvPr/>
        </p:nvSpPr>
        <p:spPr>
          <a:xfrm>
            <a:off x="3863340" y="1234440"/>
            <a:ext cx="141732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anose="02040604050505020304" pitchFamily="18" charset="0"/>
                <a:ea typeface="Cambria" pitchFamily="34" charset="-122"/>
                <a:cs typeface="Cambria" pitchFamily="34" charset="-120"/>
              </a:rPr>
              <a:t>Staging</a:t>
            </a:r>
            <a:endParaRPr lang="en-US" sz="1800" dirty="0">
              <a:latin typeface="Century Schoolbook" panose="02040604050505020304" pitchFamily="18" charset="0"/>
            </a:endParaRPr>
          </a:p>
        </p:txBody>
      </p:sp>
      <p:sp>
        <p:nvSpPr>
          <p:cNvPr id="14" name="Text 11"/>
          <p:cNvSpPr txBox="1"/>
          <p:nvPr/>
        </p:nvSpPr>
        <p:spPr>
          <a:xfrm>
            <a:off x="3863340" y="2103120"/>
            <a:ext cx="1417320" cy="868680"/>
          </a:xfrm>
          <a:prstGeom prst="rect">
            <a:avLst/>
          </a:prstGeom>
          <a:noFill/>
          <a:ln/>
        </p:spPr>
        <p:txBody>
          <a:bodyPr wrap="square" lIns="0" tIns="0" rIns="0" bIns="0" rtlCol="0" anchor="t"/>
          <a:lstStyle/>
          <a:p>
            <a:pPr marL="0" indent="0" algn="ctr">
              <a:buNone/>
            </a:pPr>
            <a:r>
              <a:rPr lang="en-US" sz="1150" dirty="0">
                <a:solidFill>
                  <a:srgbClr val="2B2B2B"/>
                </a:solidFill>
                <a:latin typeface="Century Schoolbook" panose="02040604050505020304" pitchFamily="18" charset="0"/>
                <a:ea typeface="Calibri" pitchFamily="34" charset="-122"/>
                <a:cs typeface="Calibri" pitchFamily="34" charset="-120"/>
              </a:rPr>
              <a:t>PostgreSQL, temporal; se vacía en cada corrida</a:t>
            </a:r>
            <a:endParaRPr lang="en-US" sz="1150" dirty="0">
              <a:latin typeface="Century Schoolbook" panose="02040604050505020304" pitchFamily="18" charset="0"/>
            </a:endParaRPr>
          </a:p>
        </p:txBody>
      </p:sp>
      <p:sp>
        <p:nvSpPr>
          <p:cNvPr id="15" name="Shape 12"/>
          <p:cNvSpPr/>
          <p:nvPr/>
        </p:nvSpPr>
        <p:spPr>
          <a:xfrm>
            <a:off x="5308092" y="1490472"/>
            <a:ext cx="230886" cy="256032"/>
          </a:xfrm>
          <a:prstGeom prst="rightArrow">
            <a:avLst/>
          </a:prstGeom>
          <a:solidFill>
            <a:srgbClr val="6B6B6B"/>
          </a:solidFill>
          <a:ln w="12700">
            <a:solidFill>
              <a:srgbClr val="6B6B6B"/>
            </a:solidFill>
            <a:prstDash val="solid"/>
          </a:ln>
        </p:spPr>
        <p:txBody>
          <a:bodyPr/>
          <a:lstStyle/>
          <a:p>
            <a:endParaRPr lang="es-GT">
              <a:latin typeface="Century Schoolbook" panose="02040604050505020304" pitchFamily="18" charset="0"/>
            </a:endParaRPr>
          </a:p>
        </p:txBody>
      </p:sp>
      <p:sp>
        <p:nvSpPr>
          <p:cNvPr id="16" name="Shape 13"/>
          <p:cNvSpPr/>
          <p:nvPr/>
        </p:nvSpPr>
        <p:spPr>
          <a:xfrm>
            <a:off x="5566410" y="1234440"/>
            <a:ext cx="1417320" cy="777240"/>
          </a:xfrm>
          <a:prstGeom prst="roundRect">
            <a:avLst>
              <a:gd name="adj" fmla="val 14118"/>
            </a:avLst>
          </a:prstGeom>
          <a:solidFill>
            <a:srgbClr val="D94F86"/>
          </a:solidFill>
          <a:ln w="12700">
            <a:solidFill>
              <a:srgbClr val="D94F86"/>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7" name="Text 14"/>
          <p:cNvSpPr txBox="1"/>
          <p:nvPr/>
        </p:nvSpPr>
        <p:spPr>
          <a:xfrm>
            <a:off x="5566410" y="1234440"/>
            <a:ext cx="141732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anose="02040604050505020304" pitchFamily="18" charset="0"/>
                <a:ea typeface="Cambria" pitchFamily="34" charset="-122"/>
                <a:cs typeface="Cambria" pitchFamily="34" charset="-120"/>
              </a:rPr>
              <a:t>Silver</a:t>
            </a:r>
            <a:endParaRPr lang="en-US" sz="1800" dirty="0">
              <a:latin typeface="Century Schoolbook" panose="02040604050505020304" pitchFamily="18" charset="0"/>
            </a:endParaRPr>
          </a:p>
        </p:txBody>
      </p:sp>
      <p:sp>
        <p:nvSpPr>
          <p:cNvPr id="18" name="Text 15"/>
          <p:cNvSpPr txBox="1"/>
          <p:nvPr/>
        </p:nvSpPr>
        <p:spPr>
          <a:xfrm>
            <a:off x="5566410" y="2103120"/>
            <a:ext cx="1417320" cy="868680"/>
          </a:xfrm>
          <a:prstGeom prst="rect">
            <a:avLst/>
          </a:prstGeom>
          <a:noFill/>
          <a:ln/>
        </p:spPr>
        <p:txBody>
          <a:bodyPr wrap="square" lIns="0" tIns="0" rIns="0" bIns="0" rtlCol="0" anchor="t"/>
          <a:lstStyle/>
          <a:p>
            <a:pPr marL="0" indent="0" algn="ctr">
              <a:buNone/>
            </a:pPr>
            <a:r>
              <a:rPr lang="en-US" sz="1150" dirty="0">
                <a:solidFill>
                  <a:srgbClr val="2B2B2B"/>
                </a:solidFill>
                <a:latin typeface="Century Schoolbook" panose="02040604050505020304" pitchFamily="18" charset="0"/>
                <a:ea typeface="Calibri" pitchFamily="34" charset="-122"/>
                <a:cs typeface="Calibri" pitchFamily="34" charset="-120"/>
              </a:rPr>
              <a:t>Formatos unificados, CDC aplicado, calidad</a:t>
            </a:r>
            <a:endParaRPr lang="en-US" sz="1150" dirty="0">
              <a:latin typeface="Century Schoolbook" panose="02040604050505020304" pitchFamily="18" charset="0"/>
            </a:endParaRPr>
          </a:p>
        </p:txBody>
      </p:sp>
      <p:sp>
        <p:nvSpPr>
          <p:cNvPr id="19" name="Shape 16"/>
          <p:cNvSpPr/>
          <p:nvPr/>
        </p:nvSpPr>
        <p:spPr>
          <a:xfrm>
            <a:off x="7011162" y="1490472"/>
            <a:ext cx="230886" cy="256032"/>
          </a:xfrm>
          <a:prstGeom prst="rightArrow">
            <a:avLst/>
          </a:prstGeom>
          <a:solidFill>
            <a:srgbClr val="6B6B6B"/>
          </a:solidFill>
          <a:ln w="12700">
            <a:solidFill>
              <a:srgbClr val="6B6B6B"/>
            </a:solidFill>
            <a:prstDash val="solid"/>
          </a:ln>
        </p:spPr>
        <p:txBody>
          <a:bodyPr/>
          <a:lstStyle/>
          <a:p>
            <a:endParaRPr lang="es-GT">
              <a:latin typeface="Century Schoolbook" panose="02040604050505020304" pitchFamily="18" charset="0"/>
            </a:endParaRPr>
          </a:p>
        </p:txBody>
      </p:sp>
      <p:sp>
        <p:nvSpPr>
          <p:cNvPr id="20" name="Shape 17"/>
          <p:cNvSpPr/>
          <p:nvPr/>
        </p:nvSpPr>
        <p:spPr>
          <a:xfrm>
            <a:off x="7269480" y="1234440"/>
            <a:ext cx="1417320" cy="777240"/>
          </a:xfrm>
          <a:prstGeom prst="roundRect">
            <a:avLst>
              <a:gd name="adj" fmla="val 14118"/>
            </a:avLst>
          </a:prstGeom>
          <a:solidFill>
            <a:srgbClr val="24483A"/>
          </a:solidFill>
          <a:ln w="12700">
            <a:solidFill>
              <a:srgbClr val="24483A"/>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1" name="Text 18"/>
          <p:cNvSpPr txBox="1"/>
          <p:nvPr/>
        </p:nvSpPr>
        <p:spPr>
          <a:xfrm>
            <a:off x="7269480" y="1234440"/>
            <a:ext cx="1417320" cy="777240"/>
          </a:xfrm>
          <a:prstGeom prst="rect">
            <a:avLst/>
          </a:prstGeom>
          <a:noFill/>
          <a:ln/>
        </p:spPr>
        <p:txBody>
          <a:bodyPr wrap="square" lIns="0" tIns="0" rIns="0" bIns="0" rtlCol="0" anchor="ctr"/>
          <a:lstStyle/>
          <a:p>
            <a:pPr marL="0" indent="0" algn="ctr">
              <a:buNone/>
            </a:pPr>
            <a:r>
              <a:rPr lang="en-US" sz="1800" b="1" dirty="0">
                <a:solidFill>
                  <a:srgbClr val="FFFFFF"/>
                </a:solidFill>
                <a:latin typeface="Century Schoolbook" panose="02040604050505020304" pitchFamily="18" charset="0"/>
                <a:ea typeface="Cambria" pitchFamily="34" charset="-122"/>
                <a:cs typeface="Cambria" pitchFamily="34" charset="-120"/>
              </a:rPr>
              <a:t>Gold</a:t>
            </a:r>
            <a:endParaRPr lang="en-US" sz="1800" dirty="0">
              <a:latin typeface="Century Schoolbook" panose="02040604050505020304" pitchFamily="18" charset="0"/>
            </a:endParaRPr>
          </a:p>
        </p:txBody>
      </p:sp>
      <p:sp>
        <p:nvSpPr>
          <p:cNvPr id="22" name="Text 19"/>
          <p:cNvSpPr txBox="1"/>
          <p:nvPr/>
        </p:nvSpPr>
        <p:spPr>
          <a:xfrm>
            <a:off x="7269480" y="2103120"/>
            <a:ext cx="1417320" cy="868680"/>
          </a:xfrm>
          <a:prstGeom prst="rect">
            <a:avLst/>
          </a:prstGeom>
          <a:noFill/>
          <a:ln/>
        </p:spPr>
        <p:txBody>
          <a:bodyPr wrap="square" lIns="0" tIns="0" rIns="0" bIns="0" rtlCol="0" anchor="t"/>
          <a:lstStyle/>
          <a:p>
            <a:pPr marL="0" indent="0" algn="ctr">
              <a:buNone/>
            </a:pPr>
            <a:r>
              <a:rPr lang="en-US" sz="1150" dirty="0">
                <a:solidFill>
                  <a:srgbClr val="2B2B2B"/>
                </a:solidFill>
                <a:latin typeface="Century Schoolbook" panose="02040604050505020304" pitchFamily="18" charset="0"/>
                <a:ea typeface="Calibri" pitchFamily="34" charset="-122"/>
                <a:cs typeface="Calibri" pitchFamily="34" charset="-120"/>
              </a:rPr>
              <a:t>5 dimensiones y 2 tablas de hechos</a:t>
            </a:r>
            <a:endParaRPr lang="en-US" sz="1150" dirty="0">
              <a:latin typeface="Century Schoolbook" panose="02040604050505020304" pitchFamily="18" charset="0"/>
            </a:endParaRPr>
          </a:p>
        </p:txBody>
      </p:sp>
      <p:sp>
        <p:nvSpPr>
          <p:cNvPr id="23" name="Shape 20"/>
          <p:cNvSpPr/>
          <p:nvPr/>
        </p:nvSpPr>
        <p:spPr>
          <a:xfrm>
            <a:off x="457200" y="3200400"/>
            <a:ext cx="4023360" cy="1417320"/>
          </a:xfrm>
          <a:prstGeom prst="roundRect">
            <a:avLst>
              <a:gd name="adj" fmla="val 7742"/>
            </a:avLst>
          </a:prstGeom>
          <a:solidFill>
            <a:srgbClr val="FADCE7"/>
          </a:solidFill>
          <a:ln w="12700">
            <a:solidFill>
              <a:srgbClr val="FADCE7"/>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4" name="Shape 21"/>
          <p:cNvSpPr/>
          <p:nvPr/>
        </p:nvSpPr>
        <p:spPr>
          <a:xfrm>
            <a:off x="640080" y="3383280"/>
            <a:ext cx="548640" cy="54864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25" name="Image 0" descr="preencoded.png"/>
          <p:cNvPicPr>
            <a:picLocks noChangeAspect="1"/>
          </p:cNvPicPr>
          <p:nvPr/>
        </p:nvPicPr>
        <p:blipFill>
          <a:blip r:embed="rId3"/>
          <a:stretch>
            <a:fillRect/>
          </a:stretch>
        </p:blipFill>
        <p:spPr>
          <a:xfrm>
            <a:off x="777240" y="3520440"/>
            <a:ext cx="274320" cy="274320"/>
          </a:xfrm>
          <a:prstGeom prst="rect">
            <a:avLst/>
          </a:prstGeom>
        </p:spPr>
      </p:pic>
      <p:sp>
        <p:nvSpPr>
          <p:cNvPr id="26" name="Text 22"/>
          <p:cNvSpPr txBox="1"/>
          <p:nvPr/>
        </p:nvSpPr>
        <p:spPr>
          <a:xfrm>
            <a:off x="1371600" y="3337560"/>
            <a:ext cx="2926080" cy="32004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Cuarentena</a:t>
            </a:r>
            <a:endParaRPr lang="en-US" sz="1600" dirty="0">
              <a:latin typeface="Century Schoolbook" panose="02040604050505020304" pitchFamily="18" charset="0"/>
            </a:endParaRPr>
          </a:p>
        </p:txBody>
      </p:sp>
      <p:sp>
        <p:nvSpPr>
          <p:cNvPr id="27" name="Text 23"/>
          <p:cNvSpPr txBox="1"/>
          <p:nvPr/>
        </p:nvSpPr>
        <p:spPr>
          <a:xfrm>
            <a:off x="1371600" y="3703320"/>
            <a:ext cx="2971800" cy="77724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Los registros inválidos no se eliminan: se guardan con el motivo del rechazo.</a:t>
            </a:r>
            <a:endParaRPr lang="en-US" sz="1200" dirty="0">
              <a:latin typeface="Century Schoolbook" panose="02040604050505020304" pitchFamily="18" charset="0"/>
            </a:endParaRPr>
          </a:p>
        </p:txBody>
      </p:sp>
      <p:sp>
        <p:nvSpPr>
          <p:cNvPr id="28" name="Shape 24"/>
          <p:cNvSpPr/>
          <p:nvPr/>
        </p:nvSpPr>
        <p:spPr>
          <a:xfrm>
            <a:off x="4663440" y="3200400"/>
            <a:ext cx="4023360" cy="1417320"/>
          </a:xfrm>
          <a:prstGeom prst="roundRect">
            <a:avLst>
              <a:gd name="adj" fmla="val 7742"/>
            </a:avLst>
          </a:prstGeom>
          <a:solidFill>
            <a:srgbClr val="CFE8D8"/>
          </a:solidFill>
          <a:ln w="12700">
            <a:solidFill>
              <a:srgbClr val="CFE8D8"/>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9" name="Shape 25"/>
          <p:cNvSpPr/>
          <p:nvPr/>
        </p:nvSpPr>
        <p:spPr>
          <a:xfrm>
            <a:off x="4846320" y="3383280"/>
            <a:ext cx="548640" cy="54864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30" name="Image 1" descr="preencoded.png"/>
          <p:cNvPicPr>
            <a:picLocks noChangeAspect="1"/>
          </p:cNvPicPr>
          <p:nvPr/>
        </p:nvPicPr>
        <p:blipFill>
          <a:blip r:embed="rId4"/>
          <a:stretch>
            <a:fillRect/>
          </a:stretch>
        </p:blipFill>
        <p:spPr>
          <a:xfrm>
            <a:off x="4983480" y="3520440"/>
            <a:ext cx="274320" cy="274320"/>
          </a:xfrm>
          <a:prstGeom prst="rect">
            <a:avLst/>
          </a:prstGeom>
        </p:spPr>
      </p:pic>
      <p:sp>
        <p:nvSpPr>
          <p:cNvPr id="31" name="Text 26"/>
          <p:cNvSpPr txBox="1"/>
          <p:nvPr/>
        </p:nvSpPr>
        <p:spPr>
          <a:xfrm>
            <a:off x="5577840" y="3337560"/>
            <a:ext cx="2926080" cy="32004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Herramientas</a:t>
            </a:r>
            <a:endParaRPr lang="en-US" sz="1600" dirty="0">
              <a:latin typeface="Century Schoolbook" panose="02040604050505020304" pitchFamily="18" charset="0"/>
            </a:endParaRPr>
          </a:p>
        </p:txBody>
      </p:sp>
      <p:sp>
        <p:nvSpPr>
          <p:cNvPr id="32" name="Text 27"/>
          <p:cNvSpPr txBox="1"/>
          <p:nvPr/>
        </p:nvSpPr>
        <p:spPr>
          <a:xfrm>
            <a:off x="5577840" y="3703320"/>
            <a:ext cx="2971800" cy="77724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Docker · Kafka · PostgreSQL · dbt · Prefect. Gold nunca consulta Bronze: todo pasa por Silver.</a:t>
            </a:r>
            <a:endParaRPr lang="en-US" sz="1200" dirty="0">
              <a:latin typeface="Century Schoolbook" panose="02040604050505020304" pitchFamily="18" charset="0"/>
            </a:endParaRPr>
          </a:p>
        </p:txBody>
      </p:sp>
      <p:sp>
        <p:nvSpPr>
          <p:cNvPr id="2"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Ingesta: tres métodos según la fuente</a:t>
            </a:r>
            <a:endParaRPr lang="en-US" sz="3200" dirty="0"/>
          </a:p>
        </p:txBody>
      </p:sp>
      <p:sp>
        <p:nvSpPr>
          <p:cNvPr id="4" name="Shape 1"/>
          <p:cNvSpPr/>
          <p:nvPr/>
        </p:nvSpPr>
        <p:spPr>
          <a:xfrm>
            <a:off x="457200" y="1188720"/>
            <a:ext cx="2560320" cy="2240280"/>
          </a:xfrm>
          <a:prstGeom prst="roundRect">
            <a:avLst>
              <a:gd name="adj" fmla="val 489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Shape 2"/>
          <p:cNvSpPr/>
          <p:nvPr/>
        </p:nvSpPr>
        <p:spPr>
          <a:xfrm>
            <a:off x="685800" y="1371600"/>
            <a:ext cx="594360" cy="59436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6" name="Image 0" descr="preencoded.png"/>
          <p:cNvPicPr>
            <a:picLocks noChangeAspect="1"/>
          </p:cNvPicPr>
          <p:nvPr/>
        </p:nvPicPr>
        <p:blipFill>
          <a:blip r:embed="rId3"/>
          <a:stretch>
            <a:fillRect/>
          </a:stretch>
        </p:blipFill>
        <p:spPr>
          <a:xfrm>
            <a:off x="834390" y="1520190"/>
            <a:ext cx="297180" cy="297180"/>
          </a:xfrm>
          <a:prstGeom prst="rect">
            <a:avLst/>
          </a:prstGeom>
        </p:spPr>
      </p:pic>
      <p:sp>
        <p:nvSpPr>
          <p:cNvPr id="7" name="Text 3"/>
          <p:cNvSpPr txBox="1"/>
          <p:nvPr/>
        </p:nvSpPr>
        <p:spPr>
          <a:xfrm>
            <a:off x="1417320" y="1371600"/>
            <a:ext cx="14630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Streaming · Kafka</a:t>
            </a:r>
            <a:endParaRPr lang="en-US" sz="1600" dirty="0">
              <a:latin typeface="Century Schoolbook" panose="02040604050505020304" pitchFamily="18" charset="0"/>
            </a:endParaRPr>
          </a:p>
        </p:txBody>
      </p:sp>
      <p:sp>
        <p:nvSpPr>
          <p:cNvPr id="8" name="Text 4"/>
          <p:cNvSpPr txBox="1"/>
          <p:nvPr/>
        </p:nvSpPr>
        <p:spPr>
          <a:xfrm>
            <a:off x="685800" y="2103120"/>
            <a:ext cx="2103120" cy="594360"/>
          </a:xfrm>
          <a:prstGeom prst="rect">
            <a:avLst/>
          </a:prstGeom>
          <a:noFill/>
          <a:ln/>
        </p:spPr>
        <p:txBody>
          <a:bodyPr wrap="square" lIns="0" tIns="0" rIns="0" bIns="0" rtlCol="0" anchor="t"/>
          <a:lstStyle/>
          <a:p>
            <a:pPr marL="0" indent="0">
              <a:buNone/>
            </a:pPr>
            <a:r>
              <a:rPr lang="en-US" sz="1250" b="1" dirty="0">
                <a:solidFill>
                  <a:srgbClr val="2B2B2B"/>
                </a:solidFill>
                <a:latin typeface="Century Schoolbook" panose="02040604050505020304" pitchFamily="18" charset="0"/>
                <a:ea typeface="Calibri" pitchFamily="34" charset="-122"/>
                <a:cs typeface="Calibri" pitchFamily="34" charset="-120"/>
              </a:rPr>
              <a:t>Validaciones de Transmetro y abordajes de Aerometro.</a:t>
            </a:r>
            <a:endParaRPr lang="en-US" sz="1250" dirty="0">
              <a:latin typeface="Century Schoolbook" panose="02040604050505020304" pitchFamily="18" charset="0"/>
            </a:endParaRPr>
          </a:p>
        </p:txBody>
      </p:sp>
      <p:sp>
        <p:nvSpPr>
          <p:cNvPr id="9" name="Text 5"/>
          <p:cNvSpPr txBox="1"/>
          <p:nvPr/>
        </p:nvSpPr>
        <p:spPr>
          <a:xfrm>
            <a:off x="685800" y="2743200"/>
            <a:ext cx="2103120" cy="594360"/>
          </a:xfrm>
          <a:prstGeom prst="rect">
            <a:avLst/>
          </a:prstGeom>
          <a:noFill/>
          <a:ln/>
        </p:spPr>
        <p:txBody>
          <a:bodyPr wrap="square" lIns="0" tIns="0" rIns="0" bIns="0" rtlCol="0" anchor="t"/>
          <a:lstStyle/>
          <a:p>
            <a:pPr marL="0" indent="0">
              <a:buNone/>
            </a:pPr>
            <a:r>
              <a:rPr lang="en-US" sz="1200" dirty="0">
                <a:solidFill>
                  <a:srgbClr val="6B6B6B"/>
                </a:solidFill>
                <a:latin typeface="Century Schoolbook" panose="02040604050505020304" pitchFamily="18" charset="0"/>
                <a:ea typeface="Calibri" pitchFamily="34" charset="-122"/>
                <a:cs typeface="Calibri" pitchFamily="34" charset="-120"/>
              </a:rPr>
              <a:t>Son eventos que llegan de forma continua.</a:t>
            </a:r>
            <a:endParaRPr lang="en-US" sz="1200" dirty="0">
              <a:latin typeface="Century Schoolbook" panose="02040604050505020304" pitchFamily="18" charset="0"/>
            </a:endParaRPr>
          </a:p>
        </p:txBody>
      </p:sp>
      <p:sp>
        <p:nvSpPr>
          <p:cNvPr id="10" name="Shape 6"/>
          <p:cNvSpPr/>
          <p:nvPr/>
        </p:nvSpPr>
        <p:spPr>
          <a:xfrm>
            <a:off x="3291840" y="1188720"/>
            <a:ext cx="2560320" cy="2240280"/>
          </a:xfrm>
          <a:prstGeom prst="roundRect">
            <a:avLst>
              <a:gd name="adj" fmla="val 489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1" name="Shape 7"/>
          <p:cNvSpPr/>
          <p:nvPr/>
        </p:nvSpPr>
        <p:spPr>
          <a:xfrm>
            <a:off x="3520440" y="1371600"/>
            <a:ext cx="594360" cy="59436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12" name="Image 1" descr="preencoded.png"/>
          <p:cNvPicPr>
            <a:picLocks noChangeAspect="1"/>
          </p:cNvPicPr>
          <p:nvPr/>
        </p:nvPicPr>
        <p:blipFill>
          <a:blip r:embed="rId4"/>
          <a:stretch>
            <a:fillRect/>
          </a:stretch>
        </p:blipFill>
        <p:spPr>
          <a:xfrm>
            <a:off x="3669030" y="1520190"/>
            <a:ext cx="297180" cy="297180"/>
          </a:xfrm>
          <a:prstGeom prst="rect">
            <a:avLst/>
          </a:prstGeom>
        </p:spPr>
      </p:pic>
      <p:sp>
        <p:nvSpPr>
          <p:cNvPr id="13" name="Text 8"/>
          <p:cNvSpPr txBox="1"/>
          <p:nvPr/>
        </p:nvSpPr>
        <p:spPr>
          <a:xfrm>
            <a:off x="4251960" y="1371600"/>
            <a:ext cx="14630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Batch</a:t>
            </a:r>
            <a:endParaRPr lang="en-US" sz="1600" dirty="0">
              <a:latin typeface="Century Schoolbook" panose="02040604050505020304" pitchFamily="18" charset="0"/>
            </a:endParaRPr>
          </a:p>
        </p:txBody>
      </p:sp>
      <p:sp>
        <p:nvSpPr>
          <p:cNvPr id="14" name="Text 9"/>
          <p:cNvSpPr txBox="1"/>
          <p:nvPr/>
        </p:nvSpPr>
        <p:spPr>
          <a:xfrm>
            <a:off x="3520440" y="2103120"/>
            <a:ext cx="2254718" cy="594360"/>
          </a:xfrm>
          <a:prstGeom prst="rect">
            <a:avLst/>
          </a:prstGeom>
          <a:noFill/>
          <a:ln/>
        </p:spPr>
        <p:txBody>
          <a:bodyPr wrap="square" lIns="0" tIns="0" rIns="0" bIns="0" rtlCol="0" anchor="t"/>
          <a:lstStyle/>
          <a:p>
            <a:pPr marL="0" indent="0">
              <a:buNone/>
            </a:pPr>
            <a:r>
              <a:rPr lang="en-US" sz="1250" b="1" dirty="0">
                <a:solidFill>
                  <a:srgbClr val="2B2B2B"/>
                </a:solidFill>
                <a:latin typeface="Century Schoolbook" panose="02040604050505020304" pitchFamily="18" charset="0"/>
                <a:ea typeface="Calibri" pitchFamily="34" charset="-122"/>
                <a:cs typeface="Calibri" pitchFamily="34" charset="-120"/>
              </a:rPr>
              <a:t>Catálogos, viajes de MetroRiel y transacciones de Transurbano.</a:t>
            </a:r>
            <a:endParaRPr lang="en-US" sz="1250" dirty="0">
              <a:latin typeface="Century Schoolbook" panose="02040604050505020304" pitchFamily="18" charset="0"/>
            </a:endParaRPr>
          </a:p>
        </p:txBody>
      </p:sp>
      <p:sp>
        <p:nvSpPr>
          <p:cNvPr id="15" name="Text 10"/>
          <p:cNvSpPr txBox="1"/>
          <p:nvPr/>
        </p:nvSpPr>
        <p:spPr>
          <a:xfrm>
            <a:off x="3520440" y="2743200"/>
            <a:ext cx="2103120" cy="594360"/>
          </a:xfrm>
          <a:prstGeom prst="rect">
            <a:avLst/>
          </a:prstGeom>
          <a:noFill/>
          <a:ln/>
        </p:spPr>
        <p:txBody>
          <a:bodyPr wrap="square" lIns="0" tIns="0" rIns="0" bIns="0" rtlCol="0" anchor="t"/>
          <a:lstStyle/>
          <a:p>
            <a:pPr marL="0" indent="0">
              <a:buNone/>
            </a:pPr>
            <a:r>
              <a:rPr lang="en-US" sz="1200" dirty="0">
                <a:solidFill>
                  <a:srgbClr val="6B6B6B"/>
                </a:solidFill>
                <a:latin typeface="Century Schoolbook" panose="02040604050505020304" pitchFamily="18" charset="0"/>
                <a:ea typeface="Calibri" pitchFamily="34" charset="-122"/>
                <a:cs typeface="Calibri" pitchFamily="34" charset="-120"/>
              </a:rPr>
              <a:t>Llegan como archivos completos; la carga es reproducible.</a:t>
            </a:r>
            <a:endParaRPr lang="en-US" sz="1200" dirty="0">
              <a:latin typeface="Century Schoolbook" panose="02040604050505020304" pitchFamily="18" charset="0"/>
            </a:endParaRPr>
          </a:p>
        </p:txBody>
      </p:sp>
      <p:sp>
        <p:nvSpPr>
          <p:cNvPr id="16" name="Shape 11"/>
          <p:cNvSpPr/>
          <p:nvPr/>
        </p:nvSpPr>
        <p:spPr>
          <a:xfrm>
            <a:off x="6126480" y="1188720"/>
            <a:ext cx="2560320" cy="2240280"/>
          </a:xfrm>
          <a:prstGeom prst="roundRect">
            <a:avLst>
              <a:gd name="adj" fmla="val 4898"/>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7" name="Shape 12"/>
          <p:cNvSpPr/>
          <p:nvPr/>
        </p:nvSpPr>
        <p:spPr>
          <a:xfrm>
            <a:off x="6355080" y="1371600"/>
            <a:ext cx="594360" cy="59436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18" name="Image 2" descr="preencoded.png"/>
          <p:cNvPicPr>
            <a:picLocks noChangeAspect="1"/>
          </p:cNvPicPr>
          <p:nvPr/>
        </p:nvPicPr>
        <p:blipFill>
          <a:blip r:embed="rId5"/>
          <a:stretch>
            <a:fillRect/>
          </a:stretch>
        </p:blipFill>
        <p:spPr>
          <a:xfrm>
            <a:off x="6503670" y="1520190"/>
            <a:ext cx="297180" cy="297180"/>
          </a:xfrm>
          <a:prstGeom prst="rect">
            <a:avLst/>
          </a:prstGeom>
        </p:spPr>
      </p:pic>
      <p:sp>
        <p:nvSpPr>
          <p:cNvPr id="19" name="Text 13"/>
          <p:cNvSpPr txBox="1"/>
          <p:nvPr/>
        </p:nvSpPr>
        <p:spPr>
          <a:xfrm>
            <a:off x="7086600" y="1371600"/>
            <a:ext cx="14630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CDC</a:t>
            </a:r>
            <a:endParaRPr lang="en-US" sz="1600" dirty="0">
              <a:latin typeface="Century Schoolbook" panose="02040604050505020304" pitchFamily="18" charset="0"/>
            </a:endParaRPr>
          </a:p>
        </p:txBody>
      </p:sp>
      <p:sp>
        <p:nvSpPr>
          <p:cNvPr id="20" name="Text 14"/>
          <p:cNvSpPr txBox="1"/>
          <p:nvPr/>
        </p:nvSpPr>
        <p:spPr>
          <a:xfrm>
            <a:off x="6355080" y="2103120"/>
            <a:ext cx="2103120" cy="594360"/>
          </a:xfrm>
          <a:prstGeom prst="rect">
            <a:avLst/>
          </a:prstGeom>
          <a:noFill/>
          <a:ln/>
        </p:spPr>
        <p:txBody>
          <a:bodyPr wrap="square" lIns="0" tIns="0" rIns="0" bIns="0" rtlCol="0" anchor="t"/>
          <a:lstStyle/>
          <a:p>
            <a:pPr marL="0" indent="0">
              <a:buNone/>
            </a:pPr>
            <a:r>
              <a:rPr lang="en-US" sz="1250" b="1" dirty="0">
                <a:solidFill>
                  <a:srgbClr val="2B2B2B"/>
                </a:solidFill>
                <a:latin typeface="Century Schoolbook" panose="02040604050505020304" pitchFamily="18" charset="0"/>
                <a:ea typeface="Calibri" pitchFamily="34" charset="-122"/>
                <a:cs typeface="Calibri" pitchFamily="34" charset="-120"/>
              </a:rPr>
              <a:t>Padrón de usuarios de Transmetro.</a:t>
            </a:r>
            <a:endParaRPr lang="en-US" sz="1250" dirty="0">
              <a:latin typeface="Century Schoolbook" panose="02040604050505020304" pitchFamily="18" charset="0"/>
            </a:endParaRPr>
          </a:p>
        </p:txBody>
      </p:sp>
      <p:sp>
        <p:nvSpPr>
          <p:cNvPr id="21" name="Text 15"/>
          <p:cNvSpPr txBox="1"/>
          <p:nvPr/>
        </p:nvSpPr>
        <p:spPr>
          <a:xfrm>
            <a:off x="6355080" y="2743200"/>
            <a:ext cx="2103120" cy="594360"/>
          </a:xfrm>
          <a:prstGeom prst="rect">
            <a:avLst/>
          </a:prstGeom>
          <a:noFill/>
          <a:ln/>
        </p:spPr>
        <p:txBody>
          <a:bodyPr wrap="square" lIns="0" tIns="0" rIns="0" bIns="0" rtlCol="0" anchor="t"/>
          <a:lstStyle/>
          <a:p>
            <a:pPr marL="0" indent="0">
              <a:buNone/>
            </a:pPr>
            <a:r>
              <a:rPr lang="en-US" sz="1200" dirty="0">
                <a:solidFill>
                  <a:srgbClr val="6B6B6B"/>
                </a:solidFill>
                <a:latin typeface="Century Schoolbook" panose="02040604050505020304" pitchFamily="18" charset="0"/>
                <a:ea typeface="Calibri" pitchFamily="34" charset="-122"/>
                <a:cs typeface="Calibri" pitchFamily="34" charset="-120"/>
              </a:rPr>
              <a:t>Contiene inserciones, actualizaciones y eliminaciones.</a:t>
            </a:r>
            <a:endParaRPr lang="en-US" sz="1200" dirty="0">
              <a:latin typeface="Century Schoolbook" panose="02040604050505020304" pitchFamily="18" charset="0"/>
            </a:endParaRPr>
          </a:p>
        </p:txBody>
      </p:sp>
      <p:sp>
        <p:nvSpPr>
          <p:cNvPr id="22" name="Shape 16"/>
          <p:cNvSpPr/>
          <p:nvPr/>
        </p:nvSpPr>
        <p:spPr>
          <a:xfrm>
            <a:off x="457200" y="3657600"/>
            <a:ext cx="8229600" cy="960120"/>
          </a:xfrm>
          <a:prstGeom prst="roundRect">
            <a:avLst>
              <a:gd name="adj" fmla="val 11429"/>
            </a:avLst>
          </a:prstGeom>
          <a:solidFill>
            <a:srgbClr val="24483A"/>
          </a:solidFill>
          <a:ln w="12700">
            <a:solidFill>
              <a:srgbClr val="24483A"/>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3" name="Text 17"/>
          <p:cNvSpPr txBox="1"/>
          <p:nvPr/>
        </p:nvSpPr>
        <p:spPr>
          <a:xfrm>
            <a:off x="731520" y="3703320"/>
            <a:ext cx="2103120" cy="868680"/>
          </a:xfrm>
          <a:prstGeom prst="rect">
            <a:avLst/>
          </a:prstGeom>
          <a:noFill/>
          <a:ln/>
        </p:spPr>
        <p:txBody>
          <a:bodyPr wrap="square" lIns="0" tIns="0" rIns="0" bIns="0" rtlCol="0" anchor="ctr"/>
          <a:lstStyle/>
          <a:p>
            <a:pPr marL="0" indent="0">
              <a:buNone/>
            </a:pPr>
            <a:r>
              <a:rPr lang="en-US" sz="3800" b="1" dirty="0">
                <a:solidFill>
                  <a:srgbClr val="FADCE7"/>
                </a:solidFill>
                <a:latin typeface="Century Schoolbook" panose="02040604050505020304" pitchFamily="18" charset="0"/>
                <a:ea typeface="Cambria" pitchFamily="34" charset="-122"/>
                <a:cs typeface="Cambria" pitchFamily="34" charset="-120"/>
              </a:rPr>
              <a:t>67 MB</a:t>
            </a:r>
            <a:endParaRPr lang="en-US" sz="3800" dirty="0">
              <a:latin typeface="Century Schoolbook" panose="02040604050505020304" pitchFamily="18" charset="0"/>
            </a:endParaRPr>
          </a:p>
        </p:txBody>
      </p:sp>
      <p:sp>
        <p:nvSpPr>
          <p:cNvPr id="24" name="Text 18"/>
          <p:cNvSpPr txBox="1"/>
          <p:nvPr/>
        </p:nvSpPr>
        <p:spPr>
          <a:xfrm>
            <a:off x="2926080" y="3703320"/>
            <a:ext cx="5486400" cy="868680"/>
          </a:xfrm>
          <a:prstGeom prst="rect">
            <a:avLst/>
          </a:prstGeom>
          <a:noFill/>
          <a:ln/>
        </p:spPr>
        <p:txBody>
          <a:bodyPr wrap="square" lIns="0" tIns="0" rIns="0" bIns="0" rtlCol="0" anchor="ctr"/>
          <a:lstStyle/>
          <a:p>
            <a:pPr marL="0" indent="0">
              <a:buNone/>
            </a:pPr>
            <a:r>
              <a:rPr lang="en-US" sz="1250" b="1" dirty="0">
                <a:solidFill>
                  <a:srgbClr val="FFFFFF"/>
                </a:solidFill>
                <a:latin typeface="Century Schoolbook" panose="02040604050505020304" pitchFamily="18" charset="0"/>
                <a:ea typeface="Calibri" pitchFamily="34" charset="-122"/>
                <a:cs typeface="Calibri" pitchFamily="34" charset="-120"/>
              </a:rPr>
              <a:t>Bronze en Parquet</a:t>
            </a:r>
            <a:endParaRPr lang="en-US" sz="1250" dirty="0">
              <a:latin typeface="Century Schoolbook" panose="02040604050505020304" pitchFamily="18" charset="0"/>
            </a:endParaRPr>
          </a:p>
          <a:p>
            <a:pPr marL="0" indent="0">
              <a:buNone/>
            </a:pPr>
            <a:r>
              <a:rPr lang="en-US" sz="1250" dirty="0">
                <a:solidFill>
                  <a:srgbClr val="FFFFFF"/>
                </a:solidFill>
                <a:latin typeface="Century Schoolbook" panose="02040604050505020304" pitchFamily="18" charset="0"/>
                <a:ea typeface="Calibri" pitchFamily="34" charset="-122"/>
                <a:cs typeface="Calibri" pitchFamily="34" charset="-120"/>
              </a:rPr>
              <a:t>Lake local con particiones por fecha. Conserva los datos tal como llegaron, comprime y permite reprocesar sin tocar la fuente.</a:t>
            </a:r>
            <a:endParaRPr lang="en-US" sz="125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Procesamiento CDC del padrón</a:t>
            </a:r>
            <a:endParaRPr lang="en-US" sz="3200" dirty="0"/>
          </a:p>
        </p:txBody>
      </p:sp>
      <p:sp>
        <p:nvSpPr>
          <p:cNvPr id="4" name="Shape 1"/>
          <p:cNvSpPr/>
          <p:nvPr/>
        </p:nvSpPr>
        <p:spPr>
          <a:xfrm>
            <a:off x="457200" y="1188720"/>
            <a:ext cx="4023360" cy="3429000"/>
          </a:xfrm>
          <a:prstGeom prst="roundRect">
            <a:avLst>
              <a:gd name="adj" fmla="val 32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Text 2"/>
          <p:cNvSpPr txBox="1"/>
          <p:nvPr/>
        </p:nvSpPr>
        <p:spPr>
          <a:xfrm>
            <a:off x="640080" y="1280160"/>
            <a:ext cx="3657600" cy="3657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31,050 operaciones</a:t>
            </a:r>
            <a:endParaRPr lang="en-US" sz="1600" dirty="0">
              <a:latin typeface="Century Schoolbook" panose="02040604050505020304" pitchFamily="18" charset="0"/>
            </a:endParaRPr>
          </a:p>
        </p:txBody>
      </p:sp>
      <p:graphicFrame>
        <p:nvGraphicFramePr>
          <p:cNvPr id="6" name="Chart 0"/>
          <p:cNvGraphicFramePr/>
          <p:nvPr>
            <p:extLst>
              <p:ext uri="{D42A27DB-BD31-4B8C-83A1-F6EECF244321}">
                <p14:modId xmlns:p14="http://schemas.microsoft.com/office/powerpoint/2010/main" val="1536072060"/>
              </p:ext>
            </p:extLst>
          </p:nvPr>
        </p:nvGraphicFramePr>
        <p:xfrm>
          <a:off x="548640" y="1645920"/>
          <a:ext cx="3840480" cy="288036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4754880" y="1188720"/>
            <a:ext cx="3931920" cy="1600200"/>
          </a:xfrm>
          <a:prstGeom prst="roundRect">
            <a:avLst>
              <a:gd name="adj" fmla="val 6857"/>
            </a:avLst>
          </a:prstGeom>
          <a:solidFill>
            <a:srgbClr val="FADCE7"/>
          </a:solidFill>
          <a:ln w="12700">
            <a:solidFill>
              <a:srgbClr val="FADCE7"/>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8" name="Text 4"/>
          <p:cNvSpPr txBox="1"/>
          <p:nvPr/>
        </p:nvSpPr>
        <p:spPr>
          <a:xfrm>
            <a:off x="4937760" y="1280160"/>
            <a:ext cx="1828800" cy="731520"/>
          </a:xfrm>
          <a:prstGeom prst="rect">
            <a:avLst/>
          </a:prstGeom>
          <a:noFill/>
          <a:ln/>
        </p:spPr>
        <p:txBody>
          <a:bodyPr wrap="square" lIns="0" tIns="0" rIns="0" bIns="0" rtlCol="0" anchor="ctr"/>
          <a:lstStyle/>
          <a:p>
            <a:pPr marL="0" indent="0">
              <a:buNone/>
            </a:pPr>
            <a:r>
              <a:rPr lang="en-US" sz="3600" b="1" dirty="0">
                <a:solidFill>
                  <a:srgbClr val="D94F86"/>
                </a:solidFill>
                <a:latin typeface="Century Schoolbook" panose="02040604050505020304" pitchFamily="18" charset="0"/>
                <a:ea typeface="Cambria" pitchFamily="34" charset="-122"/>
                <a:cs typeface="Cambria" pitchFamily="34" charset="-120"/>
              </a:rPr>
              <a:t>17,432</a:t>
            </a:r>
            <a:endParaRPr lang="en-US" sz="3600" dirty="0">
              <a:latin typeface="Century Schoolbook" panose="02040604050505020304" pitchFamily="18" charset="0"/>
            </a:endParaRPr>
          </a:p>
        </p:txBody>
      </p:sp>
      <p:sp>
        <p:nvSpPr>
          <p:cNvPr id="9" name="Text 5"/>
          <p:cNvSpPr txBox="1"/>
          <p:nvPr/>
        </p:nvSpPr>
        <p:spPr>
          <a:xfrm>
            <a:off x="4937760" y="2011680"/>
            <a:ext cx="3566160" cy="274320"/>
          </a:xfrm>
          <a:prstGeom prst="rect">
            <a:avLst/>
          </a:prstGeom>
          <a:noFill/>
          <a:ln/>
        </p:spPr>
        <p:txBody>
          <a:bodyPr wrap="square" lIns="0" tIns="0" rIns="0" bIns="0" rtlCol="0" anchor="ctr"/>
          <a:lstStyle/>
          <a:p>
            <a:pPr marL="0" indent="0">
              <a:buNone/>
            </a:pPr>
            <a:r>
              <a:rPr lang="en-US" sz="1200" dirty="0">
                <a:solidFill>
                  <a:srgbClr val="6B6B6B"/>
                </a:solidFill>
                <a:latin typeface="Century Schoolbook" panose="02040604050505020304" pitchFamily="18" charset="0"/>
                <a:ea typeface="Calibri" pitchFamily="34" charset="-122"/>
                <a:cs typeface="Calibri" pitchFamily="34" charset="-120"/>
              </a:rPr>
              <a:t>tarjetas en el padrón vigente</a:t>
            </a:r>
            <a:endParaRPr lang="en-US" sz="1200" dirty="0">
              <a:latin typeface="Century Schoolbook" panose="02040604050505020304" pitchFamily="18" charset="0"/>
            </a:endParaRPr>
          </a:p>
        </p:txBody>
      </p:sp>
      <p:sp>
        <p:nvSpPr>
          <p:cNvPr id="10" name="Text 6"/>
          <p:cNvSpPr txBox="1"/>
          <p:nvPr/>
        </p:nvSpPr>
        <p:spPr>
          <a:xfrm>
            <a:off x="4937760" y="2331720"/>
            <a:ext cx="3566160" cy="320040"/>
          </a:xfrm>
          <a:prstGeom prst="rect">
            <a:avLst/>
          </a:prstGeom>
          <a:noFill/>
          <a:ln/>
        </p:spPr>
        <p:txBody>
          <a:bodyPr wrap="square" lIns="0" tIns="0" rIns="0" bIns="0" rtlCol="0" anchor="ctr"/>
          <a:lstStyle/>
          <a:p>
            <a:pPr marL="0" indent="0">
              <a:buNone/>
            </a:pPr>
            <a:r>
              <a:rPr lang="en-US" sz="1400" b="1" dirty="0">
                <a:solidFill>
                  <a:srgbClr val="3E8E6B"/>
                </a:solidFill>
                <a:latin typeface="Century Schoolbook" panose="02040604050505020304" pitchFamily="18" charset="0"/>
                <a:ea typeface="Calibri" pitchFamily="34" charset="-122"/>
                <a:cs typeface="Calibri" pitchFamily="34" charset="-120"/>
              </a:rPr>
              <a:t>15,096 activas</a:t>
            </a:r>
            <a:r>
              <a:rPr lang="en-US" sz="1400" dirty="0">
                <a:solidFill>
                  <a:srgbClr val="6B6B6B"/>
                </a:solidFill>
                <a:latin typeface="Century Schoolbook" panose="02040604050505020304" pitchFamily="18" charset="0"/>
                <a:ea typeface="Calibri" pitchFamily="34" charset="-122"/>
                <a:cs typeface="Calibri" pitchFamily="34" charset="-120"/>
              </a:rPr>
              <a:t>  ·  </a:t>
            </a:r>
            <a:r>
              <a:rPr lang="en-US" sz="1400" b="1" dirty="0">
                <a:solidFill>
                  <a:srgbClr val="D94F86"/>
                </a:solidFill>
                <a:latin typeface="Century Schoolbook" panose="02040604050505020304" pitchFamily="18" charset="0"/>
                <a:ea typeface="Calibri" pitchFamily="34" charset="-122"/>
                <a:cs typeface="Calibri" pitchFamily="34" charset="-120"/>
              </a:rPr>
              <a:t>2,336 inactivas</a:t>
            </a:r>
            <a:endParaRPr lang="en-US" sz="1400" dirty="0">
              <a:latin typeface="Century Schoolbook" panose="02040604050505020304" pitchFamily="18" charset="0"/>
            </a:endParaRPr>
          </a:p>
        </p:txBody>
      </p:sp>
      <p:sp>
        <p:nvSpPr>
          <p:cNvPr id="11" name="Shape 7"/>
          <p:cNvSpPr/>
          <p:nvPr/>
        </p:nvSpPr>
        <p:spPr>
          <a:xfrm>
            <a:off x="4754880" y="3017520"/>
            <a:ext cx="3931920" cy="1600200"/>
          </a:xfrm>
          <a:prstGeom prst="roundRect">
            <a:avLst>
              <a:gd name="adj" fmla="val 6857"/>
            </a:avLst>
          </a:prstGeom>
          <a:solidFill>
            <a:srgbClr val="CFE8D8"/>
          </a:solidFill>
          <a:ln w="12700">
            <a:solidFill>
              <a:srgbClr val="CFE8D8"/>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2" name="Shape 8"/>
          <p:cNvSpPr/>
          <p:nvPr/>
        </p:nvSpPr>
        <p:spPr>
          <a:xfrm>
            <a:off x="4937760" y="3200400"/>
            <a:ext cx="548640" cy="54864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13" name="Image 0" descr="preencoded.png"/>
          <p:cNvPicPr>
            <a:picLocks noChangeAspect="1"/>
          </p:cNvPicPr>
          <p:nvPr/>
        </p:nvPicPr>
        <p:blipFill>
          <a:blip r:embed="rId4"/>
          <a:stretch>
            <a:fillRect/>
          </a:stretch>
        </p:blipFill>
        <p:spPr>
          <a:xfrm>
            <a:off x="5074920" y="3337560"/>
            <a:ext cx="274320" cy="274320"/>
          </a:xfrm>
          <a:prstGeom prst="rect">
            <a:avLst/>
          </a:prstGeom>
        </p:spPr>
      </p:pic>
      <p:sp>
        <p:nvSpPr>
          <p:cNvPr id="14" name="Text 9"/>
          <p:cNvSpPr txBox="1"/>
          <p:nvPr/>
        </p:nvSpPr>
        <p:spPr>
          <a:xfrm>
            <a:off x="5669280" y="3200400"/>
            <a:ext cx="2834640" cy="54864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Borrado lógico</a:t>
            </a:r>
            <a:endParaRPr lang="en-US" sz="1600" dirty="0">
              <a:latin typeface="Century Schoolbook" panose="02040604050505020304" pitchFamily="18" charset="0"/>
            </a:endParaRPr>
          </a:p>
        </p:txBody>
      </p:sp>
      <p:sp>
        <p:nvSpPr>
          <p:cNvPr id="15" name="Text 10"/>
          <p:cNvSpPr txBox="1"/>
          <p:nvPr/>
        </p:nvSpPr>
        <p:spPr>
          <a:xfrm>
            <a:off x="4937760" y="3794760"/>
            <a:ext cx="3566160" cy="73152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DELETE marca la tarjeta como inactiva. No se borra físicamente para conservar el historial de viajes.</a:t>
            </a:r>
            <a:endParaRPr lang="en-US" sz="120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Silver: integración y calidad</a:t>
            </a:r>
            <a:endParaRPr lang="en-US" sz="3200" dirty="0"/>
          </a:p>
        </p:txBody>
      </p:sp>
      <p:sp>
        <p:nvSpPr>
          <p:cNvPr id="4" name="Shape 1"/>
          <p:cNvSpPr/>
          <p:nvPr/>
        </p:nvSpPr>
        <p:spPr>
          <a:xfrm>
            <a:off x="457200" y="1188720"/>
            <a:ext cx="4023360" cy="1645920"/>
          </a:xfrm>
          <a:prstGeom prst="roundRect">
            <a:avLst>
              <a:gd name="adj" fmla="val 6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Shape 2"/>
          <p:cNvSpPr/>
          <p:nvPr/>
        </p:nvSpPr>
        <p:spPr>
          <a:xfrm>
            <a:off x="685800" y="1417320"/>
            <a:ext cx="594360" cy="59436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6" name="Image 0" descr="preencoded.png"/>
          <p:cNvPicPr>
            <a:picLocks noChangeAspect="1"/>
          </p:cNvPicPr>
          <p:nvPr/>
        </p:nvPicPr>
        <p:blipFill>
          <a:blip r:embed="rId3"/>
          <a:stretch>
            <a:fillRect/>
          </a:stretch>
        </p:blipFill>
        <p:spPr>
          <a:xfrm>
            <a:off x="834390" y="1565910"/>
            <a:ext cx="297180" cy="297180"/>
          </a:xfrm>
          <a:prstGeom prst="rect">
            <a:avLst/>
          </a:prstGeom>
        </p:spPr>
      </p:pic>
      <p:sp>
        <p:nvSpPr>
          <p:cNvPr id="7" name="Text 3"/>
          <p:cNvSpPr txBox="1"/>
          <p:nvPr/>
        </p:nvSpPr>
        <p:spPr>
          <a:xfrm>
            <a:off x="1463040" y="1417320"/>
            <a:ext cx="28346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Formatos unificados</a:t>
            </a:r>
            <a:endParaRPr lang="en-US" sz="1600" dirty="0">
              <a:latin typeface="Century Schoolbook" panose="02040604050505020304" pitchFamily="18" charset="0"/>
            </a:endParaRPr>
          </a:p>
        </p:txBody>
      </p:sp>
      <p:sp>
        <p:nvSpPr>
          <p:cNvPr id="8" name="Text 4"/>
          <p:cNvSpPr txBox="1"/>
          <p:nvPr/>
        </p:nvSpPr>
        <p:spPr>
          <a:xfrm>
            <a:off x="685800" y="2103120"/>
            <a:ext cx="3566160" cy="64008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Hora UTC de Aerometro a hora de Guatemala. Centavos de Transurbano a quetzales. Espacios e identificadores limpios.</a:t>
            </a:r>
            <a:endParaRPr lang="en-US" sz="1200" dirty="0">
              <a:latin typeface="Century Schoolbook" panose="02040604050505020304" pitchFamily="18" charset="0"/>
            </a:endParaRPr>
          </a:p>
        </p:txBody>
      </p:sp>
      <p:sp>
        <p:nvSpPr>
          <p:cNvPr id="9" name="Shape 5"/>
          <p:cNvSpPr/>
          <p:nvPr/>
        </p:nvSpPr>
        <p:spPr>
          <a:xfrm>
            <a:off x="4663440" y="1188720"/>
            <a:ext cx="4023360" cy="1645920"/>
          </a:xfrm>
          <a:prstGeom prst="roundRect">
            <a:avLst>
              <a:gd name="adj" fmla="val 6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0" name="Shape 6"/>
          <p:cNvSpPr/>
          <p:nvPr/>
        </p:nvSpPr>
        <p:spPr>
          <a:xfrm>
            <a:off x="4892040" y="1417320"/>
            <a:ext cx="594360" cy="59436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11" name="Image 1" descr="preencoded.png"/>
          <p:cNvPicPr>
            <a:picLocks noChangeAspect="1"/>
          </p:cNvPicPr>
          <p:nvPr/>
        </p:nvPicPr>
        <p:blipFill>
          <a:blip r:embed="rId4"/>
          <a:stretch>
            <a:fillRect/>
          </a:stretch>
        </p:blipFill>
        <p:spPr>
          <a:xfrm>
            <a:off x="5040630" y="1565910"/>
            <a:ext cx="297180" cy="297180"/>
          </a:xfrm>
          <a:prstGeom prst="rect">
            <a:avLst/>
          </a:prstGeom>
        </p:spPr>
      </p:pic>
      <p:sp>
        <p:nvSpPr>
          <p:cNvPr id="12" name="Text 7"/>
          <p:cNvSpPr txBox="1"/>
          <p:nvPr/>
        </p:nvSpPr>
        <p:spPr>
          <a:xfrm>
            <a:off x="5669280" y="1417320"/>
            <a:ext cx="28346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Zonas conformadas</a:t>
            </a:r>
            <a:endParaRPr lang="en-US" sz="1600" dirty="0">
              <a:latin typeface="Century Schoolbook" panose="02040604050505020304" pitchFamily="18" charset="0"/>
            </a:endParaRPr>
          </a:p>
        </p:txBody>
      </p:sp>
      <p:sp>
        <p:nvSpPr>
          <p:cNvPr id="13" name="Text 8"/>
          <p:cNvSpPr txBox="1"/>
          <p:nvPr/>
        </p:nvSpPr>
        <p:spPr>
          <a:xfrm>
            <a:off x="4892040" y="2103120"/>
            <a:ext cx="3566160" cy="64008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Z10, Zona 10 y el campo district se interpretan como la misma llave de zona.</a:t>
            </a:r>
            <a:endParaRPr lang="en-US" sz="1200" dirty="0">
              <a:latin typeface="Century Schoolbook" panose="02040604050505020304" pitchFamily="18" charset="0"/>
            </a:endParaRPr>
          </a:p>
        </p:txBody>
      </p:sp>
      <p:sp>
        <p:nvSpPr>
          <p:cNvPr id="14" name="Shape 9"/>
          <p:cNvSpPr/>
          <p:nvPr/>
        </p:nvSpPr>
        <p:spPr>
          <a:xfrm>
            <a:off x="457200" y="3017520"/>
            <a:ext cx="4023360" cy="1645920"/>
          </a:xfrm>
          <a:prstGeom prst="roundRect">
            <a:avLst>
              <a:gd name="adj" fmla="val 6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5" name="Shape 10"/>
          <p:cNvSpPr/>
          <p:nvPr/>
        </p:nvSpPr>
        <p:spPr>
          <a:xfrm>
            <a:off x="685800" y="3246120"/>
            <a:ext cx="594360" cy="59436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16" name="Image 2" descr="preencoded.png"/>
          <p:cNvPicPr>
            <a:picLocks noChangeAspect="1"/>
          </p:cNvPicPr>
          <p:nvPr/>
        </p:nvPicPr>
        <p:blipFill>
          <a:blip r:embed="rId5"/>
          <a:stretch>
            <a:fillRect/>
          </a:stretch>
        </p:blipFill>
        <p:spPr>
          <a:xfrm>
            <a:off x="834390" y="3394710"/>
            <a:ext cx="297180" cy="297180"/>
          </a:xfrm>
          <a:prstGeom prst="rect">
            <a:avLst/>
          </a:prstGeom>
        </p:spPr>
      </p:pic>
      <p:sp>
        <p:nvSpPr>
          <p:cNvPr id="17" name="Text 11"/>
          <p:cNvSpPr txBox="1"/>
          <p:nvPr/>
        </p:nvSpPr>
        <p:spPr>
          <a:xfrm>
            <a:off x="1463040" y="3246120"/>
            <a:ext cx="28346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Identidad del usuario</a:t>
            </a:r>
            <a:endParaRPr lang="en-US" sz="1600" dirty="0">
              <a:latin typeface="Century Schoolbook" panose="02040604050505020304" pitchFamily="18" charset="0"/>
            </a:endParaRPr>
          </a:p>
        </p:txBody>
      </p:sp>
      <p:sp>
        <p:nvSpPr>
          <p:cNvPr id="18" name="Text 12"/>
          <p:cNvSpPr txBox="1"/>
          <p:nvPr/>
        </p:nvSpPr>
        <p:spPr>
          <a:xfrm>
            <a:off x="685800" y="3931920"/>
            <a:ext cx="3566160" cy="64008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Llave sustituta seudonimizada con hash determinístico. Limitación: lo multimodal es una aproximación.</a:t>
            </a:r>
            <a:endParaRPr lang="en-US" sz="1200" dirty="0">
              <a:latin typeface="Century Schoolbook" panose="02040604050505020304" pitchFamily="18" charset="0"/>
            </a:endParaRPr>
          </a:p>
        </p:txBody>
      </p:sp>
      <p:sp>
        <p:nvSpPr>
          <p:cNvPr id="19" name="Shape 13"/>
          <p:cNvSpPr/>
          <p:nvPr/>
        </p:nvSpPr>
        <p:spPr>
          <a:xfrm>
            <a:off x="4663440" y="3017520"/>
            <a:ext cx="4023360" cy="1645920"/>
          </a:xfrm>
          <a:prstGeom prst="roundRect">
            <a:avLst>
              <a:gd name="adj" fmla="val 666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0" name="Shape 14"/>
          <p:cNvSpPr/>
          <p:nvPr/>
        </p:nvSpPr>
        <p:spPr>
          <a:xfrm>
            <a:off x="4892040" y="3246120"/>
            <a:ext cx="594360" cy="59436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21" name="Image 3" descr="preencoded.png"/>
          <p:cNvPicPr>
            <a:picLocks noChangeAspect="1"/>
          </p:cNvPicPr>
          <p:nvPr/>
        </p:nvPicPr>
        <p:blipFill>
          <a:blip r:embed="rId6"/>
          <a:stretch>
            <a:fillRect/>
          </a:stretch>
        </p:blipFill>
        <p:spPr>
          <a:xfrm>
            <a:off x="5040630" y="3394710"/>
            <a:ext cx="297180" cy="297180"/>
          </a:xfrm>
          <a:prstGeom prst="rect">
            <a:avLst/>
          </a:prstGeom>
        </p:spPr>
      </p:pic>
      <p:sp>
        <p:nvSpPr>
          <p:cNvPr id="22" name="Text 15"/>
          <p:cNvSpPr txBox="1"/>
          <p:nvPr/>
        </p:nvSpPr>
        <p:spPr>
          <a:xfrm>
            <a:off x="5669280" y="3246120"/>
            <a:ext cx="2834640" cy="5943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Historización SCD Tipo 2</a:t>
            </a:r>
            <a:endParaRPr lang="en-US" sz="1600" dirty="0">
              <a:latin typeface="Century Schoolbook" panose="02040604050505020304" pitchFamily="18" charset="0"/>
            </a:endParaRPr>
          </a:p>
        </p:txBody>
      </p:sp>
      <p:sp>
        <p:nvSpPr>
          <p:cNvPr id="23" name="Text 16"/>
          <p:cNvSpPr txBox="1"/>
          <p:nvPr/>
        </p:nvSpPr>
        <p:spPr>
          <a:xfrm>
            <a:off x="4892040" y="3931920"/>
            <a:ext cx="3566160" cy="64008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Cada cambio genera una versión con periodo de vigencia e indicador de registro actual.</a:t>
            </a:r>
            <a:endParaRPr lang="en-US" sz="120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Calidad: cuarentena, no eliminación</a:t>
            </a:r>
            <a:endParaRPr lang="en-US" sz="3200" dirty="0"/>
          </a:p>
        </p:txBody>
      </p:sp>
      <p:sp>
        <p:nvSpPr>
          <p:cNvPr id="4" name="Shape 1"/>
          <p:cNvSpPr/>
          <p:nvPr/>
        </p:nvSpPr>
        <p:spPr>
          <a:xfrm>
            <a:off x="457200" y="1188720"/>
            <a:ext cx="3840480" cy="1463040"/>
          </a:xfrm>
          <a:prstGeom prst="roundRect">
            <a:avLst>
              <a:gd name="adj" fmla="val 7500"/>
            </a:avLst>
          </a:prstGeom>
          <a:solidFill>
            <a:srgbClr val="24483A"/>
          </a:solidFill>
          <a:ln w="12700">
            <a:solidFill>
              <a:srgbClr val="24483A"/>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Text 2"/>
          <p:cNvSpPr txBox="1"/>
          <p:nvPr/>
        </p:nvSpPr>
        <p:spPr>
          <a:xfrm>
            <a:off x="640080" y="1280160"/>
            <a:ext cx="3474720" cy="822960"/>
          </a:xfrm>
          <a:prstGeom prst="rect">
            <a:avLst/>
          </a:prstGeom>
          <a:noFill/>
          <a:ln/>
        </p:spPr>
        <p:txBody>
          <a:bodyPr wrap="square" lIns="0" tIns="0" rIns="0" bIns="0" rtlCol="0" anchor="ctr"/>
          <a:lstStyle/>
          <a:p>
            <a:pPr marL="0" indent="0">
              <a:buNone/>
            </a:pPr>
            <a:r>
              <a:rPr lang="en-US" sz="4400" b="1" dirty="0">
                <a:solidFill>
                  <a:srgbClr val="FADCE7"/>
                </a:solidFill>
                <a:latin typeface="Century Schoolbook" panose="02040604050505020304" pitchFamily="18" charset="0"/>
                <a:ea typeface="Cambria" pitchFamily="34" charset="-122"/>
                <a:cs typeface="Cambria" pitchFamily="34" charset="-120"/>
              </a:rPr>
              <a:t>18,431</a:t>
            </a:r>
            <a:endParaRPr lang="en-US" sz="4400" dirty="0">
              <a:latin typeface="Century Schoolbook" panose="02040604050505020304" pitchFamily="18" charset="0"/>
            </a:endParaRPr>
          </a:p>
        </p:txBody>
      </p:sp>
      <p:sp>
        <p:nvSpPr>
          <p:cNvPr id="6" name="Text 3"/>
          <p:cNvSpPr txBox="1"/>
          <p:nvPr/>
        </p:nvSpPr>
        <p:spPr>
          <a:xfrm>
            <a:off x="640080" y="2103120"/>
            <a:ext cx="3474720" cy="457200"/>
          </a:xfrm>
          <a:prstGeom prst="rect">
            <a:avLst/>
          </a:prstGeom>
          <a:noFill/>
          <a:ln/>
        </p:spPr>
        <p:txBody>
          <a:bodyPr wrap="square" lIns="0" tIns="0" rIns="0" bIns="0" rtlCol="0" anchor="t"/>
          <a:lstStyle/>
          <a:p>
            <a:pPr marL="0" indent="0">
              <a:buNone/>
            </a:pPr>
            <a:r>
              <a:rPr lang="en-US" sz="1250" dirty="0">
                <a:solidFill>
                  <a:srgbClr val="FFFFFF"/>
                </a:solidFill>
                <a:latin typeface="Century Schoolbook" panose="02040604050505020304" pitchFamily="18" charset="0"/>
                <a:ea typeface="Calibri" pitchFamily="34" charset="-122"/>
                <a:cs typeface="Calibri" pitchFamily="34" charset="-120"/>
              </a:rPr>
              <a:t>registros en cuarentena, cada uno con su motivo de rechazo</a:t>
            </a:r>
            <a:endParaRPr lang="en-US" sz="1250" dirty="0">
              <a:latin typeface="Century Schoolbook" panose="02040604050505020304" pitchFamily="18" charset="0"/>
            </a:endParaRPr>
          </a:p>
        </p:txBody>
      </p:sp>
      <p:sp>
        <p:nvSpPr>
          <p:cNvPr id="7" name="Shape 4"/>
          <p:cNvSpPr/>
          <p:nvPr/>
        </p:nvSpPr>
        <p:spPr>
          <a:xfrm>
            <a:off x="457200" y="2880360"/>
            <a:ext cx="3840480" cy="1737360"/>
          </a:xfrm>
          <a:prstGeom prst="roundRect">
            <a:avLst>
              <a:gd name="adj" fmla="val 6316"/>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8" name="Text 5"/>
          <p:cNvSpPr txBox="1"/>
          <p:nvPr/>
        </p:nvSpPr>
        <p:spPr>
          <a:xfrm>
            <a:off x="640080" y="2971800"/>
            <a:ext cx="3474720" cy="32004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Ejemplo: viajes de MetroRiel</a:t>
            </a:r>
            <a:endParaRPr lang="en-US" sz="1400" dirty="0">
              <a:latin typeface="Century Schoolbook" panose="02040604050505020304" pitchFamily="18" charset="0"/>
            </a:endParaRPr>
          </a:p>
        </p:txBody>
      </p:sp>
      <p:sp>
        <p:nvSpPr>
          <p:cNvPr id="9" name="Text 6"/>
          <p:cNvSpPr txBox="1"/>
          <p:nvPr/>
        </p:nvSpPr>
        <p:spPr>
          <a:xfrm>
            <a:off x="640080" y="3383280"/>
            <a:ext cx="1143000" cy="502920"/>
          </a:xfrm>
          <a:prstGeom prst="rect">
            <a:avLst/>
          </a:prstGeom>
          <a:noFill/>
          <a:ln/>
        </p:spPr>
        <p:txBody>
          <a:bodyPr wrap="square" lIns="0" tIns="0" rIns="0" bIns="0" rtlCol="0" anchor="ctr"/>
          <a:lstStyle/>
          <a:p>
            <a:pPr marL="0" indent="0">
              <a:buNone/>
            </a:pPr>
            <a:r>
              <a:rPr lang="en-US" sz="1900" b="1" dirty="0">
                <a:solidFill>
                  <a:srgbClr val="6B6B6B"/>
                </a:solidFill>
                <a:latin typeface="Century Schoolbook" panose="02040604050505020304" pitchFamily="18" charset="0"/>
                <a:ea typeface="Cambria" pitchFamily="34" charset="-122"/>
                <a:cs typeface="Cambria" pitchFamily="34" charset="-120"/>
              </a:rPr>
              <a:t>299,100</a:t>
            </a:r>
            <a:endParaRPr lang="en-US" sz="1900" dirty="0">
              <a:latin typeface="Century Schoolbook" panose="02040604050505020304" pitchFamily="18" charset="0"/>
            </a:endParaRPr>
          </a:p>
        </p:txBody>
      </p:sp>
      <p:sp>
        <p:nvSpPr>
          <p:cNvPr id="10" name="Text 7"/>
          <p:cNvSpPr txBox="1"/>
          <p:nvPr/>
        </p:nvSpPr>
        <p:spPr>
          <a:xfrm>
            <a:off x="640080" y="3886200"/>
            <a:ext cx="1143000" cy="274320"/>
          </a:xfrm>
          <a:prstGeom prst="rect">
            <a:avLst/>
          </a:prstGeom>
          <a:noFill/>
          <a:ln/>
        </p:spPr>
        <p:txBody>
          <a:bodyPr wrap="square" lIns="0" tIns="0" rIns="0" bIns="0" rtlCol="0" anchor="ctr"/>
          <a:lstStyle/>
          <a:p>
            <a:pPr marL="0" indent="0">
              <a:buNone/>
            </a:pPr>
            <a:r>
              <a:rPr lang="en-US" sz="1100" dirty="0">
                <a:solidFill>
                  <a:srgbClr val="6B6B6B"/>
                </a:solidFill>
                <a:latin typeface="Century Schoolbook" panose="02040604050505020304" pitchFamily="18" charset="0"/>
                <a:ea typeface="Calibri" pitchFamily="34" charset="-122"/>
                <a:cs typeface="Calibri" pitchFamily="34" charset="-120"/>
              </a:rPr>
              <a:t>originales</a:t>
            </a:r>
            <a:endParaRPr lang="en-US" sz="1100" dirty="0">
              <a:latin typeface="Century Schoolbook" panose="02040604050505020304" pitchFamily="18" charset="0"/>
            </a:endParaRPr>
          </a:p>
        </p:txBody>
      </p:sp>
      <p:sp>
        <p:nvSpPr>
          <p:cNvPr id="11" name="Text 8"/>
          <p:cNvSpPr txBox="1"/>
          <p:nvPr/>
        </p:nvSpPr>
        <p:spPr>
          <a:xfrm>
            <a:off x="1847088" y="3383280"/>
            <a:ext cx="1143000" cy="502920"/>
          </a:xfrm>
          <a:prstGeom prst="rect">
            <a:avLst/>
          </a:prstGeom>
          <a:noFill/>
          <a:ln/>
        </p:spPr>
        <p:txBody>
          <a:bodyPr wrap="square" lIns="0" tIns="0" rIns="0" bIns="0" rtlCol="0" anchor="ctr"/>
          <a:lstStyle/>
          <a:p>
            <a:pPr marL="0" indent="0">
              <a:buNone/>
            </a:pPr>
            <a:r>
              <a:rPr lang="en-US" sz="1900" b="1" dirty="0">
                <a:solidFill>
                  <a:srgbClr val="3E8E6B"/>
                </a:solidFill>
                <a:latin typeface="Century Schoolbook" panose="02040604050505020304" pitchFamily="18" charset="0"/>
                <a:ea typeface="Cambria" pitchFamily="34" charset="-122"/>
                <a:cs typeface="Cambria" pitchFamily="34" charset="-120"/>
              </a:rPr>
              <a:t>295,511</a:t>
            </a:r>
            <a:endParaRPr lang="en-US" sz="1900" dirty="0">
              <a:latin typeface="Century Schoolbook" panose="02040604050505020304" pitchFamily="18" charset="0"/>
            </a:endParaRPr>
          </a:p>
        </p:txBody>
      </p:sp>
      <p:sp>
        <p:nvSpPr>
          <p:cNvPr id="12" name="Text 9"/>
          <p:cNvSpPr txBox="1"/>
          <p:nvPr/>
        </p:nvSpPr>
        <p:spPr>
          <a:xfrm>
            <a:off x="1847088" y="3886200"/>
            <a:ext cx="1143000" cy="274320"/>
          </a:xfrm>
          <a:prstGeom prst="rect">
            <a:avLst/>
          </a:prstGeom>
          <a:noFill/>
          <a:ln/>
        </p:spPr>
        <p:txBody>
          <a:bodyPr wrap="square" lIns="0" tIns="0" rIns="0" bIns="0" rtlCol="0" anchor="ctr"/>
          <a:lstStyle/>
          <a:p>
            <a:pPr marL="0" indent="0">
              <a:buNone/>
            </a:pPr>
            <a:r>
              <a:rPr lang="en-US" sz="1100" dirty="0">
                <a:solidFill>
                  <a:srgbClr val="6B6B6B"/>
                </a:solidFill>
                <a:latin typeface="Century Schoolbook" panose="02040604050505020304" pitchFamily="18" charset="0"/>
                <a:ea typeface="Calibri" pitchFamily="34" charset="-122"/>
                <a:cs typeface="Calibri" pitchFamily="34" charset="-120"/>
              </a:rPr>
              <a:t>a Silver</a:t>
            </a:r>
            <a:endParaRPr lang="en-US" sz="1100" dirty="0">
              <a:latin typeface="Century Schoolbook" panose="02040604050505020304" pitchFamily="18" charset="0"/>
            </a:endParaRPr>
          </a:p>
        </p:txBody>
      </p:sp>
      <p:sp>
        <p:nvSpPr>
          <p:cNvPr id="13" name="Text 10"/>
          <p:cNvSpPr txBox="1"/>
          <p:nvPr/>
        </p:nvSpPr>
        <p:spPr>
          <a:xfrm>
            <a:off x="3054096" y="3383280"/>
            <a:ext cx="1143000" cy="502920"/>
          </a:xfrm>
          <a:prstGeom prst="rect">
            <a:avLst/>
          </a:prstGeom>
          <a:noFill/>
          <a:ln/>
        </p:spPr>
        <p:txBody>
          <a:bodyPr wrap="square" lIns="0" tIns="0" rIns="0" bIns="0" rtlCol="0" anchor="ctr"/>
          <a:lstStyle/>
          <a:p>
            <a:pPr marL="0" indent="0">
              <a:buNone/>
            </a:pPr>
            <a:r>
              <a:rPr lang="en-US" sz="1900" b="1" dirty="0">
                <a:solidFill>
                  <a:srgbClr val="D94F86"/>
                </a:solidFill>
                <a:latin typeface="Century Schoolbook" panose="02040604050505020304" pitchFamily="18" charset="0"/>
                <a:ea typeface="Cambria" pitchFamily="34" charset="-122"/>
                <a:cs typeface="Cambria" pitchFamily="34" charset="-120"/>
              </a:rPr>
              <a:t>3,589</a:t>
            </a:r>
            <a:endParaRPr lang="en-US" sz="1900" dirty="0">
              <a:latin typeface="Century Schoolbook" panose="02040604050505020304" pitchFamily="18" charset="0"/>
            </a:endParaRPr>
          </a:p>
        </p:txBody>
      </p:sp>
      <p:sp>
        <p:nvSpPr>
          <p:cNvPr id="14" name="Text 11"/>
          <p:cNvSpPr txBox="1"/>
          <p:nvPr/>
        </p:nvSpPr>
        <p:spPr>
          <a:xfrm>
            <a:off x="3054096" y="3886200"/>
            <a:ext cx="1143000" cy="274320"/>
          </a:xfrm>
          <a:prstGeom prst="rect">
            <a:avLst/>
          </a:prstGeom>
          <a:noFill/>
          <a:ln/>
        </p:spPr>
        <p:txBody>
          <a:bodyPr wrap="square" lIns="0" tIns="0" rIns="0" bIns="0" rtlCol="0" anchor="ctr"/>
          <a:lstStyle/>
          <a:p>
            <a:pPr marL="0" indent="0">
              <a:buNone/>
            </a:pPr>
            <a:r>
              <a:rPr lang="en-US" sz="1100" dirty="0">
                <a:solidFill>
                  <a:srgbClr val="6B6B6B"/>
                </a:solidFill>
                <a:latin typeface="Century Schoolbook" panose="02040604050505020304" pitchFamily="18" charset="0"/>
                <a:ea typeface="Calibri" pitchFamily="34" charset="-122"/>
                <a:cs typeface="Calibri" pitchFamily="34" charset="-120"/>
              </a:rPr>
              <a:t>sin salida</a:t>
            </a:r>
            <a:endParaRPr lang="en-US" sz="1100" dirty="0">
              <a:latin typeface="Century Schoolbook" panose="02040604050505020304" pitchFamily="18" charset="0"/>
            </a:endParaRPr>
          </a:p>
        </p:txBody>
      </p:sp>
      <p:sp>
        <p:nvSpPr>
          <p:cNvPr id="15" name="Text 12"/>
          <p:cNvSpPr txBox="1"/>
          <p:nvPr/>
        </p:nvSpPr>
        <p:spPr>
          <a:xfrm>
            <a:off x="640080" y="4224528"/>
            <a:ext cx="3474720" cy="274320"/>
          </a:xfrm>
          <a:prstGeom prst="rect">
            <a:avLst/>
          </a:prstGeom>
          <a:noFill/>
          <a:ln/>
        </p:spPr>
        <p:txBody>
          <a:bodyPr wrap="square" lIns="0" tIns="0" rIns="0" bIns="0" rtlCol="0" anchor="ctr"/>
          <a:lstStyle/>
          <a:p>
            <a:pPr marL="0" indent="0">
              <a:buNone/>
            </a:pPr>
            <a:r>
              <a:rPr lang="en-US" sz="1100" i="1" dirty="0">
                <a:solidFill>
                  <a:srgbClr val="6B6B6B"/>
                </a:solidFill>
                <a:latin typeface="Century Schoolbook" panose="02040604050505020304" pitchFamily="18" charset="0"/>
                <a:ea typeface="Calibri" pitchFamily="34" charset="-122"/>
                <a:cs typeface="Calibri" pitchFamily="34" charset="-120"/>
              </a:rPr>
              <a:t>La suma coincide con el total de origen.</a:t>
            </a:r>
            <a:endParaRPr lang="en-US" sz="1100" dirty="0">
              <a:latin typeface="Century Schoolbook" panose="02040604050505020304" pitchFamily="18" charset="0"/>
            </a:endParaRPr>
          </a:p>
        </p:txBody>
      </p:sp>
      <p:sp>
        <p:nvSpPr>
          <p:cNvPr id="16" name="Shape 13"/>
          <p:cNvSpPr/>
          <p:nvPr/>
        </p:nvSpPr>
        <p:spPr>
          <a:xfrm>
            <a:off x="4526280" y="1188720"/>
            <a:ext cx="4160520" cy="3429000"/>
          </a:xfrm>
          <a:prstGeom prst="roundRect">
            <a:avLst>
              <a:gd name="adj" fmla="val 3200"/>
            </a:avLst>
          </a:prstGeom>
          <a:solidFill>
            <a:srgbClr val="FADCE7"/>
          </a:solidFill>
          <a:ln w="12700">
            <a:solidFill>
              <a:srgbClr val="FADCE7"/>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7" name="Text 14"/>
          <p:cNvSpPr txBox="1"/>
          <p:nvPr/>
        </p:nvSpPr>
        <p:spPr>
          <a:xfrm>
            <a:off x="4754880" y="1298448"/>
            <a:ext cx="3749040" cy="36576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Reglas que envían a cuarentena</a:t>
            </a:r>
            <a:endParaRPr lang="en-US" sz="1600" dirty="0">
              <a:latin typeface="Century Schoolbook" panose="02040604050505020304" pitchFamily="18" charset="0"/>
            </a:endParaRPr>
          </a:p>
        </p:txBody>
      </p:sp>
      <p:sp>
        <p:nvSpPr>
          <p:cNvPr id="18" name="Text 15"/>
          <p:cNvSpPr txBox="1"/>
          <p:nvPr/>
        </p:nvSpPr>
        <p:spPr>
          <a:xfrm>
            <a:off x="4754880" y="1783080"/>
            <a:ext cx="3749040" cy="1920240"/>
          </a:xfrm>
          <a:prstGeom prst="rect">
            <a:avLst/>
          </a:prstGeom>
          <a:noFill/>
          <a:ln/>
        </p:spPr>
        <p:txBody>
          <a:bodyPr wrap="square" lIns="0" tIns="0" rIns="0" bIns="0" rtlCol="0" anchor="t"/>
          <a:lstStyle/>
          <a:p>
            <a:pPr marL="342900" indent="-342900">
              <a:spcAft>
                <a:spcPts val="800"/>
              </a:spcAft>
              <a:buSzPct val="100000"/>
              <a:buChar char="•"/>
            </a:pPr>
            <a:r>
              <a:rPr lang="en-US" sz="1350" dirty="0">
                <a:solidFill>
                  <a:srgbClr val="2B2B2B"/>
                </a:solidFill>
                <a:latin typeface="Century Schoolbook" panose="02040604050505020304" pitchFamily="18" charset="0"/>
                <a:ea typeface="Calibri" pitchFamily="34" charset="-122"/>
                <a:cs typeface="Calibri" pitchFamily="34" charset="-120"/>
              </a:rPr>
              <a:t>Llaves ausentes o ajenas al padrón</a:t>
            </a:r>
            <a:endParaRPr lang="en-US" sz="1350" dirty="0">
              <a:latin typeface="Century Schoolbook" panose="02040604050505020304" pitchFamily="18" charset="0"/>
            </a:endParaRPr>
          </a:p>
          <a:p>
            <a:pPr marL="342900" indent="-342900">
              <a:spcAft>
                <a:spcPts val="800"/>
              </a:spcAft>
              <a:buSzPct val="100000"/>
              <a:buChar char="•"/>
            </a:pPr>
            <a:r>
              <a:rPr lang="en-US" sz="1350" dirty="0">
                <a:solidFill>
                  <a:srgbClr val="2B2B2B"/>
                </a:solidFill>
                <a:latin typeface="Century Schoolbook" panose="02040604050505020304" pitchFamily="18" charset="0"/>
                <a:ea typeface="Calibri" pitchFamily="34" charset="-122"/>
                <a:cs typeface="Calibri" pitchFamily="34" charset="-120"/>
              </a:rPr>
              <a:t>Viajes de MetroRiel sin salida</a:t>
            </a:r>
            <a:endParaRPr lang="en-US" sz="1350" dirty="0">
              <a:latin typeface="Century Schoolbook" panose="02040604050505020304" pitchFamily="18" charset="0"/>
            </a:endParaRPr>
          </a:p>
          <a:p>
            <a:pPr marL="342900" indent="-342900">
              <a:spcAft>
                <a:spcPts val="800"/>
              </a:spcAft>
              <a:buSzPct val="100000"/>
              <a:buChar char="•"/>
            </a:pPr>
            <a:r>
              <a:rPr lang="en-US" sz="1350" dirty="0">
                <a:solidFill>
                  <a:srgbClr val="2B2B2B"/>
                </a:solidFill>
                <a:latin typeface="Century Schoolbook" panose="02040604050505020304" pitchFamily="18" charset="0"/>
                <a:ea typeface="Calibri" pitchFamily="34" charset="-122"/>
                <a:cs typeface="Calibri" pitchFamily="34" charset="-120"/>
              </a:rPr>
              <a:t>Validaciones duplicadas de Transmetro</a:t>
            </a:r>
            <a:endParaRPr lang="en-US" sz="1350" dirty="0">
              <a:latin typeface="Century Schoolbook" panose="02040604050505020304" pitchFamily="18" charset="0"/>
            </a:endParaRPr>
          </a:p>
          <a:p>
            <a:pPr marL="342900" indent="-342900">
              <a:spcAft>
                <a:spcPts val="800"/>
              </a:spcAft>
              <a:buSzPct val="100000"/>
              <a:buChar char="•"/>
            </a:pPr>
            <a:r>
              <a:rPr lang="en-US" sz="1350" dirty="0">
                <a:solidFill>
                  <a:srgbClr val="2B2B2B"/>
                </a:solidFill>
                <a:latin typeface="Century Schoolbook" panose="02040604050505020304" pitchFamily="18" charset="0"/>
                <a:ea typeface="Calibri" pitchFamily="34" charset="-122"/>
                <a:cs typeface="Calibri" pitchFamily="34" charset="-120"/>
              </a:rPr>
              <a:t>Códigos de parada nulos</a:t>
            </a:r>
            <a:endParaRPr lang="en-US" sz="1350" dirty="0">
              <a:latin typeface="Century Schoolbook" panose="02040604050505020304" pitchFamily="18" charset="0"/>
            </a:endParaRPr>
          </a:p>
          <a:p>
            <a:pPr marL="342900" indent="-342900">
              <a:spcAft>
                <a:spcPts val="800"/>
              </a:spcAft>
              <a:buSzPct val="100000"/>
              <a:buChar char="•"/>
            </a:pPr>
            <a:r>
              <a:rPr lang="en-US" sz="1350" dirty="0">
                <a:solidFill>
                  <a:srgbClr val="2B2B2B"/>
                </a:solidFill>
                <a:latin typeface="Century Schoolbook" panose="02040604050505020304" pitchFamily="18" charset="0"/>
                <a:ea typeface="Calibri" pitchFamily="34" charset="-122"/>
                <a:cs typeface="Calibri" pitchFamily="34" charset="-120"/>
              </a:rPr>
              <a:t>Fechas futuras</a:t>
            </a:r>
            <a:endParaRPr lang="en-US" sz="1350" dirty="0">
              <a:latin typeface="Century Schoolbook" panose="02040604050505020304" pitchFamily="18" charset="0"/>
            </a:endParaRPr>
          </a:p>
        </p:txBody>
      </p:sp>
      <p:sp>
        <p:nvSpPr>
          <p:cNvPr id="19" name="Text 16"/>
          <p:cNvSpPr txBox="1"/>
          <p:nvPr/>
        </p:nvSpPr>
        <p:spPr>
          <a:xfrm>
            <a:off x="4754880" y="3931920"/>
            <a:ext cx="3749040" cy="502920"/>
          </a:xfrm>
          <a:prstGeom prst="rect">
            <a:avLst/>
          </a:prstGeom>
          <a:noFill/>
          <a:ln/>
        </p:spPr>
        <p:txBody>
          <a:bodyPr wrap="square" lIns="0" tIns="0" rIns="0" bIns="0" rtlCol="0" anchor="ctr"/>
          <a:lstStyle/>
          <a:p>
            <a:pPr marL="0" indent="0">
              <a:buNone/>
            </a:pPr>
            <a:r>
              <a:rPr lang="en-US" sz="1200" b="1" dirty="0">
                <a:solidFill>
                  <a:srgbClr val="3E8E6B"/>
                </a:solidFill>
                <a:latin typeface="Century Schoolbook" panose="02040604050505020304" pitchFamily="18" charset="0"/>
                <a:ea typeface="Calibri" pitchFamily="34" charset="-122"/>
                <a:cs typeface="Calibri" pitchFamily="34" charset="-120"/>
              </a:rPr>
              <a:t>Aerometro no presentó registros inválidos.</a:t>
            </a:r>
            <a:endParaRPr lang="en-US" sz="120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Gold: modelo dimensional</a:t>
            </a:r>
            <a:endParaRPr lang="en-US" sz="3200" dirty="0"/>
          </a:p>
        </p:txBody>
      </p:sp>
      <p:sp>
        <p:nvSpPr>
          <p:cNvPr id="4" name="Shape 1"/>
          <p:cNvSpPr/>
          <p:nvPr/>
        </p:nvSpPr>
        <p:spPr>
          <a:xfrm>
            <a:off x="457200" y="1188720"/>
            <a:ext cx="1508760" cy="502920"/>
          </a:xfrm>
          <a:prstGeom prst="roundRect">
            <a:avLst>
              <a:gd name="adj" fmla="val 4909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5" name="Text 2"/>
          <p:cNvSpPr txBox="1"/>
          <p:nvPr/>
        </p:nvSpPr>
        <p:spPr>
          <a:xfrm>
            <a:off x="457200" y="1188720"/>
            <a:ext cx="1508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libri" pitchFamily="34" charset="-122"/>
                <a:cs typeface="Calibri" pitchFamily="34" charset="-120"/>
              </a:rPr>
              <a:t>dim_fecha</a:t>
            </a:r>
            <a:endParaRPr lang="en-US" sz="1300" dirty="0">
              <a:latin typeface="Century Schoolbook" panose="02040604050505020304" pitchFamily="18" charset="0"/>
            </a:endParaRPr>
          </a:p>
        </p:txBody>
      </p:sp>
      <p:sp>
        <p:nvSpPr>
          <p:cNvPr id="6" name="Shape 3"/>
          <p:cNvSpPr/>
          <p:nvPr/>
        </p:nvSpPr>
        <p:spPr>
          <a:xfrm>
            <a:off x="2137410" y="1188720"/>
            <a:ext cx="1508760" cy="502920"/>
          </a:xfrm>
          <a:prstGeom prst="roundRect">
            <a:avLst>
              <a:gd name="adj" fmla="val 4909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7" name="Text 4"/>
          <p:cNvSpPr txBox="1"/>
          <p:nvPr/>
        </p:nvSpPr>
        <p:spPr>
          <a:xfrm>
            <a:off x="2137410" y="1188720"/>
            <a:ext cx="1508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libri" pitchFamily="34" charset="-122"/>
                <a:cs typeface="Calibri" pitchFamily="34" charset="-120"/>
              </a:rPr>
              <a:t>dim_hora</a:t>
            </a:r>
            <a:endParaRPr lang="en-US" sz="1300" dirty="0">
              <a:latin typeface="Century Schoolbook" panose="02040604050505020304" pitchFamily="18" charset="0"/>
            </a:endParaRPr>
          </a:p>
        </p:txBody>
      </p:sp>
      <p:sp>
        <p:nvSpPr>
          <p:cNvPr id="8" name="Shape 5"/>
          <p:cNvSpPr/>
          <p:nvPr/>
        </p:nvSpPr>
        <p:spPr>
          <a:xfrm>
            <a:off x="3817620" y="1188720"/>
            <a:ext cx="1508760" cy="502920"/>
          </a:xfrm>
          <a:prstGeom prst="roundRect">
            <a:avLst>
              <a:gd name="adj" fmla="val 4909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9" name="Text 6"/>
          <p:cNvSpPr txBox="1"/>
          <p:nvPr/>
        </p:nvSpPr>
        <p:spPr>
          <a:xfrm>
            <a:off x="3817620" y="1188720"/>
            <a:ext cx="1508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libri" pitchFamily="34" charset="-122"/>
                <a:cs typeface="Calibri" pitchFamily="34" charset="-120"/>
              </a:rPr>
              <a:t>dim_modo</a:t>
            </a:r>
            <a:endParaRPr lang="en-US" sz="1300" dirty="0">
              <a:latin typeface="Century Schoolbook" panose="02040604050505020304" pitchFamily="18" charset="0"/>
            </a:endParaRPr>
          </a:p>
        </p:txBody>
      </p:sp>
      <p:sp>
        <p:nvSpPr>
          <p:cNvPr id="10" name="Shape 7"/>
          <p:cNvSpPr/>
          <p:nvPr/>
        </p:nvSpPr>
        <p:spPr>
          <a:xfrm>
            <a:off x="5497830" y="1188720"/>
            <a:ext cx="1508760" cy="502920"/>
          </a:xfrm>
          <a:prstGeom prst="roundRect">
            <a:avLst>
              <a:gd name="adj" fmla="val 4909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11" name="Text 8"/>
          <p:cNvSpPr txBox="1"/>
          <p:nvPr/>
        </p:nvSpPr>
        <p:spPr>
          <a:xfrm>
            <a:off x="5497830" y="1188720"/>
            <a:ext cx="1508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libri" pitchFamily="34" charset="-122"/>
                <a:cs typeface="Calibri" pitchFamily="34" charset="-120"/>
              </a:rPr>
              <a:t>dim_usuario</a:t>
            </a:r>
            <a:endParaRPr lang="en-US" sz="1300" dirty="0">
              <a:latin typeface="Century Schoolbook" panose="02040604050505020304" pitchFamily="18" charset="0"/>
            </a:endParaRPr>
          </a:p>
        </p:txBody>
      </p:sp>
      <p:sp>
        <p:nvSpPr>
          <p:cNvPr id="12" name="Shape 9"/>
          <p:cNvSpPr/>
          <p:nvPr/>
        </p:nvSpPr>
        <p:spPr>
          <a:xfrm>
            <a:off x="7178040" y="1188720"/>
            <a:ext cx="1508760" cy="502920"/>
          </a:xfrm>
          <a:prstGeom prst="roundRect">
            <a:avLst>
              <a:gd name="adj" fmla="val 4909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13" name="Text 10"/>
          <p:cNvSpPr txBox="1"/>
          <p:nvPr/>
        </p:nvSpPr>
        <p:spPr>
          <a:xfrm>
            <a:off x="7178040" y="1188720"/>
            <a:ext cx="1508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libri" pitchFamily="34" charset="-122"/>
                <a:cs typeface="Calibri" pitchFamily="34" charset="-120"/>
              </a:rPr>
              <a:t>dim_zona</a:t>
            </a:r>
            <a:endParaRPr lang="en-US" sz="1300" dirty="0">
              <a:latin typeface="Century Schoolbook" panose="02040604050505020304" pitchFamily="18" charset="0"/>
            </a:endParaRPr>
          </a:p>
        </p:txBody>
      </p:sp>
      <p:sp>
        <p:nvSpPr>
          <p:cNvPr id="14" name="Text 11"/>
          <p:cNvSpPr txBox="1"/>
          <p:nvPr/>
        </p:nvSpPr>
        <p:spPr>
          <a:xfrm>
            <a:off x="457200" y="1737360"/>
            <a:ext cx="8229600" cy="274320"/>
          </a:xfrm>
          <a:prstGeom prst="rect">
            <a:avLst/>
          </a:prstGeom>
          <a:noFill/>
          <a:ln/>
        </p:spPr>
        <p:txBody>
          <a:bodyPr wrap="square" lIns="0" tIns="0" rIns="0" bIns="0" rtlCol="0" anchor="ctr"/>
          <a:lstStyle/>
          <a:p>
            <a:pPr marL="0" indent="0" algn="ctr">
              <a:buNone/>
            </a:pPr>
            <a:r>
              <a:rPr lang="en-US" sz="1100" i="1" dirty="0">
                <a:solidFill>
                  <a:srgbClr val="6B6B6B"/>
                </a:solidFill>
                <a:latin typeface="Century Schoolbook" panose="02040604050505020304" pitchFamily="18" charset="0"/>
                <a:ea typeface="Calibri" pitchFamily="34" charset="-122"/>
                <a:cs typeface="Calibri" pitchFamily="34" charset="-120"/>
              </a:rPr>
              <a:t>Dimensiones conformadas, compartidas por ambos hechos</a:t>
            </a:r>
            <a:endParaRPr lang="en-US" sz="1100" dirty="0">
              <a:latin typeface="Century Schoolbook" panose="02040604050505020304" pitchFamily="18" charset="0"/>
            </a:endParaRPr>
          </a:p>
        </p:txBody>
      </p:sp>
      <p:sp>
        <p:nvSpPr>
          <p:cNvPr id="15" name="Shape 12"/>
          <p:cNvSpPr/>
          <p:nvPr/>
        </p:nvSpPr>
        <p:spPr>
          <a:xfrm>
            <a:off x="457200" y="2148840"/>
            <a:ext cx="4023360" cy="1371600"/>
          </a:xfrm>
          <a:prstGeom prst="roundRect">
            <a:avLst>
              <a:gd name="adj" fmla="val 8000"/>
            </a:avLst>
          </a:prstGeom>
          <a:solidFill>
            <a:srgbClr val="D94F86"/>
          </a:solidFill>
          <a:ln w="12700">
            <a:solidFill>
              <a:srgbClr val="D94F86"/>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6" name="Text 13"/>
          <p:cNvSpPr txBox="1"/>
          <p:nvPr/>
        </p:nvSpPr>
        <p:spPr>
          <a:xfrm>
            <a:off x="640080" y="2194560"/>
            <a:ext cx="3657600" cy="1280160"/>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anose="02040604050505020304" pitchFamily="18" charset="0"/>
                <a:ea typeface="Cambria" pitchFamily="34" charset="-122"/>
                <a:cs typeface="Cambria" pitchFamily="34" charset="-120"/>
              </a:rPr>
              <a:t>fct_abordajes</a:t>
            </a:r>
            <a:endParaRPr lang="en-US" sz="1200" dirty="0">
              <a:latin typeface="Century Schoolbook" panose="02040604050505020304" pitchFamily="18" charset="0"/>
            </a:endParaRPr>
          </a:p>
          <a:p>
            <a:pPr marL="0" indent="0">
              <a:buNone/>
            </a:pPr>
            <a:r>
              <a:rPr lang="en-US" sz="1200" dirty="0">
                <a:solidFill>
                  <a:srgbClr val="FFFFFF"/>
                </a:solidFill>
                <a:latin typeface="Century Schoolbook" panose="02040604050505020304" pitchFamily="18" charset="0"/>
                <a:ea typeface="Calibri" pitchFamily="34" charset="-122"/>
                <a:cs typeface="Calibri" pitchFamily="34" charset="-120"/>
              </a:rPr>
              <a:t>Grano: un abordaje válido por usuario, modo, ubicación y fecha y hora. Transmetro, Transurbano y Aerometro.</a:t>
            </a:r>
            <a:endParaRPr lang="en-US" sz="1200" dirty="0">
              <a:latin typeface="Century Schoolbook" panose="02040604050505020304" pitchFamily="18" charset="0"/>
            </a:endParaRPr>
          </a:p>
        </p:txBody>
      </p:sp>
      <p:sp>
        <p:nvSpPr>
          <p:cNvPr id="17" name="Shape 14"/>
          <p:cNvSpPr/>
          <p:nvPr/>
        </p:nvSpPr>
        <p:spPr>
          <a:xfrm>
            <a:off x="4663440" y="2148840"/>
            <a:ext cx="4023360" cy="1371600"/>
          </a:xfrm>
          <a:prstGeom prst="roundRect">
            <a:avLst>
              <a:gd name="adj" fmla="val 8000"/>
            </a:avLst>
          </a:prstGeom>
          <a:solidFill>
            <a:srgbClr val="D94F86"/>
          </a:solidFill>
          <a:ln w="12700">
            <a:solidFill>
              <a:srgbClr val="D94F86"/>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8" name="Text 15"/>
          <p:cNvSpPr txBox="1"/>
          <p:nvPr/>
        </p:nvSpPr>
        <p:spPr>
          <a:xfrm>
            <a:off x="4846320" y="2194560"/>
            <a:ext cx="3657600" cy="1280160"/>
          </a:xfrm>
          <a:prstGeom prst="rect">
            <a:avLst/>
          </a:prstGeom>
          <a:noFill/>
          <a:ln/>
        </p:spPr>
        <p:txBody>
          <a:bodyPr wrap="square" lIns="0" tIns="0" rIns="0" bIns="0" rtlCol="0" anchor="ctr"/>
          <a:lstStyle/>
          <a:p>
            <a:pPr marL="0" indent="0">
              <a:buNone/>
            </a:pPr>
            <a:r>
              <a:rPr lang="en-US" sz="1600" b="1" dirty="0">
                <a:solidFill>
                  <a:srgbClr val="FFFFFF"/>
                </a:solidFill>
                <a:latin typeface="Century Schoolbook" panose="02040604050505020304" pitchFamily="18" charset="0"/>
                <a:ea typeface="Cambria" pitchFamily="34" charset="-122"/>
                <a:cs typeface="Cambria" pitchFamily="34" charset="-120"/>
              </a:rPr>
              <a:t>fct_viajes_metroriel</a:t>
            </a:r>
            <a:endParaRPr lang="en-US" sz="1200" dirty="0">
              <a:latin typeface="Century Schoolbook" panose="02040604050505020304" pitchFamily="18" charset="0"/>
            </a:endParaRPr>
          </a:p>
          <a:p>
            <a:pPr marL="0" indent="0">
              <a:buNone/>
            </a:pPr>
            <a:r>
              <a:rPr lang="en-US" sz="1200" dirty="0">
                <a:solidFill>
                  <a:srgbClr val="FFFFFF"/>
                </a:solidFill>
                <a:latin typeface="Century Schoolbook" panose="02040604050505020304" pitchFamily="18" charset="0"/>
                <a:ea typeface="Calibri" pitchFamily="34" charset="-122"/>
                <a:cs typeface="Calibri" pitchFamily="34" charset="-120"/>
              </a:rPr>
              <a:t>Grano: un viaje completo con entrada, salida y duración. Se separa para no perder ese detalle.</a:t>
            </a:r>
            <a:endParaRPr lang="en-US" sz="1200" dirty="0">
              <a:latin typeface="Century Schoolbook" panose="02040604050505020304" pitchFamily="18" charset="0"/>
            </a:endParaRPr>
          </a:p>
        </p:txBody>
      </p:sp>
      <p:sp>
        <p:nvSpPr>
          <p:cNvPr id="19" name="Shape 16"/>
          <p:cNvSpPr/>
          <p:nvPr/>
        </p:nvSpPr>
        <p:spPr>
          <a:xfrm>
            <a:off x="457200" y="3749040"/>
            <a:ext cx="1920240" cy="868680"/>
          </a:xfrm>
          <a:prstGeom prst="roundRect">
            <a:avLst>
              <a:gd name="adj" fmla="val 12632"/>
            </a:avLst>
          </a:prstGeom>
          <a:solidFill>
            <a:srgbClr val="CFE8D8"/>
          </a:solidFill>
          <a:ln w="12700">
            <a:solidFill>
              <a:srgbClr val="CFE8D8"/>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0" name="Text 17"/>
          <p:cNvSpPr txBox="1"/>
          <p:nvPr/>
        </p:nvSpPr>
        <p:spPr>
          <a:xfrm>
            <a:off x="457200" y="3794760"/>
            <a:ext cx="1920240" cy="457200"/>
          </a:xfrm>
          <a:prstGeom prst="rect">
            <a:avLst/>
          </a:prstGeom>
          <a:noFill/>
          <a:ln/>
        </p:spPr>
        <p:txBody>
          <a:bodyPr wrap="square" lIns="0" tIns="0" rIns="0" bIns="0" rtlCol="0" anchor="ctr"/>
          <a:lstStyle/>
          <a:p>
            <a:pPr marL="0" indent="0" algn="ctr">
              <a:buNone/>
            </a:pPr>
            <a:r>
              <a:rPr lang="en-US" sz="2000" b="1" dirty="0">
                <a:solidFill>
                  <a:srgbClr val="24483A"/>
                </a:solidFill>
                <a:latin typeface="Century Schoolbook" panose="02040604050505020304" pitchFamily="18" charset="0"/>
                <a:ea typeface="Cambria" pitchFamily="34" charset="-122"/>
                <a:cs typeface="Cambria" pitchFamily="34" charset="-120"/>
              </a:rPr>
              <a:t>1,352,058</a:t>
            </a:r>
            <a:endParaRPr lang="en-US" sz="2000" dirty="0">
              <a:latin typeface="Century Schoolbook" panose="02040604050505020304" pitchFamily="18" charset="0"/>
            </a:endParaRPr>
          </a:p>
        </p:txBody>
      </p:sp>
      <p:sp>
        <p:nvSpPr>
          <p:cNvPr id="21" name="Text 18"/>
          <p:cNvSpPr txBox="1"/>
          <p:nvPr/>
        </p:nvSpPr>
        <p:spPr>
          <a:xfrm>
            <a:off x="457200" y="4251960"/>
            <a:ext cx="1920240" cy="274320"/>
          </a:xfrm>
          <a:prstGeom prst="rect">
            <a:avLst/>
          </a:prstGeom>
          <a:noFill/>
          <a:ln/>
        </p:spPr>
        <p:txBody>
          <a:bodyPr wrap="square" lIns="0" tIns="0" rIns="0" bIns="0" rtlCol="0" anchor="ctr"/>
          <a:lstStyle/>
          <a:p>
            <a:pPr marL="0" indent="0" algn="ctr">
              <a:buNone/>
            </a:pPr>
            <a:r>
              <a:rPr lang="en-US" sz="1100" dirty="0">
                <a:solidFill>
                  <a:srgbClr val="2B2B2B"/>
                </a:solidFill>
                <a:latin typeface="Century Schoolbook" panose="02040604050505020304" pitchFamily="18" charset="0"/>
                <a:ea typeface="Calibri" pitchFamily="34" charset="-122"/>
                <a:cs typeface="Calibri" pitchFamily="34" charset="-120"/>
              </a:rPr>
              <a:t>abordajes</a:t>
            </a:r>
            <a:endParaRPr lang="en-US" sz="1100" dirty="0">
              <a:latin typeface="Century Schoolbook" panose="02040604050505020304" pitchFamily="18" charset="0"/>
            </a:endParaRPr>
          </a:p>
        </p:txBody>
      </p:sp>
      <p:sp>
        <p:nvSpPr>
          <p:cNvPr id="22" name="Shape 19"/>
          <p:cNvSpPr/>
          <p:nvPr/>
        </p:nvSpPr>
        <p:spPr>
          <a:xfrm>
            <a:off x="2560320" y="3749040"/>
            <a:ext cx="1920240" cy="868680"/>
          </a:xfrm>
          <a:prstGeom prst="roundRect">
            <a:avLst>
              <a:gd name="adj" fmla="val 12632"/>
            </a:avLst>
          </a:prstGeom>
          <a:solidFill>
            <a:srgbClr val="CFE8D8"/>
          </a:solidFill>
          <a:ln w="12700">
            <a:solidFill>
              <a:srgbClr val="CFE8D8"/>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3" name="Text 20"/>
          <p:cNvSpPr txBox="1"/>
          <p:nvPr/>
        </p:nvSpPr>
        <p:spPr>
          <a:xfrm>
            <a:off x="2560320" y="3794760"/>
            <a:ext cx="1920240" cy="457200"/>
          </a:xfrm>
          <a:prstGeom prst="rect">
            <a:avLst/>
          </a:prstGeom>
          <a:noFill/>
          <a:ln/>
        </p:spPr>
        <p:txBody>
          <a:bodyPr wrap="square" lIns="0" tIns="0" rIns="0" bIns="0" rtlCol="0" anchor="ctr"/>
          <a:lstStyle/>
          <a:p>
            <a:pPr marL="0" indent="0" algn="ctr">
              <a:buNone/>
            </a:pPr>
            <a:r>
              <a:rPr lang="en-US" sz="2000" b="1" dirty="0">
                <a:solidFill>
                  <a:srgbClr val="24483A"/>
                </a:solidFill>
                <a:latin typeface="Century Schoolbook" panose="02040604050505020304" pitchFamily="18" charset="0"/>
                <a:ea typeface="Cambria" pitchFamily="34" charset="-122"/>
                <a:cs typeface="Cambria" pitchFamily="34" charset="-120"/>
              </a:rPr>
              <a:t>295,511</a:t>
            </a:r>
            <a:endParaRPr lang="en-US" sz="2000" dirty="0">
              <a:latin typeface="Century Schoolbook" panose="02040604050505020304" pitchFamily="18" charset="0"/>
            </a:endParaRPr>
          </a:p>
        </p:txBody>
      </p:sp>
      <p:sp>
        <p:nvSpPr>
          <p:cNvPr id="24" name="Text 21"/>
          <p:cNvSpPr txBox="1"/>
          <p:nvPr/>
        </p:nvSpPr>
        <p:spPr>
          <a:xfrm>
            <a:off x="2560320" y="4251960"/>
            <a:ext cx="1920240" cy="274320"/>
          </a:xfrm>
          <a:prstGeom prst="rect">
            <a:avLst/>
          </a:prstGeom>
          <a:noFill/>
          <a:ln/>
        </p:spPr>
        <p:txBody>
          <a:bodyPr wrap="square" lIns="0" tIns="0" rIns="0" bIns="0" rtlCol="0" anchor="ctr"/>
          <a:lstStyle/>
          <a:p>
            <a:pPr marL="0" indent="0" algn="ctr">
              <a:buNone/>
            </a:pPr>
            <a:r>
              <a:rPr lang="en-US" sz="1100" dirty="0">
                <a:solidFill>
                  <a:srgbClr val="2B2B2B"/>
                </a:solidFill>
                <a:latin typeface="Century Schoolbook" panose="02040604050505020304" pitchFamily="18" charset="0"/>
                <a:ea typeface="Calibri" pitchFamily="34" charset="-122"/>
                <a:cs typeface="Calibri" pitchFamily="34" charset="-120"/>
              </a:rPr>
              <a:t>viajes MetroRiel</a:t>
            </a:r>
            <a:endParaRPr lang="en-US" sz="1100" dirty="0">
              <a:latin typeface="Century Schoolbook" panose="02040604050505020304" pitchFamily="18" charset="0"/>
            </a:endParaRPr>
          </a:p>
        </p:txBody>
      </p:sp>
      <p:sp>
        <p:nvSpPr>
          <p:cNvPr id="25" name="Shape 22"/>
          <p:cNvSpPr/>
          <p:nvPr/>
        </p:nvSpPr>
        <p:spPr>
          <a:xfrm>
            <a:off x="4663440" y="3749040"/>
            <a:ext cx="1920240" cy="868680"/>
          </a:xfrm>
          <a:prstGeom prst="roundRect">
            <a:avLst>
              <a:gd name="adj" fmla="val 12632"/>
            </a:avLst>
          </a:prstGeom>
          <a:solidFill>
            <a:srgbClr val="CFE8D8"/>
          </a:solidFill>
          <a:ln w="12700">
            <a:solidFill>
              <a:srgbClr val="CFE8D8"/>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6" name="Text 23"/>
          <p:cNvSpPr txBox="1"/>
          <p:nvPr/>
        </p:nvSpPr>
        <p:spPr>
          <a:xfrm>
            <a:off x="4663440" y="3794760"/>
            <a:ext cx="1920240" cy="457200"/>
          </a:xfrm>
          <a:prstGeom prst="rect">
            <a:avLst/>
          </a:prstGeom>
          <a:noFill/>
          <a:ln/>
        </p:spPr>
        <p:txBody>
          <a:bodyPr wrap="square" lIns="0" tIns="0" rIns="0" bIns="0" rtlCol="0" anchor="ctr"/>
          <a:lstStyle/>
          <a:p>
            <a:pPr marL="0" indent="0" algn="ctr">
              <a:buNone/>
            </a:pPr>
            <a:r>
              <a:rPr lang="en-US" sz="2000" b="1" dirty="0">
                <a:solidFill>
                  <a:srgbClr val="24483A"/>
                </a:solidFill>
                <a:latin typeface="Century Schoolbook" panose="02040604050505020304" pitchFamily="18" charset="0"/>
                <a:ea typeface="Cambria" pitchFamily="34" charset="-122"/>
                <a:cs typeface="Cambria" pitchFamily="34" charset="-120"/>
              </a:rPr>
              <a:t>70,380</a:t>
            </a:r>
            <a:endParaRPr lang="en-US" sz="2000" dirty="0">
              <a:latin typeface="Century Schoolbook" panose="02040604050505020304" pitchFamily="18" charset="0"/>
            </a:endParaRPr>
          </a:p>
        </p:txBody>
      </p:sp>
      <p:sp>
        <p:nvSpPr>
          <p:cNvPr id="27" name="Text 24"/>
          <p:cNvSpPr txBox="1"/>
          <p:nvPr/>
        </p:nvSpPr>
        <p:spPr>
          <a:xfrm>
            <a:off x="4663440" y="4251960"/>
            <a:ext cx="1920240" cy="274320"/>
          </a:xfrm>
          <a:prstGeom prst="rect">
            <a:avLst/>
          </a:prstGeom>
          <a:noFill/>
          <a:ln/>
        </p:spPr>
        <p:txBody>
          <a:bodyPr wrap="square" lIns="0" tIns="0" rIns="0" bIns="0" rtlCol="0" anchor="ctr"/>
          <a:lstStyle/>
          <a:p>
            <a:pPr marL="0" indent="0" algn="ctr">
              <a:buNone/>
            </a:pPr>
            <a:r>
              <a:rPr lang="en-US" sz="1100" dirty="0">
                <a:solidFill>
                  <a:srgbClr val="2B2B2B"/>
                </a:solidFill>
                <a:latin typeface="Century Schoolbook" panose="02040604050505020304" pitchFamily="18" charset="0"/>
                <a:ea typeface="Calibri" pitchFamily="34" charset="-122"/>
                <a:cs typeface="Calibri" pitchFamily="34" charset="-120"/>
              </a:rPr>
              <a:t>usuarios conformados</a:t>
            </a:r>
            <a:endParaRPr lang="en-US" sz="1100" dirty="0">
              <a:latin typeface="Century Schoolbook" panose="02040604050505020304" pitchFamily="18" charset="0"/>
            </a:endParaRPr>
          </a:p>
        </p:txBody>
      </p:sp>
      <p:sp>
        <p:nvSpPr>
          <p:cNvPr id="28" name="Shape 25"/>
          <p:cNvSpPr/>
          <p:nvPr/>
        </p:nvSpPr>
        <p:spPr>
          <a:xfrm>
            <a:off x="6766560" y="3749040"/>
            <a:ext cx="1920240" cy="868680"/>
          </a:xfrm>
          <a:prstGeom prst="roundRect">
            <a:avLst>
              <a:gd name="adj" fmla="val 12632"/>
            </a:avLst>
          </a:prstGeom>
          <a:solidFill>
            <a:srgbClr val="24483A"/>
          </a:solidFill>
          <a:ln w="12700">
            <a:solidFill>
              <a:srgbClr val="24483A"/>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9" name="Text 26"/>
          <p:cNvSpPr txBox="1"/>
          <p:nvPr/>
        </p:nvSpPr>
        <p:spPr>
          <a:xfrm>
            <a:off x="6766560" y="3794760"/>
            <a:ext cx="1920240" cy="457200"/>
          </a:xfrm>
          <a:prstGeom prst="rect">
            <a:avLst/>
          </a:prstGeom>
          <a:noFill/>
          <a:ln/>
        </p:spPr>
        <p:txBody>
          <a:bodyPr wrap="square" lIns="0" tIns="0" rIns="0" bIns="0" rtlCol="0" anchor="ctr"/>
          <a:lstStyle/>
          <a:p>
            <a:pPr marL="0" indent="0" algn="ctr">
              <a:buNone/>
            </a:pPr>
            <a:r>
              <a:rPr lang="en-US" sz="2000" b="1" dirty="0">
                <a:solidFill>
                  <a:srgbClr val="FADCE7"/>
                </a:solidFill>
                <a:latin typeface="Century Schoolbook" panose="02040604050505020304" pitchFamily="18" charset="0"/>
                <a:ea typeface="Cambria" pitchFamily="34" charset="-122"/>
                <a:cs typeface="Cambria" pitchFamily="34" charset="-120"/>
              </a:rPr>
              <a:t>1,718,037</a:t>
            </a:r>
            <a:endParaRPr lang="en-US" sz="2000" dirty="0">
              <a:latin typeface="Century Schoolbook" panose="02040604050505020304" pitchFamily="18" charset="0"/>
            </a:endParaRPr>
          </a:p>
        </p:txBody>
      </p:sp>
      <p:sp>
        <p:nvSpPr>
          <p:cNvPr id="30" name="Text 27"/>
          <p:cNvSpPr txBox="1"/>
          <p:nvPr/>
        </p:nvSpPr>
        <p:spPr>
          <a:xfrm>
            <a:off x="6766560" y="4251960"/>
            <a:ext cx="1920240" cy="274320"/>
          </a:xfrm>
          <a:prstGeom prst="rect">
            <a:avLst/>
          </a:prstGeom>
          <a:noFill/>
          <a:ln/>
        </p:spPr>
        <p:txBody>
          <a:bodyPr wrap="square" lIns="0" tIns="0" rIns="0" bIns="0" rtlCol="0" anchor="ctr"/>
          <a:lstStyle/>
          <a:p>
            <a:pPr marL="0" indent="0" algn="ctr">
              <a:buNone/>
            </a:pPr>
            <a:r>
              <a:rPr lang="en-US" sz="1100" dirty="0">
                <a:solidFill>
                  <a:srgbClr val="FFFFFF"/>
                </a:solidFill>
                <a:latin typeface="Century Schoolbook" panose="02040604050505020304" pitchFamily="18" charset="0"/>
                <a:ea typeface="Calibri" pitchFamily="34" charset="-122"/>
                <a:cs typeface="Calibri" pitchFamily="34" charset="-120"/>
              </a:rPr>
              <a:t>registros en Gold</a:t>
            </a:r>
            <a:endParaRPr lang="en-US" sz="1100" dirty="0">
              <a:latin typeface="Century Schoolbook" panose="02040604050505020304" pitchFamily="18" charset="0"/>
            </a:endParaRPr>
          </a:p>
        </p:txBody>
      </p:sp>
      <p:sp>
        <p:nvSpPr>
          <p:cNvPr id="2"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latin typeface="Century Schoolbook" panose="02040604050505020304" pitchFamily="18" charset="0"/>
              </a:rPr>
              <a:t>9</a:t>
            </a:fld>
            <a:endParaRPr lang="en-US">
              <a:latin typeface="Century Schoolbook" panose="020406040505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Orquestación e idempotencia</a:t>
            </a:r>
            <a:endParaRPr lang="en-US" sz="3200" dirty="0"/>
          </a:p>
        </p:txBody>
      </p:sp>
      <p:sp>
        <p:nvSpPr>
          <p:cNvPr id="4" name="Text 1"/>
          <p:cNvSpPr txBox="1"/>
          <p:nvPr/>
        </p:nvSpPr>
        <p:spPr>
          <a:xfrm>
            <a:off x="457200" y="1143000"/>
            <a:ext cx="3657600" cy="32004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Flujo en Prefect</a:t>
            </a:r>
            <a:endParaRPr lang="en-US" sz="1600" dirty="0">
              <a:latin typeface="Century Schoolbook" panose="02040604050505020304" pitchFamily="18" charset="0"/>
            </a:endParaRPr>
          </a:p>
        </p:txBody>
      </p:sp>
      <p:sp>
        <p:nvSpPr>
          <p:cNvPr id="5" name="Shape 2"/>
          <p:cNvSpPr/>
          <p:nvPr/>
        </p:nvSpPr>
        <p:spPr>
          <a:xfrm>
            <a:off x="457200" y="1554480"/>
            <a:ext cx="3566160" cy="512064"/>
          </a:xfrm>
          <a:prstGeom prst="roundRect">
            <a:avLst>
              <a:gd name="adj" fmla="val 2142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6" name="Shape 3"/>
          <p:cNvSpPr/>
          <p:nvPr/>
        </p:nvSpPr>
        <p:spPr>
          <a:xfrm>
            <a:off x="566928" y="1627632"/>
            <a:ext cx="365760" cy="365760"/>
          </a:xfrm>
          <a:prstGeom prst="ellipse">
            <a:avLst/>
          </a:prstGeom>
          <a:solidFill>
            <a:srgbClr val="3E8E6B"/>
          </a:solidFill>
          <a:ln w="12700">
            <a:solidFill>
              <a:srgbClr val="FFFFFF"/>
            </a:solidFill>
            <a:prstDash val="solid"/>
          </a:ln>
        </p:spPr>
        <p:txBody>
          <a:bodyPr/>
          <a:lstStyle/>
          <a:p>
            <a:endParaRPr lang="es-GT">
              <a:latin typeface="Century Schoolbook" panose="02040604050505020304" pitchFamily="18" charset="0"/>
            </a:endParaRPr>
          </a:p>
        </p:txBody>
      </p:sp>
      <p:sp>
        <p:nvSpPr>
          <p:cNvPr id="7" name="Text 4"/>
          <p:cNvSpPr txBox="1"/>
          <p:nvPr/>
        </p:nvSpPr>
        <p:spPr>
          <a:xfrm>
            <a:off x="566928" y="1627632"/>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mbria" pitchFamily="34" charset="-122"/>
                <a:cs typeface="Cambria" pitchFamily="34" charset="-120"/>
              </a:rPr>
              <a:t>1</a:t>
            </a:r>
            <a:endParaRPr lang="en-US" sz="1300" dirty="0">
              <a:latin typeface="Century Schoolbook" panose="02040604050505020304" pitchFamily="18" charset="0"/>
            </a:endParaRPr>
          </a:p>
        </p:txBody>
      </p:sp>
      <p:sp>
        <p:nvSpPr>
          <p:cNvPr id="8" name="Text 5"/>
          <p:cNvSpPr txBox="1"/>
          <p:nvPr/>
        </p:nvSpPr>
        <p:spPr>
          <a:xfrm>
            <a:off x="1097280" y="1554480"/>
            <a:ext cx="2834640" cy="512064"/>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Ingesta a Bronze</a:t>
            </a:r>
            <a:endParaRPr lang="en-US" sz="1250" dirty="0">
              <a:latin typeface="Century Schoolbook" panose="02040604050505020304" pitchFamily="18" charset="0"/>
            </a:endParaRPr>
          </a:p>
        </p:txBody>
      </p:sp>
      <p:sp>
        <p:nvSpPr>
          <p:cNvPr id="9" name="Shape 6"/>
          <p:cNvSpPr/>
          <p:nvPr/>
        </p:nvSpPr>
        <p:spPr>
          <a:xfrm>
            <a:off x="457200" y="2176272"/>
            <a:ext cx="3566160" cy="512064"/>
          </a:xfrm>
          <a:prstGeom prst="roundRect">
            <a:avLst>
              <a:gd name="adj" fmla="val 2142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0" name="Shape 7"/>
          <p:cNvSpPr/>
          <p:nvPr/>
        </p:nvSpPr>
        <p:spPr>
          <a:xfrm>
            <a:off x="566928" y="2249424"/>
            <a:ext cx="365760" cy="365760"/>
          </a:xfrm>
          <a:prstGeom prst="ellipse">
            <a:avLst/>
          </a:prstGeom>
          <a:solidFill>
            <a:srgbClr val="D94F86"/>
          </a:solidFill>
          <a:ln w="12700">
            <a:solidFill>
              <a:srgbClr val="FFFFFF"/>
            </a:solidFill>
            <a:prstDash val="solid"/>
          </a:ln>
        </p:spPr>
        <p:txBody>
          <a:bodyPr/>
          <a:lstStyle/>
          <a:p>
            <a:endParaRPr lang="es-GT">
              <a:latin typeface="Century Schoolbook" panose="02040604050505020304" pitchFamily="18" charset="0"/>
            </a:endParaRPr>
          </a:p>
        </p:txBody>
      </p:sp>
      <p:sp>
        <p:nvSpPr>
          <p:cNvPr id="11" name="Text 8"/>
          <p:cNvSpPr txBox="1"/>
          <p:nvPr/>
        </p:nvSpPr>
        <p:spPr>
          <a:xfrm>
            <a:off x="566928" y="2249424"/>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mbria" pitchFamily="34" charset="-122"/>
                <a:cs typeface="Cambria" pitchFamily="34" charset="-120"/>
              </a:rPr>
              <a:t>2</a:t>
            </a:r>
            <a:endParaRPr lang="en-US" sz="1300" dirty="0">
              <a:latin typeface="Century Schoolbook" panose="02040604050505020304" pitchFamily="18" charset="0"/>
            </a:endParaRPr>
          </a:p>
        </p:txBody>
      </p:sp>
      <p:sp>
        <p:nvSpPr>
          <p:cNvPr id="12" name="Text 9"/>
          <p:cNvSpPr txBox="1"/>
          <p:nvPr/>
        </p:nvSpPr>
        <p:spPr>
          <a:xfrm>
            <a:off x="1097280" y="2176272"/>
            <a:ext cx="2834640" cy="512064"/>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Carga de Staging</a:t>
            </a:r>
            <a:endParaRPr lang="en-US" sz="1250" dirty="0">
              <a:latin typeface="Century Schoolbook" panose="02040604050505020304" pitchFamily="18" charset="0"/>
            </a:endParaRPr>
          </a:p>
        </p:txBody>
      </p:sp>
      <p:sp>
        <p:nvSpPr>
          <p:cNvPr id="13" name="Shape 10"/>
          <p:cNvSpPr/>
          <p:nvPr/>
        </p:nvSpPr>
        <p:spPr>
          <a:xfrm>
            <a:off x="457200" y="2798064"/>
            <a:ext cx="3566160" cy="512064"/>
          </a:xfrm>
          <a:prstGeom prst="roundRect">
            <a:avLst>
              <a:gd name="adj" fmla="val 2142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4" name="Shape 11"/>
          <p:cNvSpPr/>
          <p:nvPr/>
        </p:nvSpPr>
        <p:spPr>
          <a:xfrm>
            <a:off x="566928" y="2871216"/>
            <a:ext cx="365760" cy="365760"/>
          </a:xfrm>
          <a:prstGeom prst="ellipse">
            <a:avLst/>
          </a:prstGeom>
          <a:solidFill>
            <a:srgbClr val="3E8E6B"/>
          </a:solidFill>
          <a:ln w="12700">
            <a:solidFill>
              <a:srgbClr val="FFFFFF"/>
            </a:solidFill>
            <a:prstDash val="solid"/>
          </a:ln>
        </p:spPr>
        <p:txBody>
          <a:bodyPr/>
          <a:lstStyle/>
          <a:p>
            <a:endParaRPr lang="es-GT">
              <a:latin typeface="Century Schoolbook" panose="02040604050505020304" pitchFamily="18" charset="0"/>
            </a:endParaRPr>
          </a:p>
        </p:txBody>
      </p:sp>
      <p:sp>
        <p:nvSpPr>
          <p:cNvPr id="15" name="Text 12"/>
          <p:cNvSpPr txBox="1"/>
          <p:nvPr/>
        </p:nvSpPr>
        <p:spPr>
          <a:xfrm>
            <a:off x="566928" y="28712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mbria" pitchFamily="34" charset="-122"/>
                <a:cs typeface="Cambria" pitchFamily="34" charset="-120"/>
              </a:rPr>
              <a:t>3</a:t>
            </a:r>
            <a:endParaRPr lang="en-US" sz="1300" dirty="0">
              <a:latin typeface="Century Schoolbook" panose="02040604050505020304" pitchFamily="18" charset="0"/>
            </a:endParaRPr>
          </a:p>
        </p:txBody>
      </p:sp>
      <p:sp>
        <p:nvSpPr>
          <p:cNvPr id="16" name="Text 13"/>
          <p:cNvSpPr txBox="1"/>
          <p:nvPr/>
        </p:nvSpPr>
        <p:spPr>
          <a:xfrm>
            <a:off x="1097280" y="2798064"/>
            <a:ext cx="2834640" cy="512064"/>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dbt build (modelos y pruebas)</a:t>
            </a:r>
            <a:endParaRPr lang="en-US" sz="1250" dirty="0">
              <a:latin typeface="Century Schoolbook" panose="02040604050505020304" pitchFamily="18" charset="0"/>
            </a:endParaRPr>
          </a:p>
        </p:txBody>
      </p:sp>
      <p:sp>
        <p:nvSpPr>
          <p:cNvPr id="17" name="Shape 14"/>
          <p:cNvSpPr/>
          <p:nvPr/>
        </p:nvSpPr>
        <p:spPr>
          <a:xfrm>
            <a:off x="457200" y="3419856"/>
            <a:ext cx="3566160" cy="512064"/>
          </a:xfrm>
          <a:prstGeom prst="roundRect">
            <a:avLst>
              <a:gd name="adj" fmla="val 2142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8" name="Shape 15"/>
          <p:cNvSpPr/>
          <p:nvPr/>
        </p:nvSpPr>
        <p:spPr>
          <a:xfrm>
            <a:off x="566928" y="3493008"/>
            <a:ext cx="365760" cy="365760"/>
          </a:xfrm>
          <a:prstGeom prst="ellipse">
            <a:avLst/>
          </a:prstGeom>
          <a:solidFill>
            <a:srgbClr val="D94F86"/>
          </a:solidFill>
          <a:ln w="12700">
            <a:solidFill>
              <a:srgbClr val="FFFFFF"/>
            </a:solidFill>
            <a:prstDash val="solid"/>
          </a:ln>
        </p:spPr>
        <p:txBody>
          <a:bodyPr/>
          <a:lstStyle/>
          <a:p>
            <a:endParaRPr lang="es-GT">
              <a:latin typeface="Century Schoolbook" panose="02040604050505020304" pitchFamily="18" charset="0"/>
            </a:endParaRPr>
          </a:p>
        </p:txBody>
      </p:sp>
      <p:sp>
        <p:nvSpPr>
          <p:cNvPr id="19" name="Text 16"/>
          <p:cNvSpPr txBox="1"/>
          <p:nvPr/>
        </p:nvSpPr>
        <p:spPr>
          <a:xfrm>
            <a:off x="566928" y="3493008"/>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mbria" pitchFamily="34" charset="-122"/>
                <a:cs typeface="Cambria" pitchFamily="34" charset="-120"/>
              </a:rPr>
              <a:t>4</a:t>
            </a:r>
            <a:endParaRPr lang="en-US" sz="1300" dirty="0">
              <a:latin typeface="Century Schoolbook" panose="02040604050505020304" pitchFamily="18" charset="0"/>
            </a:endParaRPr>
          </a:p>
        </p:txBody>
      </p:sp>
      <p:sp>
        <p:nvSpPr>
          <p:cNvPr id="20" name="Text 17"/>
          <p:cNvSpPr txBox="1"/>
          <p:nvPr/>
        </p:nvSpPr>
        <p:spPr>
          <a:xfrm>
            <a:off x="1097280" y="3419856"/>
            <a:ext cx="2834640" cy="512064"/>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Registro de auditoría</a:t>
            </a:r>
            <a:endParaRPr lang="en-US" sz="1250" dirty="0">
              <a:latin typeface="Century Schoolbook" panose="02040604050505020304" pitchFamily="18" charset="0"/>
            </a:endParaRPr>
          </a:p>
        </p:txBody>
      </p:sp>
      <p:sp>
        <p:nvSpPr>
          <p:cNvPr id="21" name="Shape 18"/>
          <p:cNvSpPr/>
          <p:nvPr/>
        </p:nvSpPr>
        <p:spPr>
          <a:xfrm>
            <a:off x="457200" y="4041648"/>
            <a:ext cx="3566160" cy="512064"/>
          </a:xfrm>
          <a:prstGeom prst="roundRect">
            <a:avLst>
              <a:gd name="adj" fmla="val 21429"/>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2" name="Shape 19"/>
          <p:cNvSpPr/>
          <p:nvPr/>
        </p:nvSpPr>
        <p:spPr>
          <a:xfrm>
            <a:off x="566928" y="4114800"/>
            <a:ext cx="365760" cy="365760"/>
          </a:xfrm>
          <a:prstGeom prst="ellipse">
            <a:avLst/>
          </a:prstGeom>
          <a:solidFill>
            <a:srgbClr val="3E8E6B"/>
          </a:solidFill>
          <a:ln w="12700">
            <a:solidFill>
              <a:srgbClr val="FFFFFF"/>
            </a:solidFill>
            <a:prstDash val="solid"/>
          </a:ln>
        </p:spPr>
        <p:txBody>
          <a:bodyPr/>
          <a:lstStyle/>
          <a:p>
            <a:endParaRPr lang="es-GT">
              <a:latin typeface="Century Schoolbook" panose="02040604050505020304" pitchFamily="18" charset="0"/>
            </a:endParaRPr>
          </a:p>
        </p:txBody>
      </p:sp>
      <p:sp>
        <p:nvSpPr>
          <p:cNvPr id="23" name="Text 20"/>
          <p:cNvSpPr txBox="1"/>
          <p:nvPr/>
        </p:nvSpPr>
        <p:spPr>
          <a:xfrm>
            <a:off x="566928" y="4114800"/>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entury Schoolbook" panose="02040604050505020304" pitchFamily="18" charset="0"/>
                <a:ea typeface="Cambria" pitchFamily="34" charset="-122"/>
                <a:cs typeface="Cambria" pitchFamily="34" charset="-120"/>
              </a:rPr>
              <a:t>5</a:t>
            </a:r>
            <a:endParaRPr lang="en-US" sz="1300" dirty="0">
              <a:latin typeface="Century Schoolbook" panose="02040604050505020304" pitchFamily="18" charset="0"/>
            </a:endParaRPr>
          </a:p>
        </p:txBody>
      </p:sp>
      <p:sp>
        <p:nvSpPr>
          <p:cNvPr id="24" name="Text 21"/>
          <p:cNvSpPr txBox="1"/>
          <p:nvPr/>
        </p:nvSpPr>
        <p:spPr>
          <a:xfrm>
            <a:off x="1097280" y="4041648"/>
            <a:ext cx="2834640" cy="512064"/>
          </a:xfrm>
          <a:prstGeom prst="rect">
            <a:avLst/>
          </a:prstGeom>
          <a:noFill/>
          <a:ln/>
        </p:spPr>
        <p:txBody>
          <a:bodyPr wrap="square" lIns="0" tIns="0" rIns="0" bIns="0" rtlCol="0" anchor="ctr"/>
          <a:lstStyle/>
          <a:p>
            <a:pPr marL="0" indent="0">
              <a:buNone/>
            </a:pPr>
            <a:r>
              <a:rPr lang="en-US" sz="1250" dirty="0">
                <a:solidFill>
                  <a:srgbClr val="2B2B2B"/>
                </a:solidFill>
                <a:latin typeface="Century Schoolbook" panose="02040604050505020304" pitchFamily="18" charset="0"/>
                <a:ea typeface="Calibri" pitchFamily="34" charset="-122"/>
                <a:cs typeface="Calibri" pitchFamily="34" charset="-120"/>
              </a:rPr>
              <a:t>Limpieza de Staging</a:t>
            </a:r>
            <a:endParaRPr lang="en-US" sz="1250" dirty="0">
              <a:latin typeface="Century Schoolbook" panose="02040604050505020304" pitchFamily="18" charset="0"/>
            </a:endParaRPr>
          </a:p>
        </p:txBody>
      </p:sp>
      <p:sp>
        <p:nvSpPr>
          <p:cNvPr id="25" name="Text 22"/>
          <p:cNvSpPr txBox="1"/>
          <p:nvPr/>
        </p:nvSpPr>
        <p:spPr>
          <a:xfrm>
            <a:off x="4297680" y="1143000"/>
            <a:ext cx="4389120" cy="320040"/>
          </a:xfrm>
          <a:prstGeom prst="rect">
            <a:avLst/>
          </a:prstGeom>
          <a:noFill/>
          <a:ln/>
        </p:spPr>
        <p:txBody>
          <a:bodyPr wrap="square" lIns="0" tIns="0" rIns="0" bIns="0" rtlCol="0" anchor="ctr"/>
          <a:lstStyle/>
          <a:p>
            <a:pPr marL="0" indent="0">
              <a:buNone/>
            </a:pPr>
            <a:r>
              <a:rPr lang="en-US" sz="1600" b="1" dirty="0">
                <a:solidFill>
                  <a:srgbClr val="24483A"/>
                </a:solidFill>
                <a:latin typeface="Century Schoolbook" panose="02040604050505020304" pitchFamily="18" charset="0"/>
                <a:ea typeface="Cambria" pitchFamily="34" charset="-122"/>
                <a:cs typeface="Cambria" pitchFamily="34" charset="-120"/>
              </a:rPr>
              <a:t>Dos corridas, mismos conteos</a:t>
            </a:r>
            <a:endParaRPr lang="en-US" sz="1600" dirty="0">
              <a:latin typeface="Century Schoolbook" panose="02040604050505020304" pitchFamily="18" charset="0"/>
            </a:endParaRPr>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297680" y="1554480"/>
          <a:ext cx="4389120" cy="2194560"/>
        </p:xfrm>
        <a:graphic>
          <a:graphicData uri="http://schemas.openxmlformats.org/drawingml/2006/table">
            <a:tbl>
              <a:tblPr/>
              <a:tblGrid>
                <a:gridCol w="137160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508760">
                  <a:extLst>
                    <a:ext uri="{9D8B030D-6E8A-4147-A177-3AD203B41FA5}">
                      <a16:colId xmlns:a16="http://schemas.microsoft.com/office/drawing/2014/main" val="20002"/>
                    </a:ext>
                  </a:extLst>
                </a:gridCol>
              </a:tblGrid>
              <a:tr h="36576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Capa</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8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Corrida 1</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83A"/>
                    </a:solidFill>
                  </a:tcPr>
                </a:tc>
                <a:tc>
                  <a:txBody>
                    <a:bodyPr/>
                    <a:lstStyle/>
                    <a:p>
                      <a:pPr marL="0" indent="0" algn="ctr">
                        <a:buNone/>
                      </a:pPr>
                      <a:r>
                        <a:rPr lang="en-US" sz="1200" b="1" dirty="0">
                          <a:solidFill>
                            <a:srgbClr val="FFFFFF"/>
                          </a:solidFill>
                          <a:latin typeface="Calibri" pitchFamily="34" charset="0"/>
                          <a:ea typeface="Calibri" pitchFamily="34" charset="-122"/>
                          <a:cs typeface="Calibri" pitchFamily="34" charset="-120"/>
                        </a:rPr>
                        <a:t>Corrida 2</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24483A"/>
                    </a:solidFill>
                  </a:tcPr>
                </a:tc>
                <a:extLst>
                  <a:ext uri="{0D108BD9-81ED-4DB2-BD59-A6C34878D82A}">
                    <a16:rowId xmlns:a16="http://schemas.microsoft.com/office/drawing/2014/main" val="10000"/>
                  </a:ext>
                </a:extLst>
              </a:tr>
              <a:tr h="365760">
                <a:tc>
                  <a:txBody>
                    <a:bodyPr/>
                    <a:lstStyle/>
                    <a:p>
                      <a:pPr marL="0" indent="0" algn="l">
                        <a:buNone/>
                      </a:pPr>
                      <a:r>
                        <a:rPr lang="en-US" sz="1200" b="1" dirty="0">
                          <a:solidFill>
                            <a:srgbClr val="2B2B2B"/>
                          </a:solidFill>
                          <a:latin typeface="Calibri" pitchFamily="34" charset="0"/>
                          <a:ea typeface="Calibri" pitchFamily="34" charset="-122"/>
                          <a:cs typeface="Calibri" pitchFamily="34" charset="-120"/>
                        </a:rPr>
                        <a:t>Staging</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1,730,184</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1,730,184</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200" b="1" dirty="0">
                          <a:solidFill>
                            <a:srgbClr val="2B2B2B"/>
                          </a:solidFill>
                          <a:latin typeface="Calibri" pitchFamily="34" charset="0"/>
                          <a:ea typeface="Calibri" pitchFamily="34" charset="-122"/>
                          <a:cs typeface="Calibri" pitchFamily="34" charset="-120"/>
                        </a:rPr>
                        <a:t>Silver</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DCE7"/>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1,919,887</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DCE7"/>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1,919,887</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DCE7"/>
                    </a:solidFill>
                  </a:tcPr>
                </a:tc>
                <a:extLst>
                  <a:ext uri="{0D108BD9-81ED-4DB2-BD59-A6C34878D82A}">
                    <a16:rowId xmlns:a16="http://schemas.microsoft.com/office/drawing/2014/main" val="10002"/>
                  </a:ext>
                </a:extLst>
              </a:tr>
              <a:tr h="365760">
                <a:tc>
                  <a:txBody>
                    <a:bodyPr/>
                    <a:lstStyle/>
                    <a:p>
                      <a:pPr marL="0" indent="0" algn="l">
                        <a:buNone/>
                      </a:pPr>
                      <a:r>
                        <a:rPr lang="en-US" sz="1200" b="1" dirty="0">
                          <a:solidFill>
                            <a:srgbClr val="2B2B2B"/>
                          </a:solidFill>
                          <a:latin typeface="Calibri" pitchFamily="34" charset="0"/>
                          <a:ea typeface="Calibri" pitchFamily="34" charset="-122"/>
                          <a:cs typeface="Calibri" pitchFamily="34" charset="-120"/>
                        </a:rPr>
                        <a:t>Gold</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1,718,037</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1,718,037</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200" b="1" dirty="0">
                          <a:solidFill>
                            <a:srgbClr val="2B2B2B"/>
                          </a:solidFill>
                          <a:latin typeface="Calibri" pitchFamily="34" charset="0"/>
                          <a:ea typeface="Calibri" pitchFamily="34" charset="-122"/>
                          <a:cs typeface="Calibri" pitchFamily="34" charset="-120"/>
                        </a:rPr>
                        <a:t>Cuarentena</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DCE7"/>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18,431</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DCE7"/>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18,431</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ADCE7"/>
                    </a:solidFill>
                  </a:tcPr>
                </a:tc>
                <a:extLst>
                  <a:ext uri="{0D108BD9-81ED-4DB2-BD59-A6C34878D82A}">
                    <a16:rowId xmlns:a16="http://schemas.microsoft.com/office/drawing/2014/main" val="10004"/>
                  </a:ext>
                </a:extLst>
              </a:tr>
              <a:tr h="365760">
                <a:tc>
                  <a:txBody>
                    <a:bodyPr/>
                    <a:lstStyle/>
                    <a:p>
                      <a:pPr marL="0" indent="0" algn="l">
                        <a:buNone/>
                      </a:pPr>
                      <a:r>
                        <a:rPr lang="en-US" sz="1200" b="1" dirty="0">
                          <a:solidFill>
                            <a:srgbClr val="2B2B2B"/>
                          </a:solidFill>
                          <a:latin typeface="Calibri" pitchFamily="34" charset="0"/>
                          <a:ea typeface="Calibri" pitchFamily="34" charset="-122"/>
                          <a:cs typeface="Calibri" pitchFamily="34" charset="-120"/>
                        </a:rPr>
                        <a:t>Duración</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71.28 s</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2B2B2B"/>
                          </a:solidFill>
                          <a:latin typeface="Calibri" pitchFamily="34" charset="0"/>
                          <a:ea typeface="Calibri" pitchFamily="34" charset="-122"/>
                          <a:cs typeface="Calibri" pitchFamily="34" charset="-120"/>
                        </a:rPr>
                        <a:t>72.60 s</a:t>
                      </a:r>
                      <a:endParaRPr lang="en-US" sz="1200" dirty="0">
                        <a:latin typeface="Calibri" charset="0"/>
                        <a:ea typeface="Calibri" charset="0"/>
                        <a:cs typeface="Calibri" charset="0"/>
                      </a:endParaRPr>
                    </a:p>
                  </a:txBody>
                  <a:tcP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7" name="Shape 23"/>
          <p:cNvSpPr/>
          <p:nvPr/>
        </p:nvSpPr>
        <p:spPr>
          <a:xfrm>
            <a:off x="4297680" y="3931920"/>
            <a:ext cx="4389120" cy="685800"/>
          </a:xfrm>
          <a:prstGeom prst="roundRect">
            <a:avLst>
              <a:gd name="adj" fmla="val 16000"/>
            </a:avLst>
          </a:prstGeom>
          <a:solidFill>
            <a:srgbClr val="CFE8D8"/>
          </a:solidFill>
          <a:ln w="12700">
            <a:solidFill>
              <a:srgbClr val="CFE8D8"/>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8" name="Shape 24"/>
          <p:cNvSpPr/>
          <p:nvPr/>
        </p:nvSpPr>
        <p:spPr>
          <a:xfrm>
            <a:off x="4434840" y="4023360"/>
            <a:ext cx="502920" cy="50292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29" name="Image 0" descr="preencoded.png"/>
          <p:cNvPicPr>
            <a:picLocks noChangeAspect="1"/>
          </p:cNvPicPr>
          <p:nvPr/>
        </p:nvPicPr>
        <p:blipFill>
          <a:blip r:embed="rId3"/>
          <a:stretch>
            <a:fillRect/>
          </a:stretch>
        </p:blipFill>
        <p:spPr>
          <a:xfrm>
            <a:off x="4560570" y="4149090"/>
            <a:ext cx="251460" cy="251460"/>
          </a:xfrm>
          <a:prstGeom prst="rect">
            <a:avLst/>
          </a:prstGeom>
        </p:spPr>
      </p:pic>
      <p:sp>
        <p:nvSpPr>
          <p:cNvPr id="30" name="Text 25"/>
          <p:cNvSpPr txBox="1"/>
          <p:nvPr/>
        </p:nvSpPr>
        <p:spPr>
          <a:xfrm>
            <a:off x="5074920" y="3931920"/>
            <a:ext cx="3520440" cy="685800"/>
          </a:xfrm>
          <a:prstGeom prst="rect">
            <a:avLst/>
          </a:prstGeom>
          <a:noFill/>
          <a:ln/>
        </p:spPr>
        <p:txBody>
          <a:bodyPr wrap="square" lIns="0" tIns="0" rIns="0" bIns="0" rtlCol="0" anchor="ctr"/>
          <a:lstStyle/>
          <a:p>
            <a:pPr marL="0" indent="0">
              <a:buNone/>
            </a:pPr>
            <a:r>
              <a:rPr lang="en-US" sz="1300" b="1" dirty="0">
                <a:solidFill>
                  <a:srgbClr val="24483A"/>
                </a:solidFill>
                <a:latin typeface="Century Schoolbook" panose="02040604050505020304" pitchFamily="18" charset="0"/>
                <a:ea typeface="Calibri" pitchFamily="34" charset="-122"/>
                <a:cs typeface="Calibri" pitchFamily="34" charset="-120"/>
              </a:rPr>
              <a:t>dbt: 79 pruebas · PASS 79 · WARN 0 · ERROR 0</a:t>
            </a:r>
            <a:endParaRPr lang="en-US" sz="1300" dirty="0">
              <a:latin typeface="Century Schoolbook" panose="02040604050505020304" pitchFamily="18" charset="0"/>
            </a:endParaRPr>
          </a:p>
        </p:txBody>
      </p:sp>
      <p:sp>
        <p:nvSpPr>
          <p:cNvPr id="26"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Almacenamiento por capa</a:t>
            </a:r>
            <a:endParaRPr lang="en-US" sz="3200" dirty="0"/>
          </a:p>
        </p:txBody>
      </p:sp>
      <p:sp>
        <p:nvSpPr>
          <p:cNvPr id="4" name="Shape 1"/>
          <p:cNvSpPr/>
          <p:nvPr/>
        </p:nvSpPr>
        <p:spPr>
          <a:xfrm>
            <a:off x="457200" y="1188720"/>
            <a:ext cx="5212080" cy="3429000"/>
          </a:xfrm>
          <a:prstGeom prst="roundRect">
            <a:avLst>
              <a:gd name="adj" fmla="val 3200"/>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graphicFrame>
        <p:nvGraphicFramePr>
          <p:cNvPr id="5" name="Chart 0"/>
          <p:cNvGraphicFramePr/>
          <p:nvPr>
            <p:extLst>
              <p:ext uri="{D42A27DB-BD31-4B8C-83A1-F6EECF244321}">
                <p14:modId xmlns:p14="http://schemas.microsoft.com/office/powerpoint/2010/main" val="966768714"/>
              </p:ext>
            </p:extLst>
          </p:nvPr>
        </p:nvGraphicFramePr>
        <p:xfrm>
          <a:off x="548640" y="1280160"/>
          <a:ext cx="502920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2"/>
          <p:cNvSpPr/>
          <p:nvPr/>
        </p:nvSpPr>
        <p:spPr>
          <a:xfrm>
            <a:off x="5897880" y="1188720"/>
            <a:ext cx="2788920" cy="1051560"/>
          </a:xfrm>
          <a:prstGeom prst="roundRect">
            <a:avLst>
              <a:gd name="adj" fmla="val 1043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7" name="Text 3"/>
          <p:cNvSpPr txBox="1"/>
          <p:nvPr/>
        </p:nvSpPr>
        <p:spPr>
          <a:xfrm>
            <a:off x="6080760" y="1188720"/>
            <a:ext cx="2514600" cy="1051560"/>
          </a:xfrm>
          <a:prstGeom prst="rect">
            <a:avLst/>
          </a:prstGeom>
          <a:noFill/>
          <a:ln/>
        </p:spPr>
        <p:txBody>
          <a:bodyPr wrap="square" lIns="0" tIns="0" rIns="0" bIns="0" rtlCol="0" anchor="ctr"/>
          <a:lstStyle/>
          <a:p>
            <a:pPr marL="0" indent="0">
              <a:buNone/>
            </a:pPr>
            <a:r>
              <a:rPr lang="en-US" sz="1500" b="1" dirty="0">
                <a:solidFill>
                  <a:srgbClr val="3E8E6B"/>
                </a:solidFill>
                <a:latin typeface="Century Schoolbook" panose="02040604050505020304" pitchFamily="18" charset="0"/>
                <a:ea typeface="Cambria" pitchFamily="34" charset="-122"/>
                <a:cs typeface="Cambria" pitchFamily="34" charset="-120"/>
              </a:rPr>
              <a:t>Bronze: 67 MB</a:t>
            </a:r>
            <a:endParaRPr lang="en-US" sz="1500" dirty="0">
              <a:latin typeface="Century Schoolbook" panose="02040604050505020304" pitchFamily="18" charset="0"/>
            </a:endParaRPr>
          </a:p>
          <a:p>
            <a:pPr marL="0" indent="0">
              <a:buNone/>
            </a:pPr>
            <a:r>
              <a:rPr lang="en-US" sz="1150" dirty="0">
                <a:solidFill>
                  <a:srgbClr val="2B2B2B"/>
                </a:solidFill>
                <a:latin typeface="Century Schoolbook" panose="02040604050505020304" pitchFamily="18" charset="0"/>
                <a:ea typeface="Calibri" pitchFamily="34" charset="-122"/>
                <a:cs typeface="Calibri" pitchFamily="34" charset="-120"/>
              </a:rPr>
              <a:t>Vive en el sistema de archivos, no en PostgreSQL.</a:t>
            </a:r>
            <a:endParaRPr lang="en-US" sz="1500" dirty="0">
              <a:latin typeface="Century Schoolbook" panose="02040604050505020304" pitchFamily="18" charset="0"/>
            </a:endParaRPr>
          </a:p>
        </p:txBody>
      </p:sp>
      <p:sp>
        <p:nvSpPr>
          <p:cNvPr id="8" name="Shape 4"/>
          <p:cNvSpPr/>
          <p:nvPr/>
        </p:nvSpPr>
        <p:spPr>
          <a:xfrm>
            <a:off x="5897880" y="2377440"/>
            <a:ext cx="2788920" cy="1051560"/>
          </a:xfrm>
          <a:prstGeom prst="roundRect">
            <a:avLst>
              <a:gd name="adj" fmla="val 1043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9" name="Text 5"/>
          <p:cNvSpPr txBox="1"/>
          <p:nvPr/>
        </p:nvSpPr>
        <p:spPr>
          <a:xfrm>
            <a:off x="6080760" y="2377440"/>
            <a:ext cx="2514600" cy="1051560"/>
          </a:xfrm>
          <a:prstGeom prst="rect">
            <a:avLst/>
          </a:prstGeom>
          <a:noFill/>
          <a:ln/>
        </p:spPr>
        <p:txBody>
          <a:bodyPr wrap="square" lIns="0" tIns="0" rIns="0" bIns="0" rtlCol="0" anchor="ctr"/>
          <a:lstStyle/>
          <a:p>
            <a:pPr marL="0" indent="0">
              <a:buNone/>
            </a:pPr>
            <a:r>
              <a:rPr lang="en-US" sz="1500" b="1" dirty="0">
                <a:solidFill>
                  <a:srgbClr val="D94F86"/>
                </a:solidFill>
                <a:latin typeface="Century Schoolbook" panose="02040604050505020304" pitchFamily="18" charset="0"/>
                <a:ea typeface="Cambria" pitchFamily="34" charset="-122"/>
                <a:cs typeface="Cambria" pitchFamily="34" charset="-120"/>
              </a:rPr>
              <a:t>Staging: 431 MB</a:t>
            </a:r>
            <a:endParaRPr lang="en-US" sz="1500" dirty="0">
              <a:latin typeface="Century Schoolbook" panose="02040604050505020304" pitchFamily="18" charset="0"/>
            </a:endParaRPr>
          </a:p>
          <a:p>
            <a:pPr marL="0" indent="0">
              <a:buNone/>
            </a:pPr>
            <a:r>
              <a:rPr lang="en-US" sz="1150" dirty="0">
                <a:solidFill>
                  <a:srgbClr val="2B2B2B"/>
                </a:solidFill>
                <a:latin typeface="Century Schoolbook" panose="02040604050505020304" pitchFamily="18" charset="0"/>
                <a:ea typeface="Calibri" pitchFamily="34" charset="-122"/>
                <a:cs typeface="Calibri" pitchFamily="34" charset="-120"/>
              </a:rPr>
              <a:t>La más grande, pero temporal: se vacía en cada corrida.</a:t>
            </a:r>
            <a:endParaRPr lang="en-US" sz="1500" dirty="0">
              <a:latin typeface="Century Schoolbook" panose="02040604050505020304" pitchFamily="18" charset="0"/>
            </a:endParaRPr>
          </a:p>
        </p:txBody>
      </p:sp>
      <p:sp>
        <p:nvSpPr>
          <p:cNvPr id="10" name="Shape 6"/>
          <p:cNvSpPr/>
          <p:nvPr/>
        </p:nvSpPr>
        <p:spPr>
          <a:xfrm>
            <a:off x="5897880" y="3566160"/>
            <a:ext cx="2788920" cy="1051560"/>
          </a:xfrm>
          <a:prstGeom prst="roundRect">
            <a:avLst>
              <a:gd name="adj" fmla="val 10435"/>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1" name="Text 7"/>
          <p:cNvSpPr txBox="1"/>
          <p:nvPr/>
        </p:nvSpPr>
        <p:spPr>
          <a:xfrm>
            <a:off x="6080760" y="3566160"/>
            <a:ext cx="2514600" cy="1051560"/>
          </a:xfrm>
          <a:prstGeom prst="rect">
            <a:avLst/>
          </a:prstGeom>
          <a:noFill/>
          <a:ln/>
        </p:spPr>
        <p:txBody>
          <a:bodyPr wrap="square" lIns="0" tIns="0" rIns="0" bIns="0" rtlCol="0" anchor="ctr"/>
          <a:lstStyle/>
          <a:p>
            <a:pPr marL="0" indent="0">
              <a:buNone/>
            </a:pPr>
            <a:r>
              <a:rPr lang="en-US" sz="1500" b="1" dirty="0">
                <a:solidFill>
                  <a:srgbClr val="3E8E6B"/>
                </a:solidFill>
                <a:latin typeface="Century Schoolbook" panose="02040604050505020304" pitchFamily="18" charset="0"/>
                <a:ea typeface="Cambria" pitchFamily="34" charset="-122"/>
                <a:cs typeface="Cambria" pitchFamily="34" charset="-120"/>
              </a:rPr>
              <a:t>Gold: 381 MB</a:t>
            </a:r>
            <a:endParaRPr lang="en-US" sz="1500" dirty="0">
              <a:latin typeface="Century Schoolbook" panose="02040604050505020304" pitchFamily="18" charset="0"/>
            </a:endParaRPr>
          </a:p>
          <a:p>
            <a:pPr marL="0" indent="0">
              <a:buNone/>
            </a:pPr>
            <a:r>
              <a:rPr lang="en-US" sz="1150" dirty="0">
                <a:solidFill>
                  <a:srgbClr val="2B2B2B"/>
                </a:solidFill>
                <a:latin typeface="Century Schoolbook" panose="02040604050505020304" pitchFamily="18" charset="0"/>
                <a:ea typeface="Calibri" pitchFamily="34" charset="-122"/>
                <a:cs typeface="Calibri" pitchFamily="34" charset="-120"/>
              </a:rPr>
              <a:t>Modelo dimensional listo para el análisis.</a:t>
            </a:r>
            <a:endParaRPr lang="en-US" sz="150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Gobernanza y seguridad</a:t>
            </a:r>
            <a:endParaRPr lang="en-US" sz="3200" dirty="0"/>
          </a:p>
        </p:txBody>
      </p:sp>
      <p:sp>
        <p:nvSpPr>
          <p:cNvPr id="4" name="Shape 1"/>
          <p:cNvSpPr/>
          <p:nvPr/>
        </p:nvSpPr>
        <p:spPr>
          <a:xfrm>
            <a:off x="457200" y="1188720"/>
            <a:ext cx="822960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Shape 2"/>
          <p:cNvSpPr/>
          <p:nvPr/>
        </p:nvSpPr>
        <p:spPr>
          <a:xfrm>
            <a:off x="640080" y="1298448"/>
            <a:ext cx="530352" cy="530352"/>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6" name="Image 0" descr="preencoded.png"/>
          <p:cNvPicPr>
            <a:picLocks noChangeAspect="1"/>
          </p:cNvPicPr>
          <p:nvPr/>
        </p:nvPicPr>
        <p:blipFill>
          <a:blip r:embed="rId3"/>
          <a:stretch>
            <a:fillRect/>
          </a:stretch>
        </p:blipFill>
        <p:spPr>
          <a:xfrm>
            <a:off x="772668" y="1431036"/>
            <a:ext cx="265176" cy="265176"/>
          </a:xfrm>
          <a:prstGeom prst="rect">
            <a:avLst/>
          </a:prstGeom>
        </p:spPr>
      </p:pic>
      <p:sp>
        <p:nvSpPr>
          <p:cNvPr id="7" name="Text 3"/>
          <p:cNvSpPr txBox="1"/>
          <p:nvPr/>
        </p:nvSpPr>
        <p:spPr>
          <a:xfrm>
            <a:off x="1371600" y="1188720"/>
            <a:ext cx="2468880" cy="749808"/>
          </a:xfrm>
          <a:prstGeom prst="rect">
            <a:avLst/>
          </a:prstGeom>
          <a:noFill/>
          <a:ln/>
        </p:spPr>
        <p:txBody>
          <a:bodyPr wrap="square" lIns="0" tIns="0" rIns="0" bIns="0" rtlCol="0" anchor="ctr"/>
          <a:lstStyle/>
          <a:p>
            <a:pPr marL="0" indent="0">
              <a:buNone/>
            </a:pPr>
            <a:r>
              <a:rPr lang="en-US" sz="1450" b="1" dirty="0">
                <a:solidFill>
                  <a:srgbClr val="24483A"/>
                </a:solidFill>
                <a:latin typeface="Century Schoolbook" panose="02040604050505020304" pitchFamily="18" charset="0"/>
                <a:ea typeface="Cambria" pitchFamily="34" charset="-122"/>
                <a:cs typeface="Cambria" pitchFamily="34" charset="-120"/>
              </a:rPr>
              <a:t>Definiciones oficiales</a:t>
            </a:r>
            <a:endParaRPr lang="en-US" sz="1450" dirty="0">
              <a:latin typeface="Century Schoolbook" panose="02040604050505020304" pitchFamily="18" charset="0"/>
            </a:endParaRPr>
          </a:p>
        </p:txBody>
      </p:sp>
      <p:sp>
        <p:nvSpPr>
          <p:cNvPr id="8" name="Text 4"/>
          <p:cNvSpPr txBox="1"/>
          <p:nvPr/>
        </p:nvSpPr>
        <p:spPr>
          <a:xfrm>
            <a:off x="3931920" y="1188720"/>
            <a:ext cx="4572000" cy="749808"/>
          </a:xfrm>
          <a:prstGeom prst="rect">
            <a:avLst/>
          </a:prstGeom>
          <a:noFill/>
          <a:ln/>
        </p:spPr>
        <p:txBody>
          <a:bodyPr wrap="square" lIns="0" tIns="0" rIns="0" bIns="0" rtlCol="0" anchor="ctr"/>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Abordaje, viaje de MetroRiel, usuario activo y registro inválido tienen una definición única.</a:t>
            </a:r>
            <a:endParaRPr lang="en-US" sz="1200" dirty="0">
              <a:latin typeface="Century Schoolbook" panose="02040604050505020304" pitchFamily="18" charset="0"/>
            </a:endParaRPr>
          </a:p>
        </p:txBody>
      </p:sp>
      <p:sp>
        <p:nvSpPr>
          <p:cNvPr id="9" name="Shape 5"/>
          <p:cNvSpPr/>
          <p:nvPr/>
        </p:nvSpPr>
        <p:spPr>
          <a:xfrm>
            <a:off x="457200" y="2057400"/>
            <a:ext cx="822960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0" name="Shape 6"/>
          <p:cNvSpPr/>
          <p:nvPr/>
        </p:nvSpPr>
        <p:spPr>
          <a:xfrm>
            <a:off x="640080" y="2167128"/>
            <a:ext cx="530352" cy="530352"/>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11" name="Image 1" descr="preencoded.png"/>
          <p:cNvPicPr>
            <a:picLocks noChangeAspect="1"/>
          </p:cNvPicPr>
          <p:nvPr/>
        </p:nvPicPr>
        <p:blipFill>
          <a:blip r:embed="rId4"/>
          <a:stretch>
            <a:fillRect/>
          </a:stretch>
        </p:blipFill>
        <p:spPr>
          <a:xfrm>
            <a:off x="772668" y="2299716"/>
            <a:ext cx="265176" cy="265176"/>
          </a:xfrm>
          <a:prstGeom prst="rect">
            <a:avLst/>
          </a:prstGeom>
        </p:spPr>
      </p:pic>
      <p:sp>
        <p:nvSpPr>
          <p:cNvPr id="12" name="Text 7"/>
          <p:cNvSpPr txBox="1"/>
          <p:nvPr/>
        </p:nvSpPr>
        <p:spPr>
          <a:xfrm>
            <a:off x="1371600" y="2057400"/>
            <a:ext cx="2468880" cy="749808"/>
          </a:xfrm>
          <a:prstGeom prst="rect">
            <a:avLst/>
          </a:prstGeom>
          <a:noFill/>
          <a:ln/>
        </p:spPr>
        <p:txBody>
          <a:bodyPr wrap="square" lIns="0" tIns="0" rIns="0" bIns="0" rtlCol="0" anchor="ctr"/>
          <a:lstStyle/>
          <a:p>
            <a:pPr marL="0" indent="0">
              <a:buNone/>
            </a:pPr>
            <a:r>
              <a:rPr lang="en-US" sz="1450" b="1" dirty="0">
                <a:solidFill>
                  <a:srgbClr val="24483A"/>
                </a:solidFill>
                <a:latin typeface="Century Schoolbook" panose="02040604050505020304" pitchFamily="18" charset="0"/>
                <a:ea typeface="Cambria" pitchFamily="34" charset="-122"/>
                <a:cs typeface="Cambria" pitchFamily="34" charset="-120"/>
              </a:rPr>
              <a:t>Responsables por dimensión</a:t>
            </a:r>
            <a:endParaRPr lang="en-US" sz="1450" dirty="0">
              <a:latin typeface="Century Schoolbook" panose="02040604050505020304" pitchFamily="18" charset="0"/>
            </a:endParaRPr>
          </a:p>
        </p:txBody>
      </p:sp>
      <p:sp>
        <p:nvSpPr>
          <p:cNvPr id="13" name="Text 8"/>
          <p:cNvSpPr txBox="1"/>
          <p:nvPr/>
        </p:nvSpPr>
        <p:spPr>
          <a:xfrm>
            <a:off x="3931920" y="2057400"/>
            <a:ext cx="4572000" cy="749808"/>
          </a:xfrm>
          <a:prstGeom prst="rect">
            <a:avLst/>
          </a:prstGeom>
          <a:noFill/>
          <a:ln/>
        </p:spPr>
        <p:txBody>
          <a:bodyPr wrap="square" lIns="0" tIns="0" rIns="0" bIns="0" rtlCol="0" anchor="ctr"/>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Datos: fecha y hora · Planificación: zona · Operaciones: modos · Gobernanza: usuario.</a:t>
            </a:r>
            <a:endParaRPr lang="en-US" sz="1200" dirty="0">
              <a:latin typeface="Century Schoolbook" panose="02040604050505020304" pitchFamily="18" charset="0"/>
            </a:endParaRPr>
          </a:p>
        </p:txBody>
      </p:sp>
      <p:sp>
        <p:nvSpPr>
          <p:cNvPr id="14" name="Shape 9"/>
          <p:cNvSpPr/>
          <p:nvPr/>
        </p:nvSpPr>
        <p:spPr>
          <a:xfrm>
            <a:off x="457200" y="2926080"/>
            <a:ext cx="822960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5" name="Shape 10"/>
          <p:cNvSpPr/>
          <p:nvPr/>
        </p:nvSpPr>
        <p:spPr>
          <a:xfrm>
            <a:off x="640080" y="3035808"/>
            <a:ext cx="530352" cy="530352"/>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16" name="Image 2" descr="preencoded.png"/>
          <p:cNvPicPr>
            <a:picLocks noChangeAspect="1"/>
          </p:cNvPicPr>
          <p:nvPr/>
        </p:nvPicPr>
        <p:blipFill>
          <a:blip r:embed="rId5"/>
          <a:stretch>
            <a:fillRect/>
          </a:stretch>
        </p:blipFill>
        <p:spPr>
          <a:xfrm>
            <a:off x="772668" y="3168396"/>
            <a:ext cx="265176" cy="265176"/>
          </a:xfrm>
          <a:prstGeom prst="rect">
            <a:avLst/>
          </a:prstGeom>
        </p:spPr>
      </p:pic>
      <p:sp>
        <p:nvSpPr>
          <p:cNvPr id="17" name="Text 11"/>
          <p:cNvSpPr txBox="1"/>
          <p:nvPr/>
        </p:nvSpPr>
        <p:spPr>
          <a:xfrm>
            <a:off x="1371600" y="2926080"/>
            <a:ext cx="2468880" cy="749808"/>
          </a:xfrm>
          <a:prstGeom prst="rect">
            <a:avLst/>
          </a:prstGeom>
          <a:noFill/>
          <a:ln/>
        </p:spPr>
        <p:txBody>
          <a:bodyPr wrap="square" lIns="0" tIns="0" rIns="0" bIns="0" rtlCol="0" anchor="ctr"/>
          <a:lstStyle/>
          <a:p>
            <a:pPr marL="0" indent="0">
              <a:buNone/>
            </a:pPr>
            <a:r>
              <a:rPr lang="en-US" sz="1450" b="1" dirty="0">
                <a:solidFill>
                  <a:srgbClr val="24483A"/>
                </a:solidFill>
                <a:latin typeface="Century Schoolbook" panose="02040604050505020304" pitchFamily="18" charset="0"/>
                <a:ea typeface="Cambria" pitchFamily="34" charset="-122"/>
                <a:cs typeface="Cambria" pitchFamily="34" charset="-120"/>
              </a:rPr>
              <a:t>Reproducibilidad</a:t>
            </a:r>
            <a:endParaRPr lang="en-US" sz="1450" dirty="0">
              <a:latin typeface="Century Schoolbook" panose="02040604050505020304" pitchFamily="18" charset="0"/>
            </a:endParaRPr>
          </a:p>
        </p:txBody>
      </p:sp>
      <p:sp>
        <p:nvSpPr>
          <p:cNvPr id="18" name="Text 12"/>
          <p:cNvSpPr txBox="1"/>
          <p:nvPr/>
        </p:nvSpPr>
        <p:spPr>
          <a:xfrm>
            <a:off x="3931920" y="2926080"/>
            <a:ext cx="4572000" cy="749808"/>
          </a:xfrm>
          <a:prstGeom prst="rect">
            <a:avLst/>
          </a:prstGeom>
          <a:noFill/>
          <a:ln/>
        </p:spPr>
        <p:txBody>
          <a:bodyPr wrap="square" lIns="0" tIns="0" rIns="0" bIns="0" rtlCol="0" anchor="ctr"/>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Repositorio con requisitos, pasos de instalación, decisiones de diseño e historial de Git.</a:t>
            </a:r>
            <a:endParaRPr lang="en-US" sz="1200" dirty="0">
              <a:latin typeface="Century Schoolbook" panose="02040604050505020304" pitchFamily="18" charset="0"/>
            </a:endParaRPr>
          </a:p>
        </p:txBody>
      </p:sp>
      <p:sp>
        <p:nvSpPr>
          <p:cNvPr id="19" name="Shape 13"/>
          <p:cNvSpPr/>
          <p:nvPr/>
        </p:nvSpPr>
        <p:spPr>
          <a:xfrm>
            <a:off x="457200" y="3794760"/>
            <a:ext cx="8229600" cy="749808"/>
          </a:xfrm>
          <a:prstGeom prst="roundRect">
            <a:avLst>
              <a:gd name="adj" fmla="val 14634"/>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20" name="Shape 14"/>
          <p:cNvSpPr/>
          <p:nvPr/>
        </p:nvSpPr>
        <p:spPr>
          <a:xfrm>
            <a:off x="640080" y="3904488"/>
            <a:ext cx="530352" cy="530352"/>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21" name="Image 3" descr="preencoded.png"/>
          <p:cNvPicPr>
            <a:picLocks noChangeAspect="1"/>
          </p:cNvPicPr>
          <p:nvPr/>
        </p:nvPicPr>
        <p:blipFill>
          <a:blip r:embed="rId6"/>
          <a:stretch>
            <a:fillRect/>
          </a:stretch>
        </p:blipFill>
        <p:spPr>
          <a:xfrm>
            <a:off x="772668" y="4037076"/>
            <a:ext cx="265176" cy="265176"/>
          </a:xfrm>
          <a:prstGeom prst="rect">
            <a:avLst/>
          </a:prstGeom>
        </p:spPr>
      </p:pic>
      <p:sp>
        <p:nvSpPr>
          <p:cNvPr id="22" name="Text 15"/>
          <p:cNvSpPr txBox="1"/>
          <p:nvPr/>
        </p:nvSpPr>
        <p:spPr>
          <a:xfrm>
            <a:off x="1371600" y="3794760"/>
            <a:ext cx="2468880" cy="749808"/>
          </a:xfrm>
          <a:prstGeom prst="rect">
            <a:avLst/>
          </a:prstGeom>
          <a:noFill/>
          <a:ln/>
        </p:spPr>
        <p:txBody>
          <a:bodyPr wrap="square" lIns="0" tIns="0" rIns="0" bIns="0" rtlCol="0" anchor="ctr"/>
          <a:lstStyle/>
          <a:p>
            <a:pPr marL="0" indent="0">
              <a:buNone/>
            </a:pPr>
            <a:r>
              <a:rPr lang="en-US" sz="1450" b="1" dirty="0">
                <a:solidFill>
                  <a:srgbClr val="24483A"/>
                </a:solidFill>
                <a:latin typeface="Century Schoolbook" panose="02040604050505020304" pitchFamily="18" charset="0"/>
                <a:ea typeface="Cambria" pitchFamily="34" charset="-122"/>
                <a:cs typeface="Cambria" pitchFamily="34" charset="-120"/>
              </a:rPr>
              <a:t>Seguridad y datos personales</a:t>
            </a:r>
            <a:endParaRPr lang="en-US" sz="1450" dirty="0">
              <a:latin typeface="Century Schoolbook" panose="02040604050505020304" pitchFamily="18" charset="0"/>
            </a:endParaRPr>
          </a:p>
        </p:txBody>
      </p:sp>
      <p:sp>
        <p:nvSpPr>
          <p:cNvPr id="23" name="Text 16"/>
          <p:cNvSpPr txBox="1"/>
          <p:nvPr/>
        </p:nvSpPr>
        <p:spPr>
          <a:xfrm>
            <a:off x="3931920" y="3794760"/>
            <a:ext cx="4572000" cy="749808"/>
          </a:xfrm>
          <a:prstGeom prst="rect">
            <a:avLst/>
          </a:prstGeom>
          <a:noFill/>
          <a:ln/>
        </p:spPr>
        <p:txBody>
          <a:bodyPr wrap="square" lIns="0" tIns="0" rIns="0" bIns="0" rtlCol="0" anchor="ctr"/>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Credenciales en variables de entorno, llaves seudonimizadas y detalle individual retenido 12 meses.</a:t>
            </a:r>
            <a:endParaRPr lang="en-US" sz="1200" dirty="0">
              <a:latin typeface="Century Schoolbook" panose="02040604050505020304" pitchFamily="18" charset="0"/>
            </a:endParaRPr>
          </a:p>
        </p:txBody>
      </p:sp>
      <p:sp>
        <p:nvSpPr>
          <p:cNvPr id="25"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4483A"/>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Conclusiones</a:t>
            </a:r>
            <a:endParaRPr lang="en-US" sz="3200" dirty="0"/>
          </a:p>
        </p:txBody>
      </p:sp>
      <p:sp>
        <p:nvSpPr>
          <p:cNvPr id="4" name="Shape 1"/>
          <p:cNvSpPr/>
          <p:nvPr/>
        </p:nvSpPr>
        <p:spPr>
          <a:xfrm>
            <a:off x="457200" y="1188720"/>
            <a:ext cx="1920240" cy="1280160"/>
          </a:xfrm>
          <a:prstGeom prst="roundRect">
            <a:avLst>
              <a:gd name="adj" fmla="val 8571"/>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sp>
        <p:nvSpPr>
          <p:cNvPr id="5" name="Text 2"/>
          <p:cNvSpPr txBox="1"/>
          <p:nvPr/>
        </p:nvSpPr>
        <p:spPr>
          <a:xfrm>
            <a:off x="457200" y="1280160"/>
            <a:ext cx="19202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anose="02040604050505020304" pitchFamily="18" charset="0"/>
                <a:ea typeface="Cambria" pitchFamily="34" charset="-122"/>
                <a:cs typeface="Cambria" pitchFamily="34" charset="-120"/>
              </a:rPr>
              <a:t>79 / 79</a:t>
            </a:r>
            <a:endParaRPr lang="en-US" sz="2400" dirty="0">
              <a:latin typeface="Century Schoolbook" panose="02040604050505020304" pitchFamily="18" charset="0"/>
            </a:endParaRPr>
          </a:p>
        </p:txBody>
      </p:sp>
      <p:sp>
        <p:nvSpPr>
          <p:cNvPr id="6" name="Text 3"/>
          <p:cNvSpPr txBox="1"/>
          <p:nvPr/>
        </p:nvSpPr>
        <p:spPr>
          <a:xfrm>
            <a:off x="594360" y="1828800"/>
            <a:ext cx="1645920" cy="548640"/>
          </a:xfrm>
          <a:prstGeom prst="rect">
            <a:avLst/>
          </a:prstGeom>
          <a:noFill/>
          <a:ln/>
        </p:spPr>
        <p:txBody>
          <a:bodyPr wrap="square" lIns="0" tIns="0" rIns="0" bIns="0" rtlCol="0" anchor="t"/>
          <a:lstStyle/>
          <a:p>
            <a:pPr marL="0" indent="0" algn="ctr">
              <a:buNone/>
            </a:pPr>
            <a:r>
              <a:rPr lang="en-US" sz="1150" dirty="0">
                <a:solidFill>
                  <a:srgbClr val="FFFFFF"/>
                </a:solidFill>
                <a:latin typeface="Century Schoolbook" panose="02040604050505020304" pitchFamily="18" charset="0"/>
                <a:ea typeface="Calibri" pitchFamily="34" charset="-122"/>
                <a:cs typeface="Calibri" pitchFamily="34" charset="-120"/>
              </a:rPr>
              <a:t>pruebas dbt aprobadas</a:t>
            </a:r>
            <a:endParaRPr lang="en-US" sz="1150" dirty="0">
              <a:latin typeface="Century Schoolbook" panose="02040604050505020304" pitchFamily="18" charset="0"/>
            </a:endParaRPr>
          </a:p>
        </p:txBody>
      </p:sp>
      <p:sp>
        <p:nvSpPr>
          <p:cNvPr id="7" name="Shape 4"/>
          <p:cNvSpPr/>
          <p:nvPr/>
        </p:nvSpPr>
        <p:spPr>
          <a:xfrm>
            <a:off x="2560320" y="1188720"/>
            <a:ext cx="1920240" cy="1280160"/>
          </a:xfrm>
          <a:prstGeom prst="roundRect">
            <a:avLst>
              <a:gd name="adj" fmla="val 857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8" name="Text 5"/>
          <p:cNvSpPr txBox="1"/>
          <p:nvPr/>
        </p:nvSpPr>
        <p:spPr>
          <a:xfrm>
            <a:off x="2560320" y="1280160"/>
            <a:ext cx="19202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anose="02040604050505020304" pitchFamily="18" charset="0"/>
                <a:ea typeface="Cambria" pitchFamily="34" charset="-122"/>
                <a:cs typeface="Cambria" pitchFamily="34" charset="-120"/>
              </a:rPr>
              <a:t>2</a:t>
            </a:r>
            <a:endParaRPr lang="en-US" sz="2400" dirty="0">
              <a:latin typeface="Century Schoolbook" panose="02040604050505020304" pitchFamily="18" charset="0"/>
            </a:endParaRPr>
          </a:p>
        </p:txBody>
      </p:sp>
      <p:sp>
        <p:nvSpPr>
          <p:cNvPr id="9" name="Text 6"/>
          <p:cNvSpPr txBox="1"/>
          <p:nvPr/>
        </p:nvSpPr>
        <p:spPr>
          <a:xfrm>
            <a:off x="2697480" y="1828800"/>
            <a:ext cx="1645920" cy="548640"/>
          </a:xfrm>
          <a:prstGeom prst="rect">
            <a:avLst/>
          </a:prstGeom>
          <a:noFill/>
          <a:ln/>
        </p:spPr>
        <p:txBody>
          <a:bodyPr wrap="square" lIns="0" tIns="0" rIns="0" bIns="0" rtlCol="0" anchor="t"/>
          <a:lstStyle/>
          <a:p>
            <a:pPr marL="0" indent="0" algn="ctr">
              <a:buNone/>
            </a:pPr>
            <a:r>
              <a:rPr lang="en-US" sz="1150" dirty="0">
                <a:solidFill>
                  <a:srgbClr val="FFFFFF"/>
                </a:solidFill>
                <a:latin typeface="Century Schoolbook" panose="02040604050505020304" pitchFamily="18" charset="0"/>
                <a:ea typeface="Calibri" pitchFamily="34" charset="-122"/>
                <a:cs typeface="Calibri" pitchFamily="34" charset="-120"/>
              </a:rPr>
              <a:t>corridas con conteos idénticos</a:t>
            </a:r>
            <a:endParaRPr lang="en-US" sz="1150" dirty="0">
              <a:latin typeface="Century Schoolbook" panose="02040604050505020304" pitchFamily="18" charset="0"/>
            </a:endParaRPr>
          </a:p>
        </p:txBody>
      </p:sp>
      <p:sp>
        <p:nvSpPr>
          <p:cNvPr id="10" name="Shape 7"/>
          <p:cNvSpPr/>
          <p:nvPr/>
        </p:nvSpPr>
        <p:spPr>
          <a:xfrm>
            <a:off x="4663440" y="1188720"/>
            <a:ext cx="1920240" cy="1280160"/>
          </a:xfrm>
          <a:prstGeom prst="roundRect">
            <a:avLst>
              <a:gd name="adj" fmla="val 8571"/>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sp>
        <p:nvSpPr>
          <p:cNvPr id="11" name="Text 8"/>
          <p:cNvSpPr txBox="1"/>
          <p:nvPr/>
        </p:nvSpPr>
        <p:spPr>
          <a:xfrm>
            <a:off x="4663440" y="1280160"/>
            <a:ext cx="19202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anose="02040604050505020304" pitchFamily="18" charset="0"/>
                <a:ea typeface="Cambria" pitchFamily="34" charset="-122"/>
                <a:cs typeface="Cambria" pitchFamily="34" charset="-120"/>
              </a:rPr>
              <a:t>18,431</a:t>
            </a:r>
            <a:endParaRPr lang="en-US" sz="2400" dirty="0">
              <a:latin typeface="Century Schoolbook" panose="02040604050505020304" pitchFamily="18" charset="0"/>
            </a:endParaRPr>
          </a:p>
        </p:txBody>
      </p:sp>
      <p:sp>
        <p:nvSpPr>
          <p:cNvPr id="12" name="Text 9"/>
          <p:cNvSpPr txBox="1"/>
          <p:nvPr/>
        </p:nvSpPr>
        <p:spPr>
          <a:xfrm>
            <a:off x="4800600" y="1828800"/>
            <a:ext cx="1645920" cy="548640"/>
          </a:xfrm>
          <a:prstGeom prst="rect">
            <a:avLst/>
          </a:prstGeom>
          <a:noFill/>
          <a:ln/>
        </p:spPr>
        <p:txBody>
          <a:bodyPr wrap="square" lIns="0" tIns="0" rIns="0" bIns="0" rtlCol="0" anchor="t"/>
          <a:lstStyle/>
          <a:p>
            <a:pPr marL="0" indent="0" algn="ctr">
              <a:buNone/>
            </a:pPr>
            <a:r>
              <a:rPr lang="en-US" sz="1150" dirty="0">
                <a:solidFill>
                  <a:srgbClr val="FFFFFF"/>
                </a:solidFill>
                <a:latin typeface="Century Schoolbook" panose="02040604050505020304" pitchFamily="18" charset="0"/>
                <a:ea typeface="Calibri" pitchFamily="34" charset="-122"/>
                <a:cs typeface="Calibri" pitchFamily="34" charset="-120"/>
              </a:rPr>
              <a:t>registros a cuarentena, no eliminados</a:t>
            </a:r>
            <a:endParaRPr lang="en-US" sz="1150" dirty="0">
              <a:latin typeface="Century Schoolbook" panose="02040604050505020304" pitchFamily="18" charset="0"/>
            </a:endParaRPr>
          </a:p>
        </p:txBody>
      </p:sp>
      <p:sp>
        <p:nvSpPr>
          <p:cNvPr id="13" name="Shape 10"/>
          <p:cNvSpPr/>
          <p:nvPr/>
        </p:nvSpPr>
        <p:spPr>
          <a:xfrm>
            <a:off x="6766560" y="1188720"/>
            <a:ext cx="1920240" cy="1280160"/>
          </a:xfrm>
          <a:prstGeom prst="roundRect">
            <a:avLst>
              <a:gd name="adj" fmla="val 8571"/>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sp>
        <p:nvSpPr>
          <p:cNvPr id="14" name="Text 11"/>
          <p:cNvSpPr txBox="1"/>
          <p:nvPr/>
        </p:nvSpPr>
        <p:spPr>
          <a:xfrm>
            <a:off x="6766560" y="1280160"/>
            <a:ext cx="1920240" cy="548640"/>
          </a:xfrm>
          <a:prstGeom prst="rect">
            <a:avLst/>
          </a:prstGeom>
          <a:noFill/>
          <a:ln/>
        </p:spPr>
        <p:txBody>
          <a:bodyPr wrap="square" lIns="0" tIns="0" rIns="0" bIns="0" rtlCol="0" anchor="ctr"/>
          <a:lstStyle/>
          <a:p>
            <a:pPr marL="0" indent="0" algn="ctr">
              <a:buNone/>
            </a:pPr>
            <a:r>
              <a:rPr lang="en-US" sz="2400" b="1" dirty="0">
                <a:solidFill>
                  <a:srgbClr val="FFFFFF"/>
                </a:solidFill>
                <a:latin typeface="Century Schoolbook" panose="02040604050505020304" pitchFamily="18" charset="0"/>
                <a:ea typeface="Cambria" pitchFamily="34" charset="-122"/>
                <a:cs typeface="Cambria" pitchFamily="34" charset="-120"/>
              </a:rPr>
              <a:t>1,718,037</a:t>
            </a:r>
            <a:endParaRPr lang="en-US" sz="2400" dirty="0">
              <a:latin typeface="Century Schoolbook" panose="02040604050505020304" pitchFamily="18" charset="0"/>
            </a:endParaRPr>
          </a:p>
        </p:txBody>
      </p:sp>
      <p:sp>
        <p:nvSpPr>
          <p:cNvPr id="15" name="Text 12"/>
          <p:cNvSpPr txBox="1"/>
          <p:nvPr/>
        </p:nvSpPr>
        <p:spPr>
          <a:xfrm>
            <a:off x="6903720" y="1828800"/>
            <a:ext cx="1645920" cy="548640"/>
          </a:xfrm>
          <a:prstGeom prst="rect">
            <a:avLst/>
          </a:prstGeom>
          <a:noFill/>
          <a:ln/>
        </p:spPr>
        <p:txBody>
          <a:bodyPr wrap="square" lIns="0" tIns="0" rIns="0" bIns="0" rtlCol="0" anchor="t"/>
          <a:lstStyle/>
          <a:p>
            <a:pPr marL="0" indent="0" algn="ctr">
              <a:buNone/>
            </a:pPr>
            <a:r>
              <a:rPr lang="en-US" sz="1150" dirty="0">
                <a:solidFill>
                  <a:srgbClr val="FFFFFF"/>
                </a:solidFill>
                <a:latin typeface="Century Schoolbook" panose="02040604050505020304" pitchFamily="18" charset="0"/>
                <a:ea typeface="Calibri" pitchFamily="34" charset="-122"/>
                <a:cs typeface="Calibri" pitchFamily="34" charset="-120"/>
              </a:rPr>
              <a:t>registros listos en Gold</a:t>
            </a:r>
            <a:endParaRPr lang="en-US" sz="1150" dirty="0">
              <a:latin typeface="Century Schoolbook" panose="02040604050505020304" pitchFamily="18" charset="0"/>
            </a:endParaRPr>
          </a:p>
        </p:txBody>
      </p:sp>
      <p:sp>
        <p:nvSpPr>
          <p:cNvPr id="16" name="Text 13"/>
          <p:cNvSpPr txBox="1"/>
          <p:nvPr/>
        </p:nvSpPr>
        <p:spPr>
          <a:xfrm>
            <a:off x="457200" y="2788920"/>
            <a:ext cx="8229600" cy="1737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La arquitectura por capas integró fuentes con estructuras y formatos distintos sin perder trazabilidad.</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Streaming, batch y CDC se eligieron según la naturaleza de cada fuente.</a:t>
            </a:r>
            <a:endParaRPr lang="en-US" sz="1500" dirty="0"/>
          </a:p>
          <a:p>
            <a:pPr marL="342900" indent="-342900">
              <a:spcAft>
                <a:spcPts val="1000"/>
              </a:spcAft>
              <a:buSzPct val="100000"/>
              <a:buChar char="•"/>
            </a:pPr>
            <a:r>
              <a:rPr lang="en-US" sz="1500" dirty="0">
                <a:solidFill>
                  <a:srgbClr val="FFFFFF"/>
                </a:solidFill>
                <a:latin typeface="Calibri" pitchFamily="34" charset="0"/>
                <a:ea typeface="Calibri" pitchFamily="34" charset="-122"/>
                <a:cs typeface="Calibri" pitchFamily="34" charset="-120"/>
              </a:rPr>
              <a:t>La Fase 01 es una base técnica completa y reproducible para la visualización y el análisis de la Fase 02.</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5F8"/>
        </a:solidFill>
        <a:effectLst/>
      </p:bgPr>
    </p:bg>
    <p:spTree>
      <p:nvGrpSpPr>
        <p:cNvPr id="1" name=""/>
        <p:cNvGrpSpPr/>
        <p:nvPr/>
      </p:nvGrpSpPr>
      <p:grpSpPr>
        <a:xfrm>
          <a:off x="0" y="0"/>
          <a:ext cx="0" cy="0"/>
          <a:chOff x="0" y="0"/>
          <a:chExt cx="0" cy="0"/>
        </a:xfrm>
      </p:grpSpPr>
      <p:sp>
        <p:nvSpPr>
          <p:cNvPr id="3" name="Text 0"/>
          <p:cNvSpPr txBox="1"/>
          <p:nvPr/>
        </p:nvSpPr>
        <p:spPr>
          <a:xfrm>
            <a:off x="457200" y="320040"/>
            <a:ext cx="8229600" cy="685800"/>
          </a:xfrm>
          <a:prstGeom prst="rect">
            <a:avLst/>
          </a:prstGeom>
          <a:noFill/>
          <a:ln/>
        </p:spPr>
        <p:txBody>
          <a:bodyPr wrap="square" lIns="0" tIns="0" rIns="0" bIns="0" rtlCol="0" anchor="ctr"/>
          <a:lstStyle/>
          <a:p>
            <a:pPr marL="0" indent="0">
              <a:buNone/>
            </a:pPr>
            <a:r>
              <a:rPr lang="en-US" sz="3200" b="1" dirty="0">
                <a:solidFill>
                  <a:srgbClr val="24483A"/>
                </a:solidFill>
                <a:latin typeface="Cambria" pitchFamily="34" charset="0"/>
                <a:ea typeface="Cambria" pitchFamily="34" charset="-122"/>
                <a:cs typeface="Cambria" pitchFamily="34" charset="-120"/>
              </a:rPr>
              <a:t>Recomendaciones</a:t>
            </a:r>
            <a:endParaRPr lang="en-US" sz="3200" dirty="0"/>
          </a:p>
        </p:txBody>
      </p:sp>
      <p:sp>
        <p:nvSpPr>
          <p:cNvPr id="4" name="Shape 1"/>
          <p:cNvSpPr/>
          <p:nvPr/>
        </p:nvSpPr>
        <p:spPr>
          <a:xfrm>
            <a:off x="457200" y="1188720"/>
            <a:ext cx="2606040" cy="1600200"/>
          </a:xfrm>
          <a:prstGeom prst="roundRect">
            <a:avLst>
              <a:gd name="adj" fmla="val 68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5" name="Shape 2"/>
          <p:cNvSpPr/>
          <p:nvPr/>
        </p:nvSpPr>
        <p:spPr>
          <a:xfrm>
            <a:off x="640080" y="1371600"/>
            <a:ext cx="502920" cy="50292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6" name="Image 0" descr="preencoded.png"/>
          <p:cNvPicPr>
            <a:picLocks noChangeAspect="1"/>
          </p:cNvPicPr>
          <p:nvPr/>
        </p:nvPicPr>
        <p:blipFill>
          <a:blip r:embed="rId3"/>
          <a:stretch>
            <a:fillRect/>
          </a:stretch>
        </p:blipFill>
        <p:spPr>
          <a:xfrm>
            <a:off x="765810" y="1497330"/>
            <a:ext cx="251460" cy="251460"/>
          </a:xfrm>
          <a:prstGeom prst="rect">
            <a:avLst/>
          </a:prstGeom>
        </p:spPr>
      </p:pic>
      <p:sp>
        <p:nvSpPr>
          <p:cNvPr id="7" name="Text 3"/>
          <p:cNvSpPr txBox="1"/>
          <p:nvPr/>
        </p:nvSpPr>
        <p:spPr>
          <a:xfrm>
            <a:off x="1280160" y="1371600"/>
            <a:ext cx="1645920" cy="50292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Tablero solo con Gold</a:t>
            </a:r>
            <a:endParaRPr lang="en-US" sz="1400" dirty="0">
              <a:latin typeface="Century Schoolbook" panose="02040604050505020304" pitchFamily="18" charset="0"/>
            </a:endParaRPr>
          </a:p>
        </p:txBody>
      </p:sp>
      <p:sp>
        <p:nvSpPr>
          <p:cNvPr id="8" name="Text 4"/>
          <p:cNvSpPr txBox="1"/>
          <p:nvPr/>
        </p:nvSpPr>
        <p:spPr>
          <a:xfrm>
            <a:off x="640080" y="201168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La Fase 02 se conecta únicamente a la capa Gold.</a:t>
            </a:r>
            <a:endParaRPr lang="en-US" sz="1200" dirty="0">
              <a:latin typeface="Century Schoolbook" panose="02040604050505020304" pitchFamily="18" charset="0"/>
            </a:endParaRPr>
          </a:p>
        </p:txBody>
      </p:sp>
      <p:sp>
        <p:nvSpPr>
          <p:cNvPr id="9" name="Shape 5"/>
          <p:cNvSpPr/>
          <p:nvPr/>
        </p:nvSpPr>
        <p:spPr>
          <a:xfrm>
            <a:off x="3268980" y="1188720"/>
            <a:ext cx="2606040" cy="1600200"/>
          </a:xfrm>
          <a:prstGeom prst="roundRect">
            <a:avLst>
              <a:gd name="adj" fmla="val 68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0" name="Shape 6"/>
          <p:cNvSpPr/>
          <p:nvPr/>
        </p:nvSpPr>
        <p:spPr>
          <a:xfrm>
            <a:off x="3451860" y="1371600"/>
            <a:ext cx="502920" cy="50292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11" name="Image 1" descr="preencoded.png"/>
          <p:cNvPicPr>
            <a:picLocks noChangeAspect="1"/>
          </p:cNvPicPr>
          <p:nvPr/>
        </p:nvPicPr>
        <p:blipFill>
          <a:blip r:embed="rId4"/>
          <a:stretch>
            <a:fillRect/>
          </a:stretch>
        </p:blipFill>
        <p:spPr>
          <a:xfrm>
            <a:off x="3577590" y="1497330"/>
            <a:ext cx="251460" cy="251460"/>
          </a:xfrm>
          <a:prstGeom prst="rect">
            <a:avLst/>
          </a:prstGeom>
        </p:spPr>
      </p:pic>
      <p:sp>
        <p:nvSpPr>
          <p:cNvPr id="12" name="Text 7"/>
          <p:cNvSpPr txBox="1"/>
          <p:nvPr/>
        </p:nvSpPr>
        <p:spPr>
          <a:xfrm>
            <a:off x="4091940" y="1371600"/>
            <a:ext cx="1645920" cy="50292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Alertas de frescura</a:t>
            </a:r>
            <a:endParaRPr lang="en-US" sz="1400" dirty="0">
              <a:latin typeface="Century Schoolbook" panose="02040604050505020304" pitchFamily="18" charset="0"/>
            </a:endParaRPr>
          </a:p>
        </p:txBody>
      </p:sp>
      <p:sp>
        <p:nvSpPr>
          <p:cNvPr id="13" name="Text 8"/>
          <p:cNvSpPr txBox="1"/>
          <p:nvPr/>
        </p:nvSpPr>
        <p:spPr>
          <a:xfrm>
            <a:off x="3451860" y="201168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Detectar fuentes que no llegan o bajan de volumen.</a:t>
            </a:r>
            <a:endParaRPr lang="en-US" sz="1200" dirty="0">
              <a:latin typeface="Century Schoolbook" panose="02040604050505020304" pitchFamily="18" charset="0"/>
            </a:endParaRPr>
          </a:p>
        </p:txBody>
      </p:sp>
      <p:sp>
        <p:nvSpPr>
          <p:cNvPr id="14" name="Shape 9"/>
          <p:cNvSpPr/>
          <p:nvPr/>
        </p:nvSpPr>
        <p:spPr>
          <a:xfrm>
            <a:off x="6080760" y="1188720"/>
            <a:ext cx="2606040" cy="1600200"/>
          </a:xfrm>
          <a:prstGeom prst="roundRect">
            <a:avLst>
              <a:gd name="adj" fmla="val 68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latin typeface="Century Schoolbook" panose="02040604050505020304" pitchFamily="18" charset="0"/>
            </a:endParaRPr>
          </a:p>
        </p:txBody>
      </p:sp>
      <p:sp>
        <p:nvSpPr>
          <p:cNvPr id="15" name="Shape 10"/>
          <p:cNvSpPr/>
          <p:nvPr/>
        </p:nvSpPr>
        <p:spPr>
          <a:xfrm>
            <a:off x="6263640" y="1371600"/>
            <a:ext cx="502920" cy="50292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16" name="Image 2" descr="preencoded.png"/>
          <p:cNvPicPr>
            <a:picLocks noChangeAspect="1"/>
          </p:cNvPicPr>
          <p:nvPr/>
        </p:nvPicPr>
        <p:blipFill>
          <a:blip r:embed="rId5"/>
          <a:stretch>
            <a:fillRect/>
          </a:stretch>
        </p:blipFill>
        <p:spPr>
          <a:xfrm>
            <a:off x="6389370" y="1497330"/>
            <a:ext cx="251460" cy="251460"/>
          </a:xfrm>
          <a:prstGeom prst="rect">
            <a:avLst/>
          </a:prstGeom>
        </p:spPr>
      </p:pic>
      <p:sp>
        <p:nvSpPr>
          <p:cNvPr id="17" name="Text 11"/>
          <p:cNvSpPr txBox="1"/>
          <p:nvPr/>
        </p:nvSpPr>
        <p:spPr>
          <a:xfrm>
            <a:off x="6903720" y="1371600"/>
            <a:ext cx="1645920" cy="50292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GitHub Actions</a:t>
            </a:r>
            <a:endParaRPr lang="en-US" sz="1400" dirty="0">
              <a:latin typeface="Century Schoolbook" panose="02040604050505020304" pitchFamily="18" charset="0"/>
            </a:endParaRPr>
          </a:p>
        </p:txBody>
      </p:sp>
      <p:sp>
        <p:nvSpPr>
          <p:cNvPr id="18" name="Text 12"/>
          <p:cNvSpPr txBox="1"/>
          <p:nvPr/>
        </p:nvSpPr>
        <p:spPr>
          <a:xfrm>
            <a:off x="6263640" y="201168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Ejecutar las pruebas de dbt en cada cambio del repositorio.</a:t>
            </a:r>
            <a:endParaRPr lang="en-US" sz="1200" dirty="0">
              <a:latin typeface="Century Schoolbook" panose="02040604050505020304" pitchFamily="18" charset="0"/>
            </a:endParaRPr>
          </a:p>
        </p:txBody>
      </p:sp>
      <p:sp>
        <p:nvSpPr>
          <p:cNvPr id="19" name="Shape 13"/>
          <p:cNvSpPr/>
          <p:nvPr/>
        </p:nvSpPr>
        <p:spPr>
          <a:xfrm>
            <a:off x="457200" y="2971800"/>
            <a:ext cx="2606040" cy="1600200"/>
          </a:xfrm>
          <a:prstGeom prst="roundRect">
            <a:avLst>
              <a:gd name="adj" fmla="val 68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20" name="Shape 14"/>
          <p:cNvSpPr/>
          <p:nvPr/>
        </p:nvSpPr>
        <p:spPr>
          <a:xfrm>
            <a:off x="640080" y="3154680"/>
            <a:ext cx="502920" cy="50292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21" name="Image 3" descr="preencoded.png"/>
          <p:cNvPicPr>
            <a:picLocks noChangeAspect="1"/>
          </p:cNvPicPr>
          <p:nvPr/>
        </p:nvPicPr>
        <p:blipFill>
          <a:blip r:embed="rId6"/>
          <a:stretch>
            <a:fillRect/>
          </a:stretch>
        </p:blipFill>
        <p:spPr>
          <a:xfrm>
            <a:off x="765810" y="3280410"/>
            <a:ext cx="251460" cy="251460"/>
          </a:xfrm>
          <a:prstGeom prst="rect">
            <a:avLst/>
          </a:prstGeom>
        </p:spPr>
      </p:pic>
      <p:sp>
        <p:nvSpPr>
          <p:cNvPr id="22" name="Text 15"/>
          <p:cNvSpPr txBox="1"/>
          <p:nvPr/>
        </p:nvSpPr>
        <p:spPr>
          <a:xfrm>
            <a:off x="1280160" y="3154680"/>
            <a:ext cx="1645920" cy="50292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Modelos incrementales</a:t>
            </a:r>
            <a:endParaRPr lang="en-US" sz="1400" dirty="0">
              <a:latin typeface="Century Schoolbook" panose="02040604050505020304" pitchFamily="18" charset="0"/>
            </a:endParaRPr>
          </a:p>
        </p:txBody>
      </p:sp>
      <p:sp>
        <p:nvSpPr>
          <p:cNvPr id="23" name="Text 16"/>
          <p:cNvSpPr txBox="1"/>
          <p:nvPr/>
        </p:nvSpPr>
        <p:spPr>
          <a:xfrm>
            <a:off x="640080" y="379476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Procesar solo registros nuevos cuando crezca el volumen.</a:t>
            </a:r>
            <a:endParaRPr lang="en-US" sz="1200" dirty="0">
              <a:latin typeface="Century Schoolbook" panose="02040604050505020304" pitchFamily="18" charset="0"/>
            </a:endParaRPr>
          </a:p>
        </p:txBody>
      </p:sp>
      <p:sp>
        <p:nvSpPr>
          <p:cNvPr id="24" name="Shape 17"/>
          <p:cNvSpPr/>
          <p:nvPr/>
        </p:nvSpPr>
        <p:spPr>
          <a:xfrm>
            <a:off x="3268980" y="2971800"/>
            <a:ext cx="2606040" cy="1600200"/>
          </a:xfrm>
          <a:prstGeom prst="roundRect">
            <a:avLst>
              <a:gd name="adj" fmla="val 68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25" name="Shape 18"/>
          <p:cNvSpPr/>
          <p:nvPr/>
        </p:nvSpPr>
        <p:spPr>
          <a:xfrm>
            <a:off x="3451860" y="3154680"/>
            <a:ext cx="502920" cy="502920"/>
          </a:xfrm>
          <a:prstGeom prst="ellipse">
            <a:avLst/>
          </a:prstGeom>
          <a:solidFill>
            <a:srgbClr val="3E8E6B"/>
          </a:solidFill>
          <a:ln w="12700">
            <a:solidFill>
              <a:srgbClr val="3E8E6B"/>
            </a:solidFill>
            <a:prstDash val="solid"/>
          </a:ln>
        </p:spPr>
        <p:txBody>
          <a:bodyPr/>
          <a:lstStyle/>
          <a:p>
            <a:endParaRPr lang="es-GT">
              <a:latin typeface="Century Schoolbook" panose="02040604050505020304" pitchFamily="18" charset="0"/>
            </a:endParaRPr>
          </a:p>
        </p:txBody>
      </p:sp>
      <p:pic>
        <p:nvPicPr>
          <p:cNvPr id="26" name="Image 4" descr="preencoded.png"/>
          <p:cNvPicPr>
            <a:picLocks noChangeAspect="1"/>
          </p:cNvPicPr>
          <p:nvPr/>
        </p:nvPicPr>
        <p:blipFill>
          <a:blip r:embed="rId7"/>
          <a:stretch>
            <a:fillRect/>
          </a:stretch>
        </p:blipFill>
        <p:spPr>
          <a:xfrm>
            <a:off x="3577590" y="3280410"/>
            <a:ext cx="251460" cy="251460"/>
          </a:xfrm>
          <a:prstGeom prst="rect">
            <a:avLst/>
          </a:prstGeom>
        </p:spPr>
      </p:pic>
      <p:sp>
        <p:nvSpPr>
          <p:cNvPr id="27" name="Text 19"/>
          <p:cNvSpPr txBox="1"/>
          <p:nvPr/>
        </p:nvSpPr>
        <p:spPr>
          <a:xfrm>
            <a:off x="4091940" y="3154680"/>
            <a:ext cx="1645920" cy="50292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Identidad oficial</a:t>
            </a:r>
            <a:endParaRPr lang="en-US" sz="1400" dirty="0">
              <a:latin typeface="Century Schoolbook" panose="02040604050505020304" pitchFamily="18" charset="0"/>
            </a:endParaRPr>
          </a:p>
        </p:txBody>
      </p:sp>
      <p:sp>
        <p:nvSpPr>
          <p:cNvPr id="28" name="Text 20"/>
          <p:cNvSpPr txBox="1"/>
          <p:nvPr/>
        </p:nvSpPr>
        <p:spPr>
          <a:xfrm>
            <a:off x="3451860" y="379476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Tabla que relacione tarjetas entre operadores para medir lo multimodal.</a:t>
            </a:r>
            <a:endParaRPr lang="en-US" sz="1200" dirty="0">
              <a:latin typeface="Century Schoolbook" panose="02040604050505020304" pitchFamily="18" charset="0"/>
            </a:endParaRPr>
          </a:p>
        </p:txBody>
      </p:sp>
      <p:sp>
        <p:nvSpPr>
          <p:cNvPr id="29" name="Shape 21"/>
          <p:cNvSpPr/>
          <p:nvPr/>
        </p:nvSpPr>
        <p:spPr>
          <a:xfrm>
            <a:off x="6080760" y="2971800"/>
            <a:ext cx="2606040" cy="1600200"/>
          </a:xfrm>
          <a:prstGeom prst="roundRect">
            <a:avLst>
              <a:gd name="adj" fmla="val 6857"/>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txBody>
          <a:bodyPr/>
          <a:lstStyle/>
          <a:p>
            <a:endParaRPr lang="es-GT"/>
          </a:p>
        </p:txBody>
      </p:sp>
      <p:sp>
        <p:nvSpPr>
          <p:cNvPr id="30" name="Shape 22"/>
          <p:cNvSpPr/>
          <p:nvPr/>
        </p:nvSpPr>
        <p:spPr>
          <a:xfrm>
            <a:off x="6263640" y="3154680"/>
            <a:ext cx="502920" cy="502920"/>
          </a:xfrm>
          <a:prstGeom prst="ellipse">
            <a:avLst/>
          </a:prstGeom>
          <a:solidFill>
            <a:srgbClr val="D94F86"/>
          </a:solidFill>
          <a:ln w="12700">
            <a:solidFill>
              <a:srgbClr val="D94F86"/>
            </a:solidFill>
            <a:prstDash val="solid"/>
          </a:ln>
        </p:spPr>
        <p:txBody>
          <a:bodyPr/>
          <a:lstStyle/>
          <a:p>
            <a:endParaRPr lang="es-GT">
              <a:latin typeface="Century Schoolbook" panose="02040604050505020304" pitchFamily="18" charset="0"/>
            </a:endParaRPr>
          </a:p>
        </p:txBody>
      </p:sp>
      <p:pic>
        <p:nvPicPr>
          <p:cNvPr id="31" name="Image 5" descr="preencoded.png"/>
          <p:cNvPicPr>
            <a:picLocks noChangeAspect="1"/>
          </p:cNvPicPr>
          <p:nvPr/>
        </p:nvPicPr>
        <p:blipFill>
          <a:blip r:embed="rId8"/>
          <a:stretch>
            <a:fillRect/>
          </a:stretch>
        </p:blipFill>
        <p:spPr>
          <a:xfrm>
            <a:off x="6389370" y="3280410"/>
            <a:ext cx="251460" cy="251460"/>
          </a:xfrm>
          <a:prstGeom prst="rect">
            <a:avLst/>
          </a:prstGeom>
        </p:spPr>
      </p:pic>
      <p:sp>
        <p:nvSpPr>
          <p:cNvPr id="32" name="Text 23"/>
          <p:cNvSpPr txBox="1"/>
          <p:nvPr/>
        </p:nvSpPr>
        <p:spPr>
          <a:xfrm>
            <a:off x="6903720" y="3154680"/>
            <a:ext cx="1645920" cy="502920"/>
          </a:xfrm>
          <a:prstGeom prst="rect">
            <a:avLst/>
          </a:prstGeom>
          <a:noFill/>
          <a:ln/>
        </p:spPr>
        <p:txBody>
          <a:bodyPr wrap="square" lIns="0" tIns="0" rIns="0" bIns="0" rtlCol="0" anchor="ctr"/>
          <a:lstStyle/>
          <a:p>
            <a:pPr marL="0" indent="0">
              <a:buNone/>
            </a:pPr>
            <a:r>
              <a:rPr lang="en-US" sz="1400" b="1" dirty="0">
                <a:solidFill>
                  <a:srgbClr val="24483A"/>
                </a:solidFill>
                <a:latin typeface="Century Schoolbook" panose="02040604050505020304" pitchFamily="18" charset="0"/>
                <a:ea typeface="Cambria" pitchFamily="34" charset="-122"/>
                <a:cs typeface="Cambria" pitchFamily="34" charset="-120"/>
              </a:rPr>
              <a:t>Retención y acceso</a:t>
            </a:r>
            <a:endParaRPr lang="en-US" sz="1400" dirty="0">
              <a:latin typeface="Century Schoolbook" panose="02040604050505020304" pitchFamily="18" charset="0"/>
            </a:endParaRPr>
          </a:p>
        </p:txBody>
      </p:sp>
      <p:sp>
        <p:nvSpPr>
          <p:cNvPr id="33" name="Text 24"/>
          <p:cNvSpPr txBox="1"/>
          <p:nvPr/>
        </p:nvSpPr>
        <p:spPr>
          <a:xfrm>
            <a:off x="6263640" y="3794760"/>
            <a:ext cx="2240280" cy="685800"/>
          </a:xfrm>
          <a:prstGeom prst="rect">
            <a:avLst/>
          </a:prstGeom>
          <a:noFill/>
          <a:ln/>
        </p:spPr>
        <p:txBody>
          <a:bodyPr wrap="square" lIns="0" tIns="0" rIns="0" bIns="0" rtlCol="0" anchor="t"/>
          <a:lstStyle/>
          <a:p>
            <a:pPr marL="0" indent="0">
              <a:buNone/>
            </a:pPr>
            <a:r>
              <a:rPr lang="en-US" sz="1200" dirty="0">
                <a:solidFill>
                  <a:srgbClr val="2B2B2B"/>
                </a:solidFill>
                <a:latin typeface="Century Schoolbook" panose="02040604050505020304" pitchFamily="18" charset="0"/>
                <a:ea typeface="Calibri" pitchFamily="34" charset="-122"/>
                <a:cs typeface="Calibri" pitchFamily="34" charset="-120"/>
              </a:rPr>
              <a:t>Detalle individual 12 meses y acceso restringido.</a:t>
            </a:r>
            <a:endParaRPr lang="en-US" sz="1200" dirty="0">
              <a:latin typeface="Century Schoolbook" panose="02040604050505020304" pitchFamily="18" charset="0"/>
            </a:endParaRPr>
          </a:p>
        </p:txBody>
      </p:sp>
      <p:sp>
        <p:nvSpPr>
          <p:cNvPr id="2" name="Slide Number Placeholder 0"/>
          <p:cNvSpPr>
            <a:spLocks noGrp="1"/>
          </p:cNvSpPr>
          <p:nvPr>
            <p:ph type="sldNum" sz="quarter" idx="4294967295"/>
          </p:nvPr>
        </p:nvSpPr>
        <p:spPr>
          <a:xfrm>
            <a:off x="8321040" y="4773168"/>
            <a:ext cx="800000" cy="300000"/>
          </a:xfrm>
          <a:prstGeom prst="rect">
            <a:avLst/>
          </a:prstGeom>
          <a:extLst>
            <a:ext uri="{C572A759-6A51-4108-AA02-DFA0A04FC94B}">
              <ma14:wrappingTextBoxFlag xmlns="" xmlns:ma14="http://schemas.microsoft.com/office/mac/drawingml/2011/main" val="0"/>
            </a:ext>
          </a:extLst>
        </p:spPr>
        <p:txBody>
          <a:bodyPr/>
          <a:lstStyle>
            <a:lvl1pPr>
              <a:defRPr sz="1000">
                <a:solidFill>
                  <a:srgbClr val="6B6B6B"/>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4483A"/>
        </a:solidFill>
        <a:effectLst/>
      </p:bgPr>
    </p:bg>
    <p:spTree>
      <p:nvGrpSpPr>
        <p:cNvPr id="1" name=""/>
        <p:cNvGrpSpPr/>
        <p:nvPr/>
      </p:nvGrpSpPr>
      <p:grpSpPr>
        <a:xfrm>
          <a:off x="0" y="0"/>
          <a:ext cx="0" cy="0"/>
          <a:chOff x="0" y="0"/>
          <a:chExt cx="0" cy="0"/>
        </a:xfrm>
      </p:grpSpPr>
      <p:sp>
        <p:nvSpPr>
          <p:cNvPr id="3" name="Shape 0"/>
          <p:cNvSpPr/>
          <p:nvPr/>
        </p:nvSpPr>
        <p:spPr>
          <a:xfrm>
            <a:off x="5852160" y="-822960"/>
            <a:ext cx="4754880" cy="4754880"/>
          </a:xfrm>
          <a:prstGeom prst="ellipse">
            <a:avLst/>
          </a:prstGeom>
          <a:solidFill>
            <a:srgbClr val="D94F86"/>
          </a:solidFill>
          <a:ln w="12700">
            <a:solidFill>
              <a:srgbClr val="D94F86"/>
            </a:solidFill>
            <a:prstDash val="solid"/>
          </a:ln>
        </p:spPr>
        <p:txBody>
          <a:bodyPr/>
          <a:lstStyle/>
          <a:p>
            <a:endParaRPr lang="es-GT"/>
          </a:p>
        </p:txBody>
      </p:sp>
      <p:sp>
        <p:nvSpPr>
          <p:cNvPr id="4" name="Shape 1"/>
          <p:cNvSpPr/>
          <p:nvPr/>
        </p:nvSpPr>
        <p:spPr>
          <a:xfrm>
            <a:off x="6949440" y="3017520"/>
            <a:ext cx="2926080" cy="2926080"/>
          </a:xfrm>
          <a:prstGeom prst="ellipse">
            <a:avLst/>
          </a:prstGeom>
          <a:solidFill>
            <a:srgbClr val="3E8E6B"/>
          </a:solidFill>
          <a:ln w="12700">
            <a:solidFill>
              <a:srgbClr val="3E8E6B"/>
            </a:solidFill>
            <a:prstDash val="solid"/>
          </a:ln>
        </p:spPr>
        <p:txBody>
          <a:bodyPr/>
          <a:lstStyle/>
          <a:p>
            <a:endParaRPr lang="es-GT"/>
          </a:p>
        </p:txBody>
      </p:sp>
      <p:sp>
        <p:nvSpPr>
          <p:cNvPr id="5" name="Text 2"/>
          <p:cNvSpPr txBox="1"/>
          <p:nvPr/>
        </p:nvSpPr>
        <p:spPr>
          <a:xfrm>
            <a:off x="548640" y="1371600"/>
            <a:ext cx="5120640" cy="100584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¡Gracias!</a:t>
            </a:r>
            <a:endParaRPr lang="en-US" sz="4800" dirty="0"/>
          </a:p>
        </p:txBody>
      </p:sp>
      <p:sp>
        <p:nvSpPr>
          <p:cNvPr id="6" name="Text 3"/>
          <p:cNvSpPr txBox="1"/>
          <p:nvPr/>
        </p:nvSpPr>
        <p:spPr>
          <a:xfrm>
            <a:off x="548640" y="2377440"/>
            <a:ext cx="5120640" cy="548640"/>
          </a:xfrm>
          <a:prstGeom prst="rect">
            <a:avLst/>
          </a:prstGeom>
          <a:noFill/>
          <a:ln/>
        </p:spPr>
        <p:txBody>
          <a:bodyPr wrap="square" lIns="0" tIns="0" rIns="0" bIns="0" rtlCol="0" anchor="ctr"/>
          <a:lstStyle/>
          <a:p>
            <a:pPr marL="0" indent="0">
              <a:buNone/>
            </a:pPr>
            <a:r>
              <a:rPr lang="en-US" sz="2200" dirty="0">
                <a:solidFill>
                  <a:srgbClr val="FADCE7"/>
                </a:solidFill>
                <a:latin typeface="Century Schoolbook" panose="02040604050505020304" pitchFamily="18" charset="0"/>
                <a:ea typeface="Calibri" pitchFamily="34" charset="-122"/>
                <a:cs typeface="Calibri" pitchFamily="34" charset="-120"/>
              </a:rPr>
              <a:t>¿Preguntas?</a:t>
            </a:r>
            <a:endParaRPr lang="en-US" sz="2200" dirty="0">
              <a:latin typeface="Century Schoolbook" panose="02040604050505020304" pitchFamily="18" charset="0"/>
            </a:endParaRPr>
          </a:p>
        </p:txBody>
      </p:sp>
      <p:sp>
        <p:nvSpPr>
          <p:cNvPr id="7" name="Text 4">
            <a:hlinkClick r:id="rId3"/>
          </p:cNvPr>
          <p:cNvSpPr txBox="1"/>
          <p:nvPr/>
        </p:nvSpPr>
        <p:spPr>
          <a:xfrm>
            <a:off x="548640" y="3383280"/>
            <a:ext cx="5120640" cy="365760"/>
          </a:xfrm>
          <a:prstGeom prst="rect">
            <a:avLst/>
          </a:prstGeom>
          <a:noFill/>
          <a:ln/>
        </p:spPr>
        <p:txBody>
          <a:bodyPr wrap="square" lIns="0" tIns="0" rIns="0" bIns="0" rtlCol="0" anchor="ctr"/>
          <a:lstStyle/>
          <a:p>
            <a:pPr marL="0" indent="0">
              <a:buNone/>
            </a:pPr>
            <a:r>
              <a:rPr lang="en-US" sz="1400" u="sng" dirty="0">
                <a:solidFill>
                  <a:srgbClr val="CFE8D8"/>
                </a:solidFill>
                <a:latin typeface="Century Schoolbook" panose="02040604050505020304" pitchFamily="18" charset="0"/>
                <a:ea typeface="Calibri" pitchFamily="34" charset="-122"/>
                <a:cs typeface="Calibri" pitchFamily="34" charset="-120"/>
                <a:hlinkClick r:id="rId3">
                  <a:extLst>
                    <a:ext uri="{A12FA001-AC4F-418D-AE19-62706E023703}">
                      <ahyp:hlinkClr xmlns:ahyp="http://schemas.microsoft.com/office/drawing/2018/hyperlinkcolor" val="tx"/>
                    </a:ext>
                  </a:extLst>
                </a:hlinkClick>
              </a:rPr>
              <a:t>github.com/harriett-gl/Proyecto01-Fase01</a:t>
            </a:r>
            <a:endParaRPr lang="en-US" sz="1400" dirty="0">
              <a:latin typeface="Century Schoolbook" panose="020406040505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2486</Words>
  <Application>Microsoft Macintosh PowerPoint</Application>
  <PresentationFormat>Presentación en pantalla (16:9)</PresentationFormat>
  <Paragraphs>228</Paragraphs>
  <Slides>15</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Arial</vt:lpstr>
      <vt:lpstr>Calibri</vt:lpstr>
      <vt:lpstr>Cambria</vt:lpstr>
      <vt:lpstr>Century Schoolbook</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Red Metropolitana – Fase 01</dc:title>
  <dc:subject/>
  <dc:creator>HARRIETT GUZMÁN LOPEZ</dc:creator>
  <cp:keywords/>
  <dc:description/>
  <cp:lastModifiedBy>HARRIETT GUZMAN LOPEZ</cp:lastModifiedBy>
  <cp:revision>2</cp:revision>
  <dcterms:created xsi:type="dcterms:W3CDTF">2026-09-30T22:16:41Z</dcterms:created>
  <dcterms:modified xsi:type="dcterms:W3CDTF">2026-09-30T22:24:19Z</dcterms:modified>
  <cp:category/>
</cp:coreProperties>
</file>