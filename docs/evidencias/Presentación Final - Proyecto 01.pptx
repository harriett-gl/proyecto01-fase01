
<file path=[Content_Types].xml><?xml version="1.0" encoding="utf-8"?>
<Types xmlns="http://schemas.openxmlformats.org/package/2006/content-types"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0"/>
  </p:notesMasterIdLst>
  <p:sldIdLst>
    <p:sldId id="256" r:id="rId2"/>
    <p:sldId id="257" r:id="rId3"/>
    <p:sldId id="258" r:id="rId4"/>
    <p:sldId id="270" r:id="rId5"/>
    <p:sldId id="271" r:id="rId6"/>
    <p:sldId id="259" r:id="rId7"/>
    <p:sldId id="260" r:id="rId8"/>
    <p:sldId id="261" r:id="rId9"/>
    <p:sldId id="262" r:id="rId10"/>
    <p:sldId id="263" r:id="rId11"/>
    <p:sldId id="272" r:id="rId12"/>
    <p:sldId id="264" r:id="rId13"/>
    <p:sldId id="265" r:id="rId14"/>
    <p:sldId id="266" r:id="rId15"/>
    <p:sldId id="267" r:id="rId16"/>
    <p:sldId id="268" r:id="rId17"/>
    <p:sldId id="273" r:id="rId18"/>
    <p:sldId id="269" r:id="rId19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B110735-EF7C-724B-B683-068339DB2F9E}" v="1" dt="2026-10-01T02:52:06.45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534"/>
    <p:restoredTop sz="94610"/>
  </p:normalViewPr>
  <p:slideViewPr>
    <p:cSldViewPr snapToGrid="0" snapToObjects="1">
      <p:cViewPr>
        <p:scale>
          <a:sx n="146" d="100"/>
          <a:sy n="146" d="100"/>
        </p:scale>
        <p:origin x="832" y="3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0918325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jp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jp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25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35040" y="-1097280"/>
            <a:ext cx="4754880" cy="4754880"/>
          </a:xfrm>
          <a:prstGeom prst="ellipse">
            <a:avLst/>
          </a:prstGeom>
          <a:solidFill>
            <a:srgbClr val="1565C0">
              <a:alpha val="60000"/>
            </a:srgbClr>
          </a:solidFill>
          <a:ln w="12700">
            <a:solidFill>
              <a:srgbClr val="1565C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s-GT"/>
          </a:p>
        </p:txBody>
      </p:sp>
      <p:sp>
        <p:nvSpPr>
          <p:cNvPr id="3" name="Shape 1"/>
          <p:cNvSpPr/>
          <p:nvPr/>
        </p:nvSpPr>
        <p:spPr>
          <a:xfrm>
            <a:off x="7132320" y="2377440"/>
            <a:ext cx="3291840" cy="3291840"/>
          </a:xfrm>
          <a:prstGeom prst="ellipse">
            <a:avLst/>
          </a:prstGeom>
          <a:solidFill>
            <a:srgbClr val="8EC5F0">
              <a:alpha val="30000"/>
            </a:srgbClr>
          </a:solidFill>
          <a:ln w="12700">
            <a:solidFill>
              <a:srgbClr val="8EC5F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s-GT"/>
          </a:p>
        </p:txBody>
      </p:sp>
      <p:sp>
        <p:nvSpPr>
          <p:cNvPr id="4" name="Text 2"/>
          <p:cNvSpPr txBox="1"/>
          <p:nvPr/>
        </p:nvSpPr>
        <p:spPr>
          <a:xfrm>
            <a:off x="548640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EC5F0"/>
                </a:solidFill>
                <a:latin typeface="Century Schoolbook" panose="02040604050505020304" pitchFamily="18" charset="0"/>
                <a:ea typeface="Calibri" pitchFamily="34" charset="-122"/>
                <a:cs typeface="Calibri" pitchFamily="34" charset="-120"/>
              </a:rPr>
              <a:t>Universidad Rafael Landívar · Ciencia de Datos</a:t>
            </a:r>
            <a:endParaRPr lang="en-US" sz="1300" dirty="0">
              <a:latin typeface="Century Schoolbook" panose="02040604050505020304" pitchFamily="18" charset="0"/>
            </a:endParaRPr>
          </a:p>
        </p:txBody>
      </p:sp>
      <p:sp>
        <p:nvSpPr>
          <p:cNvPr id="5" name="Text 3"/>
          <p:cNvSpPr txBox="1"/>
          <p:nvPr/>
        </p:nvSpPr>
        <p:spPr>
          <a:xfrm>
            <a:off x="548640" y="1371600"/>
            <a:ext cx="7802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entury Schoolbook" panose="02040604050505020304" pitchFamily="18" charset="0"/>
                <a:ea typeface="Cambria" pitchFamily="34" charset="-122"/>
                <a:cs typeface="Cambria" pitchFamily="34" charset="-120"/>
              </a:rPr>
              <a:t>Proyecto Red Metropolitana</a:t>
            </a:r>
            <a:endParaRPr lang="en-US" sz="4000" dirty="0">
              <a:latin typeface="Century Schoolbook" panose="02040604050505020304" pitchFamily="18" charset="0"/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548640" y="2148840"/>
            <a:ext cx="6035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CDE7F8"/>
                </a:solidFill>
                <a:latin typeface="Century Schoolbook" panose="02040604050505020304" pitchFamily="18" charset="0"/>
                <a:ea typeface="Calibri" pitchFamily="34" charset="-122"/>
                <a:cs typeface="Calibri" pitchFamily="34" charset="-120"/>
              </a:rPr>
              <a:t>Fase 01 y Fase 02: de los datos integrados al análisis de demanda</a:t>
            </a:r>
            <a:endParaRPr lang="en-US" sz="2000" dirty="0">
              <a:latin typeface="Century Schoolbook" panose="02040604050505020304" pitchFamily="18" charset="0"/>
            </a:endParaRPr>
          </a:p>
        </p:txBody>
      </p:sp>
      <p:sp>
        <p:nvSpPr>
          <p:cNvPr id="7" name="Text 5"/>
          <p:cNvSpPr txBox="1"/>
          <p:nvPr/>
        </p:nvSpPr>
        <p:spPr>
          <a:xfrm>
            <a:off x="548640" y="3931920"/>
            <a:ext cx="6400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EC5F0"/>
                </a:solidFill>
                <a:latin typeface="Century Schoolbook" panose="02040604050505020304" pitchFamily="18" charset="0"/>
                <a:ea typeface="Calibri" pitchFamily="34" charset="-122"/>
                <a:cs typeface="Calibri" pitchFamily="34" charset="-120"/>
              </a:rPr>
              <a:t>Rochelle Esquivel · Susana García · Harriett Guzmán</a:t>
            </a:r>
            <a:endParaRPr lang="en-US" sz="1300" dirty="0">
              <a:latin typeface="Century Schoolbook" panose="02040604050505020304" pitchFamily="18" charset="0"/>
            </a:endParaRPr>
          </a:p>
          <a:p>
            <a:pPr marL="0" indent="0">
              <a:buNone/>
            </a:pPr>
            <a:r>
              <a:rPr lang="en-US" sz="1300" dirty="0">
                <a:solidFill>
                  <a:srgbClr val="8EC5F0"/>
                </a:solidFill>
                <a:latin typeface="Century Schoolbook" panose="02040604050505020304" pitchFamily="18" charset="0"/>
                <a:ea typeface="Calibri" pitchFamily="34" charset="-122"/>
                <a:cs typeface="Calibri" pitchFamily="34" charset="-120"/>
              </a:rPr>
              <a:t>Inge. Max Cerna · Guatemala, </a:t>
            </a:r>
            <a:r>
              <a:rPr lang="en-US" sz="1300" dirty="0" err="1">
                <a:solidFill>
                  <a:srgbClr val="8EC5F0"/>
                </a:solidFill>
                <a:latin typeface="Century Schoolbook" panose="02040604050505020304" pitchFamily="18" charset="0"/>
                <a:ea typeface="Calibri" pitchFamily="34" charset="-122"/>
                <a:cs typeface="Calibri" pitchFamily="34" charset="-120"/>
              </a:rPr>
              <a:t>octubre</a:t>
            </a:r>
            <a:r>
              <a:rPr lang="en-US" sz="1300" dirty="0">
                <a:solidFill>
                  <a:srgbClr val="8EC5F0"/>
                </a:solidFill>
                <a:latin typeface="Century Schoolbook" panose="02040604050505020304" pitchFamily="18" charset="0"/>
                <a:ea typeface="Calibri" pitchFamily="34" charset="-122"/>
                <a:cs typeface="Calibri" pitchFamily="34" charset="-120"/>
              </a:rPr>
              <a:t> de 2026</a:t>
            </a:r>
            <a:endParaRPr lang="en-US" sz="1300" dirty="0">
              <a:latin typeface="Century Schoolbook" panose="02040604050505020304" pitchFamily="18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9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A2540"/>
                </a:solidFill>
                <a:latin typeface="Century Schoolbook" panose="02040604050505020304" pitchFamily="18" charset="0"/>
                <a:ea typeface="Cambria" pitchFamily="34" charset="-122"/>
                <a:cs typeface="Cambria" pitchFamily="34" charset="-120"/>
              </a:rPr>
              <a:t>El reto: cuatro operadores, cuatro formatos</a:t>
            </a:r>
            <a:endParaRPr lang="en-US" sz="2800" dirty="0">
              <a:latin typeface="Century Schoolbook" panose="02040604050505020304" pitchFamily="18" charset="0"/>
            </a:endParaRPr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1920240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8EC5F0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GT">
              <a:latin typeface="Century Schoolbook" panose="02040604050505020304" pitchFamily="18" charset="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365760" cy="365760"/>
          </a:xfrm>
          <a:prstGeom prst="ellipse">
            <a:avLst/>
          </a:prstGeom>
          <a:solidFill>
            <a:srgbClr val="2F80ED"/>
          </a:solidFill>
          <a:ln w="12700">
            <a:solidFill>
              <a:srgbClr val="2F80ED"/>
            </a:solidFill>
            <a:prstDash val="solid"/>
          </a:ln>
        </p:spPr>
        <p:txBody>
          <a:bodyPr/>
          <a:lstStyle/>
          <a:p>
            <a:endParaRPr lang="es-GT">
              <a:latin typeface="Century Schoolbook" panose="02040604050505020304" pitchFamily="18" charset="0"/>
            </a:endParaRPr>
          </a:p>
        </p:txBody>
      </p:sp>
      <p:sp>
        <p:nvSpPr>
          <p:cNvPr id="5" name="Text 3"/>
          <p:cNvSpPr txBox="1"/>
          <p:nvPr/>
        </p:nvSpPr>
        <p:spPr>
          <a:xfrm>
            <a:off x="640080" y="14630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entury Schoolbook" panose="02040604050505020304" pitchFamily="18" charset="0"/>
                <a:ea typeface="Cambria" pitchFamily="34" charset="-122"/>
                <a:cs typeface="Cambria" pitchFamily="34" charset="-120"/>
              </a:rPr>
              <a:t>1</a:t>
            </a:r>
            <a:endParaRPr lang="en-US" sz="1300" dirty="0">
              <a:latin typeface="Century Schoolbook" panose="02040604050505020304" pitchFamily="18" charset="0"/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640080" y="192024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A2540"/>
                </a:solidFill>
                <a:latin typeface="Century Schoolbook" panose="02040604050505020304" pitchFamily="18" charset="0"/>
                <a:ea typeface="Cambria" pitchFamily="34" charset="-122"/>
                <a:cs typeface="Cambria" pitchFamily="34" charset="-120"/>
              </a:rPr>
              <a:t>Transmetro</a:t>
            </a:r>
            <a:endParaRPr lang="en-US" sz="1600" dirty="0">
              <a:latin typeface="Century Schoolbook" panose="02040604050505020304" pitchFamily="18" charset="0"/>
            </a:endParaRPr>
          </a:p>
        </p:txBody>
      </p:sp>
      <p:sp>
        <p:nvSpPr>
          <p:cNvPr id="7" name="Text 5"/>
          <p:cNvSpPr txBox="1"/>
          <p:nvPr/>
        </p:nvSpPr>
        <p:spPr>
          <a:xfrm>
            <a:off x="640080" y="2286000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2304F"/>
                </a:solidFill>
                <a:latin typeface="Century Schoolbook" panose="02040604050505020304" pitchFamily="18" charset="0"/>
                <a:ea typeface="Calibri" pitchFamily="34" charset="-122"/>
                <a:cs typeface="Calibri" pitchFamily="34" charset="-120"/>
              </a:rPr>
              <a:t>Validaciones y padrón con cambios CDC</a:t>
            </a:r>
            <a:endParaRPr lang="en-US" sz="1200" dirty="0">
              <a:latin typeface="Century Schoolbook" panose="02040604050505020304" pitchFamily="18" charset="0"/>
            </a:endParaRPr>
          </a:p>
        </p:txBody>
      </p:sp>
      <p:sp>
        <p:nvSpPr>
          <p:cNvPr id="8" name="Shape 6"/>
          <p:cNvSpPr/>
          <p:nvPr/>
        </p:nvSpPr>
        <p:spPr>
          <a:xfrm>
            <a:off x="2542032" y="1280160"/>
            <a:ext cx="1920240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8EC5F0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GT">
              <a:latin typeface="Century Schoolbook" panose="02040604050505020304" pitchFamily="18" charset="0"/>
            </a:endParaRPr>
          </a:p>
        </p:txBody>
      </p:sp>
      <p:sp>
        <p:nvSpPr>
          <p:cNvPr id="9" name="Shape 7"/>
          <p:cNvSpPr/>
          <p:nvPr/>
        </p:nvSpPr>
        <p:spPr>
          <a:xfrm>
            <a:off x="2724912" y="1463040"/>
            <a:ext cx="365760" cy="365760"/>
          </a:xfrm>
          <a:prstGeom prst="ellipse">
            <a:avLst/>
          </a:prstGeom>
          <a:solidFill>
            <a:srgbClr val="2F80ED"/>
          </a:solidFill>
          <a:ln w="12700">
            <a:solidFill>
              <a:srgbClr val="2F80ED"/>
            </a:solidFill>
            <a:prstDash val="solid"/>
          </a:ln>
        </p:spPr>
        <p:txBody>
          <a:bodyPr/>
          <a:lstStyle/>
          <a:p>
            <a:endParaRPr lang="es-GT">
              <a:latin typeface="Century Schoolbook" panose="02040604050505020304" pitchFamily="18" charset="0"/>
            </a:endParaRPr>
          </a:p>
        </p:txBody>
      </p:sp>
      <p:sp>
        <p:nvSpPr>
          <p:cNvPr id="10" name="Text 8"/>
          <p:cNvSpPr txBox="1"/>
          <p:nvPr/>
        </p:nvSpPr>
        <p:spPr>
          <a:xfrm>
            <a:off x="2724912" y="14630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entury Schoolbook" panose="02040604050505020304" pitchFamily="18" charset="0"/>
                <a:ea typeface="Cambria" pitchFamily="34" charset="-122"/>
                <a:cs typeface="Cambria" pitchFamily="34" charset="-120"/>
              </a:rPr>
              <a:t>2</a:t>
            </a:r>
            <a:endParaRPr lang="en-US" sz="1300" dirty="0">
              <a:latin typeface="Century Schoolbook" panose="02040604050505020304" pitchFamily="18" charset="0"/>
            </a:endParaRPr>
          </a:p>
        </p:txBody>
      </p:sp>
      <p:sp>
        <p:nvSpPr>
          <p:cNvPr id="11" name="Text 9"/>
          <p:cNvSpPr txBox="1"/>
          <p:nvPr/>
        </p:nvSpPr>
        <p:spPr>
          <a:xfrm>
            <a:off x="2724912" y="192024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A2540"/>
                </a:solidFill>
                <a:latin typeface="Century Schoolbook" panose="02040604050505020304" pitchFamily="18" charset="0"/>
                <a:ea typeface="Cambria" pitchFamily="34" charset="-122"/>
                <a:cs typeface="Cambria" pitchFamily="34" charset="-120"/>
              </a:rPr>
              <a:t>Transurbano</a:t>
            </a:r>
            <a:endParaRPr lang="en-US" sz="1600" dirty="0">
              <a:latin typeface="Century Schoolbook" panose="02040604050505020304" pitchFamily="18" charset="0"/>
            </a:endParaRPr>
          </a:p>
        </p:txBody>
      </p:sp>
      <p:sp>
        <p:nvSpPr>
          <p:cNvPr id="12" name="Text 10"/>
          <p:cNvSpPr txBox="1"/>
          <p:nvPr/>
        </p:nvSpPr>
        <p:spPr>
          <a:xfrm>
            <a:off x="2724912" y="2286000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2304F"/>
                </a:solidFill>
                <a:latin typeface="Century Schoolbook" panose="02040604050505020304" pitchFamily="18" charset="0"/>
                <a:ea typeface="Calibri" pitchFamily="34" charset="-122"/>
                <a:cs typeface="Calibri" pitchFamily="34" charset="-120"/>
              </a:rPr>
              <a:t>Montos en centavos, archivo batch</a:t>
            </a:r>
            <a:endParaRPr lang="en-US" sz="1200" dirty="0">
              <a:latin typeface="Century Schoolbook" panose="02040604050505020304" pitchFamily="18" charset="0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4626864" y="1280160"/>
            <a:ext cx="1920240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8EC5F0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GT">
              <a:latin typeface="Century Schoolbook" panose="02040604050505020304" pitchFamily="18" charset="0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4809744" y="1463040"/>
            <a:ext cx="365760" cy="365760"/>
          </a:xfrm>
          <a:prstGeom prst="ellipse">
            <a:avLst/>
          </a:prstGeom>
          <a:solidFill>
            <a:srgbClr val="2F80ED"/>
          </a:solidFill>
          <a:ln w="12700">
            <a:solidFill>
              <a:srgbClr val="2F80ED"/>
            </a:solidFill>
            <a:prstDash val="solid"/>
          </a:ln>
        </p:spPr>
        <p:txBody>
          <a:bodyPr/>
          <a:lstStyle/>
          <a:p>
            <a:endParaRPr lang="es-GT">
              <a:latin typeface="Century Schoolbook" panose="02040604050505020304" pitchFamily="18" charset="0"/>
            </a:endParaRPr>
          </a:p>
        </p:txBody>
      </p:sp>
      <p:sp>
        <p:nvSpPr>
          <p:cNvPr id="15" name="Text 13"/>
          <p:cNvSpPr txBox="1"/>
          <p:nvPr/>
        </p:nvSpPr>
        <p:spPr>
          <a:xfrm>
            <a:off x="4809744" y="14630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entury Schoolbook" panose="02040604050505020304" pitchFamily="18" charset="0"/>
                <a:ea typeface="Cambria" pitchFamily="34" charset="-122"/>
                <a:cs typeface="Cambria" pitchFamily="34" charset="-120"/>
              </a:rPr>
              <a:t>3</a:t>
            </a:r>
            <a:endParaRPr lang="en-US" sz="1300" dirty="0">
              <a:latin typeface="Century Schoolbook" panose="02040604050505020304" pitchFamily="18" charset="0"/>
            </a:endParaRPr>
          </a:p>
        </p:txBody>
      </p:sp>
      <p:sp>
        <p:nvSpPr>
          <p:cNvPr id="16" name="Text 14"/>
          <p:cNvSpPr txBox="1"/>
          <p:nvPr/>
        </p:nvSpPr>
        <p:spPr>
          <a:xfrm>
            <a:off x="4809744" y="192024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A2540"/>
                </a:solidFill>
                <a:latin typeface="Century Schoolbook" panose="02040604050505020304" pitchFamily="18" charset="0"/>
                <a:ea typeface="Cambria" pitchFamily="34" charset="-122"/>
                <a:cs typeface="Cambria" pitchFamily="34" charset="-120"/>
              </a:rPr>
              <a:t>MetroRiel</a:t>
            </a:r>
            <a:endParaRPr lang="en-US" sz="1600" dirty="0">
              <a:latin typeface="Century Schoolbook" panose="02040604050505020304" pitchFamily="18" charset="0"/>
            </a:endParaRPr>
          </a:p>
        </p:txBody>
      </p:sp>
      <p:sp>
        <p:nvSpPr>
          <p:cNvPr id="17" name="Text 15"/>
          <p:cNvSpPr txBox="1"/>
          <p:nvPr/>
        </p:nvSpPr>
        <p:spPr>
          <a:xfrm>
            <a:off x="4809744" y="2286000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2304F"/>
                </a:solidFill>
                <a:latin typeface="Century Schoolbook" panose="02040604050505020304" pitchFamily="18" charset="0"/>
                <a:ea typeface="Calibri" pitchFamily="34" charset="-122"/>
                <a:cs typeface="Calibri" pitchFamily="34" charset="-120"/>
              </a:rPr>
              <a:t>Viajes completos con entrada y salida</a:t>
            </a:r>
            <a:endParaRPr lang="en-US" sz="1200" dirty="0">
              <a:latin typeface="Century Schoolbook" panose="02040604050505020304" pitchFamily="18" charset="0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6711696" y="1280160"/>
            <a:ext cx="1920240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8EC5F0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GT">
              <a:latin typeface="Century Schoolbook" panose="02040604050505020304" pitchFamily="18" charset="0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6894576" y="1463040"/>
            <a:ext cx="365760" cy="365760"/>
          </a:xfrm>
          <a:prstGeom prst="ellipse">
            <a:avLst/>
          </a:prstGeom>
          <a:solidFill>
            <a:srgbClr val="2F80ED"/>
          </a:solidFill>
          <a:ln w="12700">
            <a:solidFill>
              <a:srgbClr val="2F80ED"/>
            </a:solidFill>
            <a:prstDash val="solid"/>
          </a:ln>
        </p:spPr>
        <p:txBody>
          <a:bodyPr/>
          <a:lstStyle/>
          <a:p>
            <a:endParaRPr lang="es-GT">
              <a:latin typeface="Century Schoolbook" panose="02040604050505020304" pitchFamily="18" charset="0"/>
            </a:endParaRPr>
          </a:p>
        </p:txBody>
      </p:sp>
      <p:sp>
        <p:nvSpPr>
          <p:cNvPr id="20" name="Text 18"/>
          <p:cNvSpPr txBox="1"/>
          <p:nvPr/>
        </p:nvSpPr>
        <p:spPr>
          <a:xfrm>
            <a:off x="6894576" y="14630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entury Schoolbook" panose="02040604050505020304" pitchFamily="18" charset="0"/>
                <a:ea typeface="Cambria" pitchFamily="34" charset="-122"/>
                <a:cs typeface="Cambria" pitchFamily="34" charset="-120"/>
              </a:rPr>
              <a:t>4</a:t>
            </a:r>
            <a:endParaRPr lang="en-US" sz="1300" dirty="0">
              <a:latin typeface="Century Schoolbook" panose="02040604050505020304" pitchFamily="18" charset="0"/>
            </a:endParaRPr>
          </a:p>
        </p:txBody>
      </p:sp>
      <p:sp>
        <p:nvSpPr>
          <p:cNvPr id="21" name="Text 19"/>
          <p:cNvSpPr txBox="1"/>
          <p:nvPr/>
        </p:nvSpPr>
        <p:spPr>
          <a:xfrm>
            <a:off x="6894576" y="192024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A2540"/>
                </a:solidFill>
                <a:latin typeface="Century Schoolbook" panose="02040604050505020304" pitchFamily="18" charset="0"/>
                <a:ea typeface="Cambria" pitchFamily="34" charset="-122"/>
                <a:cs typeface="Cambria" pitchFamily="34" charset="-120"/>
              </a:rPr>
              <a:t>Aerometro</a:t>
            </a:r>
            <a:endParaRPr lang="en-US" sz="1600" dirty="0">
              <a:latin typeface="Century Schoolbook" panose="02040604050505020304" pitchFamily="18" charset="0"/>
            </a:endParaRPr>
          </a:p>
        </p:txBody>
      </p:sp>
      <p:sp>
        <p:nvSpPr>
          <p:cNvPr id="22" name="Text 20"/>
          <p:cNvSpPr txBox="1"/>
          <p:nvPr/>
        </p:nvSpPr>
        <p:spPr>
          <a:xfrm>
            <a:off x="6894576" y="2286000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2304F"/>
                </a:solidFill>
                <a:latin typeface="Century Schoolbook" panose="02040604050505020304" pitchFamily="18" charset="0"/>
                <a:ea typeface="Calibri" pitchFamily="34" charset="-122"/>
                <a:cs typeface="Calibri" pitchFamily="34" charset="-120"/>
              </a:rPr>
              <a:t>Abordajes en hora UTC</a:t>
            </a:r>
            <a:endParaRPr lang="en-US" sz="1200" dirty="0">
              <a:latin typeface="Century Schoolbook" panose="02040604050505020304" pitchFamily="18" charset="0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457200" y="3383280"/>
            <a:ext cx="8229600" cy="1188720"/>
          </a:xfrm>
          <a:prstGeom prst="roundRect">
            <a:avLst>
              <a:gd name="adj" fmla="val 7692"/>
            </a:avLst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  <p:txBody>
          <a:bodyPr/>
          <a:lstStyle/>
          <a:p>
            <a:endParaRPr lang="es-GT">
              <a:latin typeface="Century Schoolbook" panose="02040604050505020304" pitchFamily="18" charset="0"/>
            </a:endParaRPr>
          </a:p>
        </p:txBody>
      </p:sp>
      <p:sp>
        <p:nvSpPr>
          <p:cNvPr id="24" name="Text 22"/>
          <p:cNvSpPr txBox="1"/>
          <p:nvPr/>
        </p:nvSpPr>
        <p:spPr>
          <a:xfrm>
            <a:off x="731520" y="3474720"/>
            <a:ext cx="7680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entury Schoolbook" panose="02040604050505020304" pitchFamily="18" charset="0"/>
                <a:ea typeface="Calibri" pitchFamily="34" charset="-122"/>
                <a:cs typeface="Calibri" pitchFamily="34" charset="-120"/>
              </a:rPr>
              <a:t>Problema: </a:t>
            </a:r>
            <a:r>
              <a:rPr lang="en-US" sz="1600" dirty="0">
                <a:solidFill>
                  <a:srgbClr val="DCEBFA"/>
                </a:solidFill>
                <a:latin typeface="Century Schoolbook" panose="02040604050505020304" pitchFamily="18" charset="0"/>
                <a:ea typeface="Calibri" pitchFamily="34" charset="-122"/>
                <a:cs typeface="Calibri" pitchFamily="34" charset="-120"/>
              </a:rPr>
              <a:t>no existe una plataforma unificada que integre, limpie y valide los datos sin perder los originales ni el historial de los usuarios.</a:t>
            </a:r>
            <a:endParaRPr lang="en-US" sz="1600" dirty="0">
              <a:latin typeface="Century Schoolbook" panose="02040604050505020304" pitchFamily="18" charset="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9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A2540"/>
                </a:solidFill>
                <a:latin typeface="Century Schoolbook" panose="02040604050505020304" pitchFamily="18" charset="0"/>
                <a:ea typeface="Cambria" pitchFamily="34" charset="-122"/>
                <a:cs typeface="Cambria" pitchFamily="34" charset="-120"/>
              </a:rPr>
              <a:t>Arquitectura por capas</a:t>
            </a:r>
            <a:endParaRPr lang="en-US" sz="2800" dirty="0">
              <a:latin typeface="Century Schoolbook" panose="02040604050505020304" pitchFamily="18" charset="0"/>
            </a:endParaRPr>
          </a:p>
        </p:txBody>
      </p:sp>
      <p:sp>
        <p:nvSpPr>
          <p:cNvPr id="3" name="Shape 1"/>
          <p:cNvSpPr/>
          <p:nvPr/>
        </p:nvSpPr>
        <p:spPr>
          <a:xfrm>
            <a:off x="457200" y="1371600"/>
            <a:ext cx="1463040" cy="2011680"/>
          </a:xfrm>
          <a:prstGeom prst="roundRect">
            <a:avLst>
              <a:gd name="adj" fmla="val 6250"/>
            </a:avLst>
          </a:prstGeom>
          <a:solidFill>
            <a:srgbClr val="8EC5F0"/>
          </a:solidFill>
          <a:ln w="12700">
            <a:solidFill>
              <a:srgbClr val="8EC5F0"/>
            </a:solidFill>
            <a:prstDash val="solid"/>
          </a:ln>
        </p:spPr>
        <p:txBody>
          <a:bodyPr/>
          <a:lstStyle/>
          <a:p>
            <a:endParaRPr lang="es-GT">
              <a:latin typeface="Century Schoolbook" panose="02040604050505020304" pitchFamily="18" charset="0"/>
            </a:endParaRPr>
          </a:p>
        </p:txBody>
      </p:sp>
      <p:sp>
        <p:nvSpPr>
          <p:cNvPr id="4" name="Text 2"/>
          <p:cNvSpPr txBox="1"/>
          <p:nvPr/>
        </p:nvSpPr>
        <p:spPr>
          <a:xfrm>
            <a:off x="457200" y="150876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A2540"/>
                </a:solidFill>
                <a:latin typeface="Century Schoolbook" panose="02040604050505020304" pitchFamily="18" charset="0"/>
                <a:ea typeface="Cambria" pitchFamily="34" charset="-122"/>
                <a:cs typeface="Cambria" pitchFamily="34" charset="-120"/>
              </a:rPr>
              <a:t>Fuentes</a:t>
            </a:r>
            <a:endParaRPr lang="en-US" sz="1800" dirty="0">
              <a:latin typeface="Century Schoolbook" panose="02040604050505020304" pitchFamily="18" charset="0"/>
            </a:endParaRPr>
          </a:p>
        </p:txBody>
      </p:sp>
      <p:sp>
        <p:nvSpPr>
          <p:cNvPr id="5" name="Text 3"/>
          <p:cNvSpPr txBox="1"/>
          <p:nvPr/>
        </p:nvSpPr>
        <p:spPr>
          <a:xfrm>
            <a:off x="548640" y="2011680"/>
            <a:ext cx="1280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dirty="0">
                <a:solidFill>
                  <a:srgbClr val="0A2540"/>
                </a:solidFill>
                <a:latin typeface="Century Schoolbook" panose="02040604050505020304" pitchFamily="18" charset="0"/>
                <a:ea typeface="Calibri" pitchFamily="34" charset="-122"/>
                <a:cs typeface="Calibri" pitchFamily="34" charset="-120"/>
              </a:rPr>
              <a:t>Streaming Kafka</a:t>
            </a:r>
            <a:endParaRPr lang="en-US" sz="1300" dirty="0">
              <a:latin typeface="Century Schoolbook" panose="02040604050505020304" pitchFamily="18" charset="0"/>
            </a:endParaRPr>
          </a:p>
          <a:p>
            <a:pPr marL="0" indent="0" algn="ctr">
              <a:buNone/>
            </a:pPr>
            <a:r>
              <a:rPr lang="en-US" sz="1300" dirty="0">
                <a:solidFill>
                  <a:srgbClr val="0A2540"/>
                </a:solidFill>
                <a:latin typeface="Century Schoolbook" panose="02040604050505020304" pitchFamily="18" charset="0"/>
                <a:ea typeface="Calibri" pitchFamily="34" charset="-122"/>
                <a:cs typeface="Calibri" pitchFamily="34" charset="-120"/>
              </a:rPr>
              <a:t>Batch</a:t>
            </a:r>
            <a:endParaRPr lang="en-US" sz="1300" dirty="0">
              <a:latin typeface="Century Schoolbook" panose="02040604050505020304" pitchFamily="18" charset="0"/>
            </a:endParaRPr>
          </a:p>
          <a:p>
            <a:pPr marL="0" indent="0" algn="ctr">
              <a:buNone/>
            </a:pPr>
            <a:r>
              <a:rPr lang="en-US" sz="1300" dirty="0">
                <a:solidFill>
                  <a:srgbClr val="0A2540"/>
                </a:solidFill>
                <a:latin typeface="Century Schoolbook" panose="02040604050505020304" pitchFamily="18" charset="0"/>
                <a:ea typeface="Calibri" pitchFamily="34" charset="-122"/>
                <a:cs typeface="Calibri" pitchFamily="34" charset="-120"/>
              </a:rPr>
              <a:t>CDC</a:t>
            </a:r>
            <a:endParaRPr lang="en-US" sz="1300" dirty="0">
              <a:latin typeface="Century Schoolbook" panose="02040604050505020304" pitchFamily="18" charset="0"/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1920240" y="2057400"/>
            <a:ext cx="228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2F80ED"/>
                </a:solidFill>
                <a:latin typeface="Century Schoolbook" panose="02040604050505020304" pitchFamily="18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800" dirty="0">
              <a:latin typeface="Century Schoolbook" panose="02040604050505020304" pitchFamily="18" charset="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2148840" y="1371600"/>
            <a:ext cx="1463040" cy="2011680"/>
          </a:xfrm>
          <a:prstGeom prst="roundRect">
            <a:avLst>
              <a:gd name="adj" fmla="val 6250"/>
            </a:avLst>
          </a:prstGeom>
          <a:solidFill>
            <a:srgbClr val="6FB1EA"/>
          </a:solidFill>
          <a:ln w="12700">
            <a:solidFill>
              <a:srgbClr val="6FB1EA"/>
            </a:solidFill>
            <a:prstDash val="solid"/>
          </a:ln>
        </p:spPr>
        <p:txBody>
          <a:bodyPr/>
          <a:lstStyle/>
          <a:p>
            <a:endParaRPr lang="es-GT">
              <a:latin typeface="Century Schoolbook" panose="02040604050505020304" pitchFamily="18" charset="0"/>
            </a:endParaRPr>
          </a:p>
        </p:txBody>
      </p:sp>
      <p:sp>
        <p:nvSpPr>
          <p:cNvPr id="8" name="Text 6"/>
          <p:cNvSpPr txBox="1"/>
          <p:nvPr/>
        </p:nvSpPr>
        <p:spPr>
          <a:xfrm>
            <a:off x="2148840" y="150876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A2540"/>
                </a:solidFill>
                <a:latin typeface="Century Schoolbook" panose="02040604050505020304" pitchFamily="18" charset="0"/>
                <a:ea typeface="Cambria" pitchFamily="34" charset="-122"/>
                <a:cs typeface="Cambria" pitchFamily="34" charset="-120"/>
              </a:rPr>
              <a:t>Bronze</a:t>
            </a:r>
            <a:endParaRPr lang="en-US" sz="1800" dirty="0">
              <a:latin typeface="Century Schoolbook" panose="02040604050505020304" pitchFamily="18" charset="0"/>
            </a:endParaRPr>
          </a:p>
        </p:txBody>
      </p:sp>
      <p:sp>
        <p:nvSpPr>
          <p:cNvPr id="9" name="Text 7"/>
          <p:cNvSpPr txBox="1"/>
          <p:nvPr/>
        </p:nvSpPr>
        <p:spPr>
          <a:xfrm>
            <a:off x="2240280" y="2011680"/>
            <a:ext cx="1280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dirty="0">
                <a:solidFill>
                  <a:srgbClr val="0A2540"/>
                </a:solidFill>
                <a:latin typeface="Century Schoolbook" panose="02040604050505020304" pitchFamily="18" charset="0"/>
                <a:ea typeface="Calibri" pitchFamily="34" charset="-122"/>
                <a:cs typeface="Calibri" pitchFamily="34" charset="-120"/>
              </a:rPr>
              <a:t>Parquet por fecha</a:t>
            </a:r>
            <a:endParaRPr lang="en-US" sz="1300" dirty="0">
              <a:latin typeface="Century Schoolbook" panose="02040604050505020304" pitchFamily="18" charset="0"/>
            </a:endParaRPr>
          </a:p>
          <a:p>
            <a:pPr marL="0" indent="0" algn="ctr">
              <a:buNone/>
            </a:pPr>
            <a:r>
              <a:rPr lang="en-US" sz="1300" dirty="0">
                <a:solidFill>
                  <a:srgbClr val="0A2540"/>
                </a:solidFill>
                <a:latin typeface="Century Schoolbook" panose="02040604050505020304" pitchFamily="18" charset="0"/>
                <a:ea typeface="Calibri" pitchFamily="34" charset="-122"/>
                <a:cs typeface="Calibri" pitchFamily="34" charset="-120"/>
              </a:rPr>
              <a:t>67 MB</a:t>
            </a:r>
            <a:endParaRPr lang="en-US" sz="1300" dirty="0">
              <a:latin typeface="Century Schoolbook" panose="02040604050505020304" pitchFamily="18" charset="0"/>
            </a:endParaRPr>
          </a:p>
        </p:txBody>
      </p:sp>
      <p:sp>
        <p:nvSpPr>
          <p:cNvPr id="10" name="Text 8"/>
          <p:cNvSpPr txBox="1"/>
          <p:nvPr/>
        </p:nvSpPr>
        <p:spPr>
          <a:xfrm>
            <a:off x="3611880" y="2057400"/>
            <a:ext cx="228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2F80ED"/>
                </a:solidFill>
                <a:latin typeface="Century Schoolbook" panose="02040604050505020304" pitchFamily="18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800" dirty="0">
              <a:latin typeface="Century Schoolbook" panose="02040604050505020304" pitchFamily="18" charset="0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3840480" y="1371600"/>
            <a:ext cx="1463040" cy="2011680"/>
          </a:xfrm>
          <a:prstGeom prst="roundRect">
            <a:avLst>
              <a:gd name="adj" fmla="val 6250"/>
            </a:avLst>
          </a:prstGeom>
          <a:solidFill>
            <a:srgbClr val="2F80ED"/>
          </a:solidFill>
          <a:ln w="12700">
            <a:solidFill>
              <a:srgbClr val="2F80ED"/>
            </a:solidFill>
            <a:prstDash val="solid"/>
          </a:ln>
        </p:spPr>
        <p:txBody>
          <a:bodyPr/>
          <a:lstStyle/>
          <a:p>
            <a:endParaRPr lang="es-GT">
              <a:latin typeface="Century Schoolbook" panose="02040604050505020304" pitchFamily="18" charset="0"/>
            </a:endParaRPr>
          </a:p>
        </p:txBody>
      </p:sp>
      <p:sp>
        <p:nvSpPr>
          <p:cNvPr id="12" name="Text 10"/>
          <p:cNvSpPr txBox="1"/>
          <p:nvPr/>
        </p:nvSpPr>
        <p:spPr>
          <a:xfrm>
            <a:off x="3840480" y="150876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entury Schoolbook" panose="02040604050505020304" pitchFamily="18" charset="0"/>
                <a:ea typeface="Cambria" pitchFamily="34" charset="-122"/>
                <a:cs typeface="Cambria" pitchFamily="34" charset="-120"/>
              </a:rPr>
              <a:t>Staging</a:t>
            </a:r>
            <a:endParaRPr lang="en-US" sz="1800" dirty="0">
              <a:latin typeface="Century Schoolbook" panose="02040604050505020304" pitchFamily="18" charset="0"/>
            </a:endParaRPr>
          </a:p>
        </p:txBody>
      </p:sp>
      <p:sp>
        <p:nvSpPr>
          <p:cNvPr id="13" name="Text 11"/>
          <p:cNvSpPr txBox="1"/>
          <p:nvPr/>
        </p:nvSpPr>
        <p:spPr>
          <a:xfrm>
            <a:off x="3931920" y="2011680"/>
            <a:ext cx="1280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Century Schoolbook" panose="02040604050505020304" pitchFamily="18" charset="0"/>
                <a:ea typeface="Calibri" pitchFamily="34" charset="-122"/>
                <a:cs typeface="Calibri" pitchFamily="34" charset="-120"/>
              </a:rPr>
              <a:t>PostgreSQL</a:t>
            </a:r>
            <a:endParaRPr lang="en-US" sz="1300" dirty="0">
              <a:latin typeface="Century Schoolbook" panose="02040604050505020304" pitchFamily="18" charset="0"/>
            </a:endParaRPr>
          </a:p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Century Schoolbook" panose="02040604050505020304" pitchFamily="18" charset="0"/>
                <a:ea typeface="Calibri" pitchFamily="34" charset="-122"/>
                <a:cs typeface="Calibri" pitchFamily="34" charset="-120"/>
              </a:rPr>
              <a:t>carga temporal</a:t>
            </a:r>
            <a:endParaRPr lang="en-US" sz="1300" dirty="0">
              <a:latin typeface="Century Schoolbook" panose="02040604050505020304" pitchFamily="18" charset="0"/>
            </a:endParaRPr>
          </a:p>
        </p:txBody>
      </p:sp>
      <p:sp>
        <p:nvSpPr>
          <p:cNvPr id="14" name="Text 12"/>
          <p:cNvSpPr txBox="1"/>
          <p:nvPr/>
        </p:nvSpPr>
        <p:spPr>
          <a:xfrm>
            <a:off x="5303520" y="2057400"/>
            <a:ext cx="228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2F80ED"/>
                </a:solidFill>
                <a:latin typeface="Century Schoolbook" panose="02040604050505020304" pitchFamily="18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800" dirty="0">
              <a:latin typeface="Century Schoolbook" panose="02040604050505020304" pitchFamily="18" charset="0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5532120" y="1371600"/>
            <a:ext cx="1463040" cy="2011680"/>
          </a:xfrm>
          <a:prstGeom prst="roundRect">
            <a:avLst>
              <a:gd name="adj" fmla="val 6250"/>
            </a:avLst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  <p:txBody>
          <a:bodyPr/>
          <a:lstStyle/>
          <a:p>
            <a:endParaRPr lang="es-GT">
              <a:latin typeface="Century Schoolbook" panose="02040604050505020304" pitchFamily="18" charset="0"/>
            </a:endParaRPr>
          </a:p>
        </p:txBody>
      </p:sp>
      <p:sp>
        <p:nvSpPr>
          <p:cNvPr id="16" name="Text 14"/>
          <p:cNvSpPr txBox="1"/>
          <p:nvPr/>
        </p:nvSpPr>
        <p:spPr>
          <a:xfrm>
            <a:off x="5532120" y="150876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entury Schoolbook" panose="02040604050505020304" pitchFamily="18" charset="0"/>
                <a:ea typeface="Cambria" pitchFamily="34" charset="-122"/>
                <a:cs typeface="Cambria" pitchFamily="34" charset="-120"/>
              </a:rPr>
              <a:t>Silver</a:t>
            </a:r>
            <a:endParaRPr lang="en-US" sz="1800" dirty="0">
              <a:latin typeface="Century Schoolbook" panose="02040604050505020304" pitchFamily="18" charset="0"/>
            </a:endParaRPr>
          </a:p>
        </p:txBody>
      </p:sp>
      <p:sp>
        <p:nvSpPr>
          <p:cNvPr id="17" name="Text 15"/>
          <p:cNvSpPr txBox="1"/>
          <p:nvPr/>
        </p:nvSpPr>
        <p:spPr>
          <a:xfrm>
            <a:off x="5623560" y="2011680"/>
            <a:ext cx="1280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Century Schoolbook" panose="02040604050505020304" pitchFamily="18" charset="0"/>
                <a:ea typeface="Calibri" pitchFamily="34" charset="-122"/>
                <a:cs typeface="Calibri" pitchFamily="34" charset="-120"/>
              </a:rPr>
              <a:t>Limpieza, calidad</a:t>
            </a:r>
            <a:endParaRPr lang="en-US" sz="1300" dirty="0">
              <a:latin typeface="Century Schoolbook" panose="02040604050505020304" pitchFamily="18" charset="0"/>
            </a:endParaRPr>
          </a:p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Century Schoolbook" panose="02040604050505020304" pitchFamily="18" charset="0"/>
                <a:ea typeface="Calibri" pitchFamily="34" charset="-122"/>
                <a:cs typeface="Calibri" pitchFamily="34" charset="-120"/>
              </a:rPr>
              <a:t>y cuarentena</a:t>
            </a:r>
            <a:endParaRPr lang="en-US" sz="1300" dirty="0">
              <a:latin typeface="Century Schoolbook" panose="02040604050505020304" pitchFamily="18" charset="0"/>
            </a:endParaRPr>
          </a:p>
        </p:txBody>
      </p:sp>
      <p:sp>
        <p:nvSpPr>
          <p:cNvPr id="18" name="Text 16"/>
          <p:cNvSpPr txBox="1"/>
          <p:nvPr/>
        </p:nvSpPr>
        <p:spPr>
          <a:xfrm>
            <a:off x="6995160" y="2057400"/>
            <a:ext cx="228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2F80ED"/>
                </a:solidFill>
                <a:latin typeface="Century Schoolbook" panose="02040604050505020304" pitchFamily="18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800" dirty="0">
              <a:latin typeface="Century Schoolbook" panose="02040604050505020304" pitchFamily="18" charset="0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7223760" y="1371600"/>
            <a:ext cx="1463040" cy="2011680"/>
          </a:xfrm>
          <a:prstGeom prst="roundRect">
            <a:avLst>
              <a:gd name="adj" fmla="val 6250"/>
            </a:avLst>
          </a:prstGeom>
          <a:solidFill>
            <a:srgbClr val="0A2540"/>
          </a:solidFill>
          <a:ln w="12700">
            <a:solidFill>
              <a:srgbClr val="0A2540"/>
            </a:solidFill>
            <a:prstDash val="solid"/>
          </a:ln>
        </p:spPr>
        <p:txBody>
          <a:bodyPr/>
          <a:lstStyle/>
          <a:p>
            <a:endParaRPr lang="es-GT">
              <a:latin typeface="Century Schoolbook" panose="02040604050505020304" pitchFamily="18" charset="0"/>
            </a:endParaRPr>
          </a:p>
        </p:txBody>
      </p:sp>
      <p:sp>
        <p:nvSpPr>
          <p:cNvPr id="20" name="Text 18"/>
          <p:cNvSpPr txBox="1"/>
          <p:nvPr/>
        </p:nvSpPr>
        <p:spPr>
          <a:xfrm>
            <a:off x="7223760" y="150876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entury Schoolbook" panose="02040604050505020304" pitchFamily="18" charset="0"/>
                <a:ea typeface="Cambria" pitchFamily="34" charset="-122"/>
                <a:cs typeface="Cambria" pitchFamily="34" charset="-120"/>
              </a:rPr>
              <a:t>Gold</a:t>
            </a:r>
            <a:endParaRPr lang="en-US" sz="1800" dirty="0">
              <a:latin typeface="Century Schoolbook" panose="02040604050505020304" pitchFamily="18" charset="0"/>
            </a:endParaRPr>
          </a:p>
        </p:txBody>
      </p:sp>
      <p:sp>
        <p:nvSpPr>
          <p:cNvPr id="21" name="Text 19"/>
          <p:cNvSpPr txBox="1"/>
          <p:nvPr/>
        </p:nvSpPr>
        <p:spPr>
          <a:xfrm>
            <a:off x="7315200" y="2011680"/>
            <a:ext cx="1280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Century Schoolbook" panose="02040604050505020304" pitchFamily="18" charset="0"/>
                <a:ea typeface="Calibri" pitchFamily="34" charset="-122"/>
                <a:cs typeface="Calibri" pitchFamily="34" charset="-120"/>
              </a:rPr>
              <a:t>5 dimensiones</a:t>
            </a:r>
            <a:endParaRPr lang="en-US" sz="1300" dirty="0">
              <a:latin typeface="Century Schoolbook" panose="02040604050505020304" pitchFamily="18" charset="0"/>
            </a:endParaRPr>
          </a:p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Century Schoolbook" panose="02040604050505020304" pitchFamily="18" charset="0"/>
                <a:ea typeface="Calibri" pitchFamily="34" charset="-122"/>
                <a:cs typeface="Calibri" pitchFamily="34" charset="-120"/>
              </a:rPr>
              <a:t>2 hechos</a:t>
            </a:r>
            <a:endParaRPr lang="en-US" sz="1300" dirty="0">
              <a:latin typeface="Century Schoolbook" panose="02040604050505020304" pitchFamily="18" charset="0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457200" y="3794760"/>
            <a:ext cx="1920240" cy="685800"/>
          </a:xfrm>
          <a:prstGeom prst="roundRect">
            <a:avLst>
              <a:gd name="adj" fmla="val 13333"/>
            </a:avLst>
          </a:prstGeom>
          <a:solidFill>
            <a:srgbClr val="E8F3FC"/>
          </a:solidFill>
          <a:ln w="12700">
            <a:solidFill>
              <a:srgbClr val="8EC5F0"/>
            </a:solidFill>
            <a:prstDash val="solid"/>
          </a:ln>
        </p:spPr>
        <p:txBody>
          <a:bodyPr/>
          <a:lstStyle/>
          <a:p>
            <a:endParaRPr lang="es-GT">
              <a:latin typeface="Century Schoolbook" panose="02040604050505020304" pitchFamily="18" charset="0"/>
            </a:endParaRPr>
          </a:p>
        </p:txBody>
      </p:sp>
      <p:sp>
        <p:nvSpPr>
          <p:cNvPr id="23" name="Text 21"/>
          <p:cNvSpPr txBox="1"/>
          <p:nvPr/>
        </p:nvSpPr>
        <p:spPr>
          <a:xfrm>
            <a:off x="548640" y="3794760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2304F"/>
                </a:solidFill>
                <a:latin typeface="Century Schoolbook" panose="02040604050505020304" pitchFamily="18" charset="0"/>
                <a:ea typeface="Calibri" pitchFamily="34" charset="-122"/>
                <a:cs typeface="Calibri" pitchFamily="34" charset="-120"/>
              </a:rPr>
              <a:t>dbt · transformaciones y pruebas</a:t>
            </a:r>
            <a:endParaRPr lang="en-US" sz="1200" dirty="0">
              <a:latin typeface="Century Schoolbook" panose="02040604050505020304" pitchFamily="18" charset="0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2542032" y="3794760"/>
            <a:ext cx="1920240" cy="685800"/>
          </a:xfrm>
          <a:prstGeom prst="roundRect">
            <a:avLst>
              <a:gd name="adj" fmla="val 13333"/>
            </a:avLst>
          </a:prstGeom>
          <a:solidFill>
            <a:srgbClr val="E8F3FC"/>
          </a:solidFill>
          <a:ln w="12700">
            <a:solidFill>
              <a:srgbClr val="8EC5F0"/>
            </a:solidFill>
            <a:prstDash val="solid"/>
          </a:ln>
        </p:spPr>
        <p:txBody>
          <a:bodyPr/>
          <a:lstStyle/>
          <a:p>
            <a:endParaRPr lang="es-GT">
              <a:latin typeface="Century Schoolbook" panose="02040604050505020304" pitchFamily="18" charset="0"/>
            </a:endParaRPr>
          </a:p>
        </p:txBody>
      </p:sp>
      <p:sp>
        <p:nvSpPr>
          <p:cNvPr id="25" name="Text 23"/>
          <p:cNvSpPr txBox="1"/>
          <p:nvPr/>
        </p:nvSpPr>
        <p:spPr>
          <a:xfrm>
            <a:off x="2633472" y="3794760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2304F"/>
                </a:solidFill>
                <a:latin typeface="Century Schoolbook" panose="02040604050505020304" pitchFamily="18" charset="0"/>
                <a:ea typeface="Calibri" pitchFamily="34" charset="-122"/>
                <a:cs typeface="Calibri" pitchFamily="34" charset="-120"/>
              </a:rPr>
              <a:t>Prefect · orquestación</a:t>
            </a:r>
            <a:endParaRPr lang="en-US" sz="1200" dirty="0">
              <a:latin typeface="Century Schoolbook" panose="02040604050505020304" pitchFamily="18" charset="0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4626864" y="3794760"/>
            <a:ext cx="1920240" cy="685800"/>
          </a:xfrm>
          <a:prstGeom prst="roundRect">
            <a:avLst>
              <a:gd name="adj" fmla="val 13333"/>
            </a:avLst>
          </a:prstGeom>
          <a:solidFill>
            <a:srgbClr val="E8F3FC"/>
          </a:solidFill>
          <a:ln w="12700">
            <a:solidFill>
              <a:srgbClr val="8EC5F0"/>
            </a:solidFill>
            <a:prstDash val="solid"/>
          </a:ln>
        </p:spPr>
        <p:txBody>
          <a:bodyPr/>
          <a:lstStyle/>
          <a:p>
            <a:endParaRPr lang="es-GT">
              <a:latin typeface="Century Schoolbook" panose="02040604050505020304" pitchFamily="18" charset="0"/>
            </a:endParaRPr>
          </a:p>
        </p:txBody>
      </p:sp>
      <p:sp>
        <p:nvSpPr>
          <p:cNvPr id="27" name="Text 25"/>
          <p:cNvSpPr txBox="1"/>
          <p:nvPr/>
        </p:nvSpPr>
        <p:spPr>
          <a:xfrm>
            <a:off x="4718304" y="3794760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2304F"/>
                </a:solidFill>
                <a:latin typeface="Century Schoolbook" panose="02040604050505020304" pitchFamily="18" charset="0"/>
                <a:ea typeface="Calibri" pitchFamily="34" charset="-122"/>
                <a:cs typeface="Calibri" pitchFamily="34" charset="-120"/>
              </a:rPr>
              <a:t>Docker · infraestructura</a:t>
            </a:r>
            <a:endParaRPr lang="en-US" sz="1200" dirty="0">
              <a:latin typeface="Century Schoolbook" panose="02040604050505020304" pitchFamily="18" charset="0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6711696" y="3794760"/>
            <a:ext cx="1920240" cy="685800"/>
          </a:xfrm>
          <a:prstGeom prst="roundRect">
            <a:avLst>
              <a:gd name="adj" fmla="val 13333"/>
            </a:avLst>
          </a:prstGeom>
          <a:solidFill>
            <a:srgbClr val="E8F3FC"/>
          </a:solidFill>
          <a:ln w="12700">
            <a:solidFill>
              <a:srgbClr val="8EC5F0"/>
            </a:solidFill>
            <a:prstDash val="solid"/>
          </a:ln>
        </p:spPr>
        <p:txBody>
          <a:bodyPr/>
          <a:lstStyle/>
          <a:p>
            <a:endParaRPr lang="es-GT">
              <a:latin typeface="Century Schoolbook" panose="02040604050505020304" pitchFamily="18" charset="0"/>
            </a:endParaRPr>
          </a:p>
        </p:txBody>
      </p:sp>
      <p:sp>
        <p:nvSpPr>
          <p:cNvPr id="29" name="Text 27"/>
          <p:cNvSpPr txBox="1"/>
          <p:nvPr/>
        </p:nvSpPr>
        <p:spPr>
          <a:xfrm>
            <a:off x="6803136" y="3794760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2304F"/>
                </a:solidFill>
                <a:latin typeface="Century Schoolbook" panose="02040604050505020304" pitchFamily="18" charset="0"/>
                <a:ea typeface="Calibri" pitchFamily="34" charset="-122"/>
                <a:cs typeface="Calibri" pitchFamily="34" charset="-120"/>
              </a:rPr>
              <a:t>Tableau · consume Gold</a:t>
            </a:r>
            <a:endParaRPr lang="en-US" sz="1200" dirty="0">
              <a:latin typeface="Century Schoolbook" panose="02040604050505020304" pitchFamily="18" charset="0"/>
            </a:endParaRPr>
          </a:p>
        </p:txBody>
      </p:sp>
      <p:sp>
        <p:nvSpPr>
          <p:cNvPr id="30" name="Text 28"/>
          <p:cNvSpPr txBox="1"/>
          <p:nvPr/>
        </p:nvSpPr>
        <p:spPr>
          <a:xfrm>
            <a:off x="457200" y="46177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5B7A99"/>
                </a:solidFill>
                <a:latin typeface="Century Schoolbook" panose="02040604050505020304" pitchFamily="18" charset="0"/>
                <a:ea typeface="Calibri" pitchFamily="34" charset="-122"/>
                <a:cs typeface="Calibri" pitchFamily="34" charset="-120"/>
              </a:rPr>
              <a:t>Gold nunca consulta Bronze: todo pasa primero por Silver.</a:t>
            </a:r>
            <a:endParaRPr lang="en-US" sz="1100" dirty="0">
              <a:latin typeface="Century Schoolbook" panose="02040604050505020304" pitchFamily="18" charset="0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700" b="1" i="0">
                <a:solidFill>
                  <a:srgbClr val="072A49"/>
                </a:solidFill>
                <a:latin typeface="Century Schoolbook" panose="02040604050505020304" pitchFamily="18" charset="0"/>
              </a:rPr>
              <a:t>Cómo resolvimos la Fase 01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11480" y="987552"/>
            <a:ext cx="1965960" cy="1371600"/>
          </a:xfrm>
          <a:prstGeom prst="roundRect">
            <a:avLst/>
          </a:prstGeom>
          <a:solidFill>
            <a:srgbClr val="E7F2FA"/>
          </a:solidFill>
          <a:ln>
            <a:solidFill>
              <a:srgbClr val="A8CF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Century Schoolbook" panose="02040604050505020304" pitchFamily="18" charset="0"/>
            </a:endParaRPr>
          </a:p>
        </p:txBody>
      </p:sp>
      <p:sp>
        <p:nvSpPr>
          <p:cNvPr id="4" name="Oval 3"/>
          <p:cNvSpPr/>
          <p:nvPr/>
        </p:nvSpPr>
        <p:spPr>
          <a:xfrm>
            <a:off x="539496" y="1115568"/>
            <a:ext cx="365760" cy="365760"/>
          </a:xfrm>
          <a:prstGeom prst="ellipse">
            <a:avLst/>
          </a:prstGeom>
          <a:solidFill>
            <a:srgbClr val="246B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Century Schoolbook" panose="02040604050505020304" pitchFamily="18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39496" y="1167643"/>
            <a:ext cx="365760" cy="26161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entury Schoolbook" panose="02040604050505020304" pitchFamily="18" charset="0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" y="991118"/>
            <a:ext cx="1380744" cy="5232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 i="0" dirty="0" err="1">
                <a:solidFill>
                  <a:srgbClr val="072A49"/>
                </a:solidFill>
                <a:latin typeface="Century Schoolbook" panose="02040604050505020304" pitchFamily="18" charset="0"/>
              </a:rPr>
              <a:t>Preparamos</a:t>
            </a:r>
            <a:r>
              <a:rPr sz="1400" b="1" i="0" dirty="0">
                <a:solidFill>
                  <a:srgbClr val="072A49"/>
                </a:solidFill>
                <a:latin typeface="Century Schoolbook" panose="02040604050505020304" pitchFamily="18" charset="0"/>
              </a:rPr>
              <a:t> </a:t>
            </a:r>
            <a:r>
              <a:rPr sz="1400" b="1" i="0" dirty="0" err="1">
                <a:solidFill>
                  <a:srgbClr val="072A49"/>
                </a:solidFill>
                <a:latin typeface="Century Schoolbook" panose="02040604050505020304" pitchFamily="18" charset="0"/>
              </a:rPr>
              <a:t>el</a:t>
            </a:r>
            <a:r>
              <a:rPr sz="1400" b="1" i="0" dirty="0">
                <a:solidFill>
                  <a:srgbClr val="072A49"/>
                </a:solidFill>
                <a:latin typeface="Century Schoolbook" panose="02040604050505020304" pitchFamily="18" charset="0"/>
              </a:rPr>
              <a:t> </a:t>
            </a:r>
            <a:r>
              <a:rPr sz="1400" b="1" i="0" dirty="0" err="1">
                <a:solidFill>
                  <a:srgbClr val="072A49"/>
                </a:solidFill>
                <a:latin typeface="Century Schoolbook" panose="02040604050505020304" pitchFamily="18" charset="0"/>
              </a:rPr>
              <a:t>entorno</a:t>
            </a:r>
            <a:endParaRPr sz="1400" b="1" i="0" dirty="0">
              <a:solidFill>
                <a:srgbClr val="072A49"/>
              </a:solidFill>
              <a:latin typeface="Century Schoolbook" panose="02040604050505020304" pitchFamily="18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94360" y="1508088"/>
            <a:ext cx="1837944" cy="76944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 dirty="0">
                <a:solidFill>
                  <a:srgbClr val="526576"/>
                </a:solidFill>
                <a:latin typeface="Century Schoolbook" panose="02040604050505020304" pitchFamily="18" charset="0"/>
              </a:rPr>
              <a:t>Docker </a:t>
            </a:r>
            <a:r>
              <a:rPr sz="1100" b="0" i="0" dirty="0" err="1">
                <a:solidFill>
                  <a:srgbClr val="526576"/>
                </a:solidFill>
                <a:latin typeface="Century Schoolbook" panose="02040604050505020304" pitchFamily="18" charset="0"/>
              </a:rPr>
              <a:t>levantó</a:t>
            </a:r>
            <a:r>
              <a:rPr sz="1100" b="0" i="0" dirty="0">
                <a:solidFill>
                  <a:srgbClr val="526576"/>
                </a:solidFill>
                <a:latin typeface="Century Schoolbook" panose="02040604050505020304" pitchFamily="18" charset="0"/>
              </a:rPr>
              <a:t> PostgreSQL y Kafka; </a:t>
            </a:r>
            <a:r>
              <a:rPr sz="1100" b="0" i="0" dirty="0" err="1">
                <a:solidFill>
                  <a:srgbClr val="526576"/>
                </a:solidFill>
                <a:latin typeface="Century Schoolbook" panose="02040604050505020304" pitchFamily="18" charset="0"/>
              </a:rPr>
              <a:t>configuramos</a:t>
            </a:r>
            <a:r>
              <a:rPr sz="1100" b="0" i="0" dirty="0">
                <a:solidFill>
                  <a:srgbClr val="526576"/>
                </a:solidFill>
                <a:latin typeface="Century Schoolbook" panose="02040604050505020304" pitchFamily="18" charset="0"/>
              </a:rPr>
              <a:t> </a:t>
            </a:r>
            <a:r>
              <a:rPr sz="1100" b="0" i="0" dirty="0" err="1">
                <a:solidFill>
                  <a:srgbClr val="526576"/>
                </a:solidFill>
                <a:latin typeface="Century Schoolbook" panose="02040604050505020304" pitchFamily="18" charset="0"/>
              </a:rPr>
              <a:t>credenciales</a:t>
            </a:r>
            <a:r>
              <a:rPr sz="1100" b="0" i="0" dirty="0">
                <a:solidFill>
                  <a:srgbClr val="526576"/>
                </a:solidFill>
                <a:latin typeface="Century Schoolbook" panose="02040604050505020304" pitchFamily="18" charset="0"/>
              </a:rPr>
              <a:t> y </a:t>
            </a:r>
            <a:r>
              <a:rPr sz="1100" b="0" i="0" dirty="0" err="1">
                <a:solidFill>
                  <a:srgbClr val="526576"/>
                </a:solidFill>
                <a:latin typeface="Century Schoolbook" panose="02040604050505020304" pitchFamily="18" charset="0"/>
              </a:rPr>
              <a:t>esquemas</a:t>
            </a:r>
            <a:r>
              <a:rPr sz="1100" b="0" i="0" dirty="0">
                <a:solidFill>
                  <a:srgbClr val="526576"/>
                </a:solidFill>
                <a:latin typeface="Century Schoolbook" panose="02040604050505020304" pitchFamily="18" charset="0"/>
              </a:rPr>
              <a:t>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487168" y="987552"/>
            <a:ext cx="1965960" cy="1371600"/>
          </a:xfrm>
          <a:prstGeom prst="roundRect">
            <a:avLst/>
          </a:prstGeom>
          <a:solidFill>
            <a:srgbClr val="E7F2FA"/>
          </a:solidFill>
          <a:ln>
            <a:solidFill>
              <a:srgbClr val="A8CF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Century Schoolbook" panose="02040604050505020304" pitchFamily="18" charset="0"/>
            </a:endParaRPr>
          </a:p>
        </p:txBody>
      </p:sp>
      <p:sp>
        <p:nvSpPr>
          <p:cNvPr id="9" name="Oval 8"/>
          <p:cNvSpPr/>
          <p:nvPr/>
        </p:nvSpPr>
        <p:spPr>
          <a:xfrm>
            <a:off x="2615184" y="1115568"/>
            <a:ext cx="365760" cy="365760"/>
          </a:xfrm>
          <a:prstGeom prst="ellipse">
            <a:avLst/>
          </a:prstGeom>
          <a:solidFill>
            <a:srgbClr val="246B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Century Schoolbook" panose="02040604050505020304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2615184" y="1167643"/>
            <a:ext cx="365760" cy="26161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entury Schoolbook" panose="02040604050505020304" pitchFamily="18" charset="0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63240" y="991118"/>
            <a:ext cx="1271016" cy="5232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 i="0">
                <a:solidFill>
                  <a:srgbClr val="072A49"/>
                </a:solidFill>
                <a:latin typeface="Century Schoolbook" panose="02040604050505020304" pitchFamily="18" charset="0"/>
              </a:rPr>
              <a:t>Ingestamos las fuentes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70048" y="1508088"/>
            <a:ext cx="1600200" cy="76944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526576"/>
                </a:solidFill>
                <a:latin typeface="Century Schoolbook" panose="02040604050505020304" pitchFamily="18" charset="0"/>
              </a:rPr>
              <a:t>Batch, streaming con Kafka y CDC según la naturaleza de cada fuente.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62856" y="987552"/>
            <a:ext cx="1965960" cy="1371600"/>
          </a:xfrm>
          <a:prstGeom prst="roundRect">
            <a:avLst/>
          </a:prstGeom>
          <a:solidFill>
            <a:srgbClr val="E7F2FA"/>
          </a:solidFill>
          <a:ln>
            <a:solidFill>
              <a:srgbClr val="A8CF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Century Schoolbook" panose="02040604050505020304" pitchFamily="18" charset="0"/>
            </a:endParaRPr>
          </a:p>
        </p:txBody>
      </p:sp>
      <p:sp>
        <p:nvSpPr>
          <p:cNvPr id="14" name="Oval 13"/>
          <p:cNvSpPr/>
          <p:nvPr/>
        </p:nvSpPr>
        <p:spPr>
          <a:xfrm>
            <a:off x="4690872" y="1115568"/>
            <a:ext cx="365760" cy="365760"/>
          </a:xfrm>
          <a:prstGeom prst="ellipse">
            <a:avLst/>
          </a:prstGeom>
          <a:solidFill>
            <a:srgbClr val="246B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Century Schoolbook" panose="02040604050505020304" pitchFamily="18" charset="0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4690872" y="1167643"/>
            <a:ext cx="365760" cy="26161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entury Schoolbook" panose="02040604050505020304" pitchFamily="18" charset="0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56632" y="1000843"/>
            <a:ext cx="1472185" cy="5232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 i="0" dirty="0" err="1">
                <a:solidFill>
                  <a:srgbClr val="072A49"/>
                </a:solidFill>
                <a:latin typeface="Century Schoolbook" panose="02040604050505020304" pitchFamily="18" charset="0"/>
              </a:rPr>
              <a:t>Conservamos</a:t>
            </a:r>
            <a:r>
              <a:rPr sz="1400" b="1" i="0" dirty="0">
                <a:solidFill>
                  <a:srgbClr val="072A49"/>
                </a:solidFill>
                <a:latin typeface="Century Schoolbook" panose="02040604050505020304" pitchFamily="18" charset="0"/>
              </a:rPr>
              <a:t> Bronze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45736" y="1508088"/>
            <a:ext cx="1600200" cy="76944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526576"/>
                </a:solidFill>
                <a:latin typeface="Century Schoolbook" panose="02040604050505020304" pitchFamily="18" charset="0"/>
              </a:rPr>
              <a:t>Guardamos los datos originales en Parquet por fecha para reprocesarlos.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638544" y="987552"/>
            <a:ext cx="1965960" cy="1371600"/>
          </a:xfrm>
          <a:prstGeom prst="roundRect">
            <a:avLst/>
          </a:prstGeom>
          <a:solidFill>
            <a:srgbClr val="E7F2FA"/>
          </a:solidFill>
          <a:ln>
            <a:solidFill>
              <a:srgbClr val="A8CF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Century Schoolbook" panose="02040604050505020304" pitchFamily="18" charset="0"/>
            </a:endParaRPr>
          </a:p>
        </p:txBody>
      </p:sp>
      <p:sp>
        <p:nvSpPr>
          <p:cNvPr id="19" name="Oval 18"/>
          <p:cNvSpPr/>
          <p:nvPr/>
        </p:nvSpPr>
        <p:spPr>
          <a:xfrm>
            <a:off x="6766559" y="1115568"/>
            <a:ext cx="365760" cy="365760"/>
          </a:xfrm>
          <a:prstGeom prst="ellipse">
            <a:avLst/>
          </a:prstGeom>
          <a:solidFill>
            <a:srgbClr val="246B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Century Schoolbook" panose="02040604050505020304" pitchFamily="18" charset="0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6766559" y="1167643"/>
            <a:ext cx="365760" cy="26161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entury Schoolbook" panose="02040604050505020304" pitchFamily="18" charset="0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14616" y="991118"/>
            <a:ext cx="1271016" cy="5232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 i="0" dirty="0" err="1">
                <a:solidFill>
                  <a:srgbClr val="072A49"/>
                </a:solidFill>
                <a:latin typeface="Century Schoolbook" panose="02040604050505020304" pitchFamily="18" charset="0"/>
              </a:rPr>
              <a:t>Cargamos</a:t>
            </a:r>
            <a:r>
              <a:rPr sz="1400" b="1" i="0" dirty="0">
                <a:solidFill>
                  <a:srgbClr val="072A49"/>
                </a:solidFill>
                <a:latin typeface="Century Schoolbook" panose="02040604050505020304" pitchFamily="18" charset="0"/>
              </a:rPr>
              <a:t> Staging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21424" y="1581184"/>
            <a:ext cx="1600200" cy="6232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526576"/>
                </a:solidFill>
                <a:latin typeface="Century Schoolbook" panose="02040604050505020304" pitchFamily="18" charset="0"/>
              </a:rPr>
              <a:t>PostgreSQL recibió la carga temporal de las 9 fuentes.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68680" y="2761488"/>
            <a:ext cx="2286000" cy="1371600"/>
          </a:xfrm>
          <a:prstGeom prst="roundRect">
            <a:avLst/>
          </a:prstGeom>
          <a:solidFill>
            <a:srgbClr val="E7F2FA"/>
          </a:solidFill>
          <a:ln>
            <a:solidFill>
              <a:srgbClr val="A8CF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Century Schoolbook" panose="02040604050505020304" pitchFamily="18" charset="0"/>
            </a:endParaRPr>
          </a:p>
        </p:txBody>
      </p:sp>
      <p:sp>
        <p:nvSpPr>
          <p:cNvPr id="24" name="Oval 23"/>
          <p:cNvSpPr/>
          <p:nvPr/>
        </p:nvSpPr>
        <p:spPr>
          <a:xfrm>
            <a:off x="996695" y="2889504"/>
            <a:ext cx="365760" cy="365760"/>
          </a:xfrm>
          <a:prstGeom prst="ellipse">
            <a:avLst/>
          </a:prstGeom>
          <a:solidFill>
            <a:srgbClr val="246B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Century Schoolbook" panose="02040604050505020304" pitchFamily="18" charset="0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996695" y="2941579"/>
            <a:ext cx="365760" cy="26161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entury Schoolbook" panose="02040604050505020304" pitchFamily="18" charset="0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444752" y="2864402"/>
            <a:ext cx="1591056" cy="5232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 i="0" dirty="0" err="1">
                <a:solidFill>
                  <a:srgbClr val="072A49"/>
                </a:solidFill>
                <a:latin typeface="Century Schoolbook" panose="02040604050505020304" pitchFamily="18" charset="0"/>
              </a:rPr>
              <a:t>Limpiamos</a:t>
            </a:r>
            <a:r>
              <a:rPr sz="1400" b="1" i="0" dirty="0">
                <a:solidFill>
                  <a:srgbClr val="072A49"/>
                </a:solidFill>
                <a:latin typeface="Century Schoolbook" panose="02040604050505020304" pitchFamily="18" charset="0"/>
              </a:rPr>
              <a:t> </a:t>
            </a:r>
            <a:r>
              <a:rPr sz="1400" b="1" i="0" dirty="0" err="1">
                <a:solidFill>
                  <a:srgbClr val="072A49"/>
                </a:solidFill>
                <a:latin typeface="Century Schoolbook" panose="02040604050505020304" pitchFamily="18" charset="0"/>
              </a:rPr>
              <a:t>en</a:t>
            </a:r>
            <a:r>
              <a:rPr sz="1400" b="1" i="0" dirty="0">
                <a:solidFill>
                  <a:srgbClr val="072A49"/>
                </a:solidFill>
                <a:latin typeface="Century Schoolbook" panose="02040604050505020304" pitchFamily="18" charset="0"/>
              </a:rPr>
              <a:t> Silver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1560" y="3355120"/>
            <a:ext cx="1920240" cy="6232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526576"/>
                </a:solidFill>
                <a:latin typeface="Century Schoolbook" panose="02040604050505020304" pitchFamily="18" charset="0"/>
              </a:rPr>
              <a:t>Unificamos formatos, horas, montos, zonas e identidad.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410712" y="2761488"/>
            <a:ext cx="2286000" cy="1371600"/>
          </a:xfrm>
          <a:prstGeom prst="roundRect">
            <a:avLst/>
          </a:prstGeom>
          <a:solidFill>
            <a:srgbClr val="E7F2FA"/>
          </a:solidFill>
          <a:ln>
            <a:solidFill>
              <a:srgbClr val="A8CF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Century Schoolbook" panose="02040604050505020304" pitchFamily="18" charset="0"/>
            </a:endParaRPr>
          </a:p>
        </p:txBody>
      </p:sp>
      <p:sp>
        <p:nvSpPr>
          <p:cNvPr id="29" name="Oval 28"/>
          <p:cNvSpPr/>
          <p:nvPr/>
        </p:nvSpPr>
        <p:spPr>
          <a:xfrm>
            <a:off x="3538728" y="2889504"/>
            <a:ext cx="365760" cy="365760"/>
          </a:xfrm>
          <a:prstGeom prst="ellipse">
            <a:avLst/>
          </a:prstGeom>
          <a:solidFill>
            <a:srgbClr val="246B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Century Schoolbook" panose="02040604050505020304" pitchFamily="18" charset="0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3538728" y="2941579"/>
            <a:ext cx="365760" cy="26161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entury Schoolbook" panose="02040604050505020304" pitchFamily="18" charset="0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986784" y="2864402"/>
            <a:ext cx="1591056" cy="5232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 i="0">
                <a:solidFill>
                  <a:srgbClr val="072A49"/>
                </a:solidFill>
                <a:latin typeface="Century Schoolbook" panose="02040604050505020304" pitchFamily="18" charset="0"/>
              </a:rPr>
              <a:t>Aplicamos calidad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93592" y="3355120"/>
            <a:ext cx="1920240" cy="6232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526576"/>
                </a:solidFill>
                <a:latin typeface="Century Schoolbook" panose="02040604050505020304" pitchFamily="18" charset="0"/>
              </a:rPr>
              <a:t>Los inválidos fueron a cuarentena con el motivo del rechazo.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952744" y="2761488"/>
            <a:ext cx="2286000" cy="1371600"/>
          </a:xfrm>
          <a:prstGeom prst="roundRect">
            <a:avLst/>
          </a:prstGeom>
          <a:solidFill>
            <a:srgbClr val="246BC9"/>
          </a:solidFill>
          <a:ln>
            <a:solidFill>
              <a:srgbClr val="246B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Century Schoolbook" panose="02040604050505020304" pitchFamily="18" charset="0"/>
            </a:endParaRPr>
          </a:p>
        </p:txBody>
      </p:sp>
      <p:sp>
        <p:nvSpPr>
          <p:cNvPr id="34" name="Oval 33"/>
          <p:cNvSpPr/>
          <p:nvPr/>
        </p:nvSpPr>
        <p:spPr>
          <a:xfrm>
            <a:off x="6080759" y="2889504"/>
            <a:ext cx="365760" cy="36576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Century Schoolbook" panose="02040604050505020304" pitchFamily="18" charset="0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6080759" y="2941579"/>
            <a:ext cx="365760" cy="26161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 i="0">
                <a:solidFill>
                  <a:srgbClr val="246BC9"/>
                </a:solidFill>
                <a:latin typeface="Century Schoolbook" panose="02040604050505020304" pitchFamily="18" charset="0"/>
              </a:rPr>
              <a:t>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28816" y="2864402"/>
            <a:ext cx="1591056" cy="5232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entury Schoolbook" panose="02040604050505020304" pitchFamily="18" charset="0"/>
              </a:rPr>
              <a:t>Construimos Gold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135624" y="3355120"/>
            <a:ext cx="1920240" cy="6232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entury Schoolbook" panose="02040604050505020304" pitchFamily="18" charset="0"/>
              </a:rPr>
              <a:t>dbt generó 5 dimensiones y 2 hechos listos para análisis.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0080" y="4310782"/>
            <a:ext cx="7863840" cy="284693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50" b="1" i="0">
                <a:solidFill>
                  <a:srgbClr val="246BC9"/>
                </a:solidFill>
                <a:latin typeface="Century Schoolbook" panose="02040604050505020304" pitchFamily="18" charset="0"/>
              </a:rPr>
              <a:t>Resultado: pipeline trazable, reproducible e idempotente; Gold queda como fuente analítica.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700" b="1" i="0">
                <a:solidFill>
                  <a:srgbClr val="072A49"/>
                </a:solidFill>
                <a:latin typeface="Century Schoolbook" panose="02040604050505020304" pitchFamily="18" charset="0"/>
              </a:rPr>
              <a:t>Fase 01 · Implementación y validación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08042"/>
            <a:ext cx="3749039" cy="3693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1" i="0">
                <a:solidFill>
                  <a:srgbClr val="072A49"/>
                </a:solidFill>
                <a:latin typeface="Century Schoolbook" panose="02040604050505020304" pitchFamily="18" charset="0"/>
              </a:rPr>
              <a:t>Herramientas que usamos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98447"/>
            <a:ext cx="3794760" cy="633409"/>
          </a:xfrm>
          <a:prstGeom prst="roundRect">
            <a:avLst/>
          </a:prstGeom>
          <a:solidFill>
            <a:srgbClr val="E7F2FA"/>
          </a:solidFill>
          <a:ln>
            <a:solidFill>
              <a:srgbClr val="A8CF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Century Schoolbook" panose="02040604050505020304" pitchFamily="18" charset="0"/>
            </a:endParaRPr>
          </a:p>
        </p:txBody>
      </p:sp>
      <p:sp>
        <p:nvSpPr>
          <p:cNvPr id="5" name="Oval 4"/>
          <p:cNvSpPr/>
          <p:nvPr/>
        </p:nvSpPr>
        <p:spPr>
          <a:xfrm>
            <a:off x="630936" y="1426464"/>
            <a:ext cx="365760" cy="365760"/>
          </a:xfrm>
          <a:prstGeom prst="ellipse">
            <a:avLst/>
          </a:prstGeom>
          <a:solidFill>
            <a:srgbClr val="246B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Century Schoolbook" panose="02040604050505020304" pitchFamily="18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30936" y="1478539"/>
            <a:ext cx="365760" cy="26161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entury Schoolbook" panose="02040604050505020304" pitchFamily="18" charset="0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1327405"/>
            <a:ext cx="3099816" cy="30777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 i="0" dirty="0">
                <a:solidFill>
                  <a:srgbClr val="072A49"/>
                </a:solidFill>
                <a:latin typeface="Century Schoolbook" panose="02040604050505020304" pitchFamily="18" charset="0"/>
              </a:rPr>
              <a:t>Python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505916"/>
            <a:ext cx="3291840" cy="4462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 dirty="0">
                <a:solidFill>
                  <a:srgbClr val="526576"/>
                </a:solidFill>
                <a:latin typeface="Century Schoolbook" panose="02040604050505020304" pitchFamily="18" charset="0"/>
              </a:rPr>
              <a:t>ingesta batch, CDC, streaming y carga a Staging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93776" y="2020824"/>
            <a:ext cx="3794760" cy="594360"/>
          </a:xfrm>
          <a:prstGeom prst="roundRect">
            <a:avLst/>
          </a:prstGeom>
          <a:solidFill>
            <a:srgbClr val="E7F2FA"/>
          </a:solidFill>
          <a:ln>
            <a:solidFill>
              <a:srgbClr val="A8CF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Century Schoolbook" panose="02040604050505020304" pitchFamily="18" charset="0"/>
            </a:endParaRPr>
          </a:p>
        </p:txBody>
      </p:sp>
      <p:sp>
        <p:nvSpPr>
          <p:cNvPr id="10" name="Oval 9"/>
          <p:cNvSpPr/>
          <p:nvPr/>
        </p:nvSpPr>
        <p:spPr>
          <a:xfrm>
            <a:off x="621792" y="2148840"/>
            <a:ext cx="365760" cy="365760"/>
          </a:xfrm>
          <a:prstGeom prst="ellipse">
            <a:avLst/>
          </a:prstGeom>
          <a:solidFill>
            <a:srgbClr val="246B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Century Schoolbook" panose="02040604050505020304" pitchFamily="18" charset="0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621792" y="2200915"/>
            <a:ext cx="365760" cy="26161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entury Schoolbook" panose="02040604050505020304" pitchFamily="18" charset="0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6696" y="2049781"/>
            <a:ext cx="3099816" cy="30777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 i="0">
                <a:solidFill>
                  <a:srgbClr val="072A49"/>
                </a:solidFill>
                <a:latin typeface="Century Schoolbook" panose="02040604050505020304" pitchFamily="18" charset="0"/>
              </a:rPr>
              <a:t>Kafka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6696" y="2316778"/>
            <a:ext cx="3611880" cy="2693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526576"/>
                </a:solidFill>
                <a:latin typeface="Century Schoolbook" panose="02040604050505020304" pitchFamily="18" charset="0"/>
              </a:rPr>
              <a:t>productor y consumidor de eventos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93776" y="2670048"/>
            <a:ext cx="3794760" cy="594360"/>
          </a:xfrm>
          <a:prstGeom prst="roundRect">
            <a:avLst/>
          </a:prstGeom>
          <a:solidFill>
            <a:srgbClr val="E7F2FA"/>
          </a:solidFill>
          <a:ln>
            <a:solidFill>
              <a:srgbClr val="A8CF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Century Schoolbook" panose="02040604050505020304" pitchFamily="18" charset="0"/>
            </a:endParaRPr>
          </a:p>
        </p:txBody>
      </p:sp>
      <p:sp>
        <p:nvSpPr>
          <p:cNvPr id="15" name="Oval 14"/>
          <p:cNvSpPr/>
          <p:nvPr/>
        </p:nvSpPr>
        <p:spPr>
          <a:xfrm>
            <a:off x="621792" y="2798064"/>
            <a:ext cx="365760" cy="365760"/>
          </a:xfrm>
          <a:prstGeom prst="ellipse">
            <a:avLst/>
          </a:prstGeom>
          <a:solidFill>
            <a:srgbClr val="246B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Century Schoolbook" panose="02040604050505020304" pitchFamily="18" charset="0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621792" y="2850139"/>
            <a:ext cx="365760" cy="26161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entury Schoolbook" panose="02040604050505020304" pitchFamily="18" charset="0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96696" y="2699005"/>
            <a:ext cx="3099816" cy="30777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 i="0">
                <a:solidFill>
                  <a:srgbClr val="072A49"/>
                </a:solidFill>
                <a:latin typeface="Century Schoolbook" panose="02040604050505020304" pitchFamily="18" charset="0"/>
              </a:rPr>
              <a:t>PostgreSQL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96696" y="2966002"/>
            <a:ext cx="3611880" cy="2693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526576"/>
                </a:solidFill>
                <a:latin typeface="Century Schoolbook" panose="02040604050505020304" pitchFamily="18" charset="0"/>
              </a:rPr>
              <a:t>staging, silver, gold, quarantine y audit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93776" y="3319272"/>
            <a:ext cx="3794760" cy="594360"/>
          </a:xfrm>
          <a:prstGeom prst="roundRect">
            <a:avLst/>
          </a:prstGeom>
          <a:solidFill>
            <a:srgbClr val="E7F2FA"/>
          </a:solidFill>
          <a:ln>
            <a:solidFill>
              <a:srgbClr val="A8CF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Century Schoolbook" panose="02040604050505020304" pitchFamily="18" charset="0"/>
            </a:endParaRPr>
          </a:p>
        </p:txBody>
      </p:sp>
      <p:sp>
        <p:nvSpPr>
          <p:cNvPr id="20" name="Oval 19"/>
          <p:cNvSpPr/>
          <p:nvPr/>
        </p:nvSpPr>
        <p:spPr>
          <a:xfrm>
            <a:off x="621792" y="3447288"/>
            <a:ext cx="365760" cy="365760"/>
          </a:xfrm>
          <a:prstGeom prst="ellipse">
            <a:avLst/>
          </a:prstGeom>
          <a:solidFill>
            <a:srgbClr val="246B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Century Schoolbook" panose="02040604050505020304" pitchFamily="18" charset="0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621792" y="3499363"/>
            <a:ext cx="365760" cy="26161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entury Schoolbook" panose="02040604050505020304" pitchFamily="18" charset="0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96696" y="3348229"/>
            <a:ext cx="3099816" cy="30777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 i="0">
                <a:solidFill>
                  <a:srgbClr val="072A49"/>
                </a:solidFill>
                <a:latin typeface="Century Schoolbook" panose="02040604050505020304" pitchFamily="18" charset="0"/>
              </a:rPr>
              <a:t>dbt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6696" y="3615225"/>
            <a:ext cx="3611880" cy="2693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526576"/>
                </a:solidFill>
                <a:latin typeface="Century Schoolbook" panose="02040604050505020304" pitchFamily="18" charset="0"/>
              </a:rPr>
              <a:t>transformaciones y pruebas de calidad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93776" y="3968496"/>
            <a:ext cx="3794760" cy="594360"/>
          </a:xfrm>
          <a:prstGeom prst="roundRect">
            <a:avLst/>
          </a:prstGeom>
          <a:solidFill>
            <a:srgbClr val="E7F2FA"/>
          </a:solidFill>
          <a:ln>
            <a:solidFill>
              <a:srgbClr val="A8CF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Century Schoolbook" panose="02040604050505020304" pitchFamily="18" charset="0"/>
            </a:endParaRPr>
          </a:p>
        </p:txBody>
      </p:sp>
      <p:sp>
        <p:nvSpPr>
          <p:cNvPr id="25" name="Oval 24"/>
          <p:cNvSpPr/>
          <p:nvPr/>
        </p:nvSpPr>
        <p:spPr>
          <a:xfrm>
            <a:off x="621792" y="4096511"/>
            <a:ext cx="365760" cy="365760"/>
          </a:xfrm>
          <a:prstGeom prst="ellipse">
            <a:avLst/>
          </a:prstGeom>
          <a:solidFill>
            <a:srgbClr val="246B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Century Schoolbook" panose="02040604050505020304" pitchFamily="18" charset="0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621792" y="4148586"/>
            <a:ext cx="365760" cy="26161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entury Schoolbook" panose="02040604050505020304" pitchFamily="18" charset="0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6696" y="3997452"/>
            <a:ext cx="3099816" cy="30777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 i="0">
                <a:solidFill>
                  <a:srgbClr val="072A49"/>
                </a:solidFill>
                <a:latin typeface="Century Schoolbook" panose="02040604050505020304" pitchFamily="18" charset="0"/>
              </a:rPr>
              <a:t>Prefect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96696" y="4264450"/>
            <a:ext cx="3611880" cy="2693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526576"/>
                </a:solidFill>
                <a:latin typeface="Century Schoolbook" panose="02040604050505020304" pitchFamily="18" charset="0"/>
              </a:rPr>
              <a:t>orquestación del pipeline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617720" y="987552"/>
            <a:ext cx="3977639" cy="3383280"/>
          </a:xfrm>
          <a:prstGeom prst="roundRect">
            <a:avLst/>
          </a:prstGeom>
          <a:solidFill>
            <a:srgbClr val="246BC9"/>
          </a:solidFill>
          <a:ln>
            <a:solidFill>
              <a:srgbClr val="246B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Century Schoolbook" panose="02040604050505020304" pitchFamily="18" charset="0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4892040" y="1089583"/>
            <a:ext cx="3474720" cy="64633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entury Schoolbook" panose="02040604050505020304" pitchFamily="18" charset="0"/>
              </a:rPr>
              <a:t>¿Cómo comprobamos que funcionó?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92040" y="1756315"/>
            <a:ext cx="3383280" cy="492443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entury Schoolbook" panose="02040604050505020304" pitchFamily="18" charset="0"/>
              </a:rPr>
              <a:t>✓  1,730,184 filas cargadas desde 9 fuentes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892040" y="2240947"/>
            <a:ext cx="3383280" cy="492443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entury Schoolbook" panose="02040604050505020304" pitchFamily="18" charset="0"/>
              </a:rPr>
              <a:t>✓  18,431 registros conservados en cuarentena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892040" y="2825606"/>
            <a:ext cx="3383280" cy="2923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entury Schoolbook" panose="02040604050505020304" pitchFamily="18" charset="0"/>
              </a:rPr>
              <a:t>✓  1,718,037 registros listos en Gold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892040" y="3310238"/>
            <a:ext cx="3383280" cy="2923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entury Schoolbook" panose="02040604050505020304" pitchFamily="18" charset="0"/>
              </a:rPr>
              <a:t>✓  2 corridas con conteos idénticos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892040" y="3794870"/>
            <a:ext cx="3383280" cy="2923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entury Schoolbook" panose="02040604050505020304" pitchFamily="18" charset="0"/>
              </a:rPr>
              <a:t>✓  79 pruebas dbt PASS · ERROR 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9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A2540"/>
                </a:solidFill>
                <a:latin typeface="Century Schoolbook" panose="02040604050505020304" pitchFamily="18" charset="0"/>
                <a:ea typeface="Cambria" pitchFamily="34" charset="-122"/>
                <a:cs typeface="Cambria" pitchFamily="34" charset="-120"/>
              </a:rPr>
              <a:t>Fase 01 · Ingesta y Staging</a:t>
            </a:r>
            <a:endParaRPr lang="en-US" sz="2800" dirty="0">
              <a:latin typeface="Century Schoolbook" panose="02040604050505020304" pitchFamily="18" charset="0"/>
            </a:endParaRPr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3383280" cy="868680"/>
          </a:xfrm>
          <a:prstGeom prst="roundRect">
            <a:avLst>
              <a:gd name="adj" fmla="val 8421"/>
            </a:avLst>
          </a:prstGeom>
          <a:solidFill>
            <a:srgbClr val="E8F3FC"/>
          </a:solidFill>
          <a:ln w="9525">
            <a:solidFill>
              <a:srgbClr val="8EC5F0"/>
            </a:solidFill>
            <a:prstDash val="solid"/>
          </a:ln>
        </p:spPr>
        <p:txBody>
          <a:bodyPr/>
          <a:lstStyle/>
          <a:p>
            <a:endParaRPr lang="es-GT">
              <a:latin typeface="Century Schoolbook" panose="02040604050505020304" pitchFamily="18" charset="0"/>
            </a:endParaRPr>
          </a:p>
        </p:txBody>
      </p:sp>
      <p:sp>
        <p:nvSpPr>
          <p:cNvPr id="4" name="Text 2"/>
          <p:cNvSpPr txBox="1"/>
          <p:nvPr/>
        </p:nvSpPr>
        <p:spPr>
          <a:xfrm>
            <a:off x="594360" y="132588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565C0"/>
                </a:solidFill>
                <a:latin typeface="Century Schoolbook" panose="02040604050505020304" pitchFamily="18" charset="0"/>
                <a:ea typeface="Cambria" pitchFamily="34" charset="-122"/>
                <a:cs typeface="Cambria" pitchFamily="34" charset="-120"/>
              </a:rPr>
              <a:t>1,730,184</a:t>
            </a:r>
            <a:endParaRPr lang="en-US" sz="2400" dirty="0">
              <a:latin typeface="Century Schoolbook" panose="02040604050505020304" pitchFamily="18" charset="0"/>
            </a:endParaRPr>
          </a:p>
        </p:txBody>
      </p:sp>
      <p:sp>
        <p:nvSpPr>
          <p:cNvPr id="5" name="Text 3"/>
          <p:cNvSpPr txBox="1"/>
          <p:nvPr/>
        </p:nvSpPr>
        <p:spPr>
          <a:xfrm>
            <a:off x="594360" y="1755648"/>
            <a:ext cx="3108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2304F"/>
                </a:solidFill>
                <a:latin typeface="Century Schoolbook" panose="02040604050505020304" pitchFamily="18" charset="0"/>
                <a:ea typeface="Calibri" pitchFamily="34" charset="-122"/>
                <a:cs typeface="Calibri" pitchFamily="34" charset="-120"/>
              </a:rPr>
              <a:t>filas cargadas desde 9 fuentes</a:t>
            </a:r>
            <a:endParaRPr lang="en-US" sz="1200" dirty="0">
              <a:latin typeface="Century Schoolbook" panose="02040604050505020304" pitchFamily="18" charset="0"/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457200" y="2377440"/>
            <a:ext cx="33832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1000"/>
              </a:spcAft>
              <a:buNone/>
            </a:pPr>
            <a:r>
              <a:rPr lang="en-US" sz="1400" b="1" dirty="0">
                <a:solidFill>
                  <a:srgbClr val="1565C0"/>
                </a:solidFill>
                <a:latin typeface="Century Schoolbook" panose="02040604050505020304" pitchFamily="18" charset="0"/>
                <a:ea typeface="Calibri" pitchFamily="34" charset="-122"/>
                <a:cs typeface="Calibri" pitchFamily="34" charset="-120"/>
              </a:rPr>
              <a:t>Streaming (Kafka): </a:t>
            </a:r>
            <a:r>
              <a:rPr lang="en-US" sz="1400" dirty="0">
                <a:solidFill>
                  <a:srgbClr val="12304F"/>
                </a:solidFill>
                <a:latin typeface="Century Schoolbook" panose="02040604050505020304" pitchFamily="18" charset="0"/>
                <a:ea typeface="Calibri" pitchFamily="34" charset="-122"/>
                <a:cs typeface="Calibri" pitchFamily="34" charset="-120"/>
              </a:rPr>
              <a:t>validaciones Transmetro y abordajes Aerometro</a:t>
            </a:r>
            <a:endParaRPr lang="en-US" sz="1400" dirty="0">
              <a:latin typeface="Century Schoolbook" panose="02040604050505020304" pitchFamily="18" charset="0"/>
            </a:endParaRPr>
          </a:p>
          <a:p>
            <a:pPr marL="0" indent="0">
              <a:spcAft>
                <a:spcPts val="1000"/>
              </a:spcAft>
              <a:buNone/>
            </a:pPr>
            <a:r>
              <a:rPr lang="en-US" sz="1400" b="1" dirty="0">
                <a:solidFill>
                  <a:srgbClr val="1565C0"/>
                </a:solidFill>
                <a:latin typeface="Century Schoolbook" panose="02040604050505020304" pitchFamily="18" charset="0"/>
                <a:ea typeface="Calibri" pitchFamily="34" charset="-122"/>
                <a:cs typeface="Calibri" pitchFamily="34" charset="-120"/>
              </a:rPr>
              <a:t>Batch: </a:t>
            </a:r>
            <a:r>
              <a:rPr lang="en-US" sz="1400" dirty="0">
                <a:solidFill>
                  <a:srgbClr val="12304F"/>
                </a:solidFill>
                <a:latin typeface="Century Schoolbook" panose="02040604050505020304" pitchFamily="18" charset="0"/>
                <a:ea typeface="Calibri" pitchFamily="34" charset="-122"/>
                <a:cs typeface="Calibri" pitchFamily="34" charset="-120"/>
              </a:rPr>
              <a:t>catálogos, MetroRiel y Transurbano</a:t>
            </a:r>
            <a:endParaRPr lang="en-US" sz="1400" dirty="0">
              <a:latin typeface="Century Schoolbook" panose="02040604050505020304" pitchFamily="18" charset="0"/>
            </a:endParaRPr>
          </a:p>
          <a:p>
            <a:pPr marL="0" indent="0">
              <a:spcAft>
                <a:spcPts val="1000"/>
              </a:spcAft>
              <a:buNone/>
            </a:pPr>
            <a:r>
              <a:rPr lang="en-US" sz="1400" b="1" dirty="0">
                <a:solidFill>
                  <a:srgbClr val="1565C0"/>
                </a:solidFill>
                <a:latin typeface="Century Schoolbook" panose="02040604050505020304" pitchFamily="18" charset="0"/>
                <a:ea typeface="Calibri" pitchFamily="34" charset="-122"/>
                <a:cs typeface="Calibri" pitchFamily="34" charset="-120"/>
              </a:rPr>
              <a:t>CDC: </a:t>
            </a:r>
            <a:r>
              <a:rPr lang="en-US" sz="1400" dirty="0">
                <a:solidFill>
                  <a:srgbClr val="12304F"/>
                </a:solidFill>
                <a:latin typeface="Century Schoolbook" panose="02040604050505020304" pitchFamily="18" charset="0"/>
                <a:ea typeface="Calibri" pitchFamily="34" charset="-122"/>
                <a:cs typeface="Calibri" pitchFamily="34" charset="-120"/>
              </a:rPr>
              <a:t>padrón de usuarios de Transmetro</a:t>
            </a:r>
            <a:endParaRPr lang="en-US" sz="1400" dirty="0">
              <a:latin typeface="Century Schoolbook" panose="02040604050505020304" pitchFamily="18" charset="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4151376" y="1225296"/>
            <a:ext cx="4590288" cy="2920533"/>
          </a:xfrm>
          <a:prstGeom prst="rect">
            <a:avLst/>
          </a:prstGeom>
          <a:solidFill>
            <a:srgbClr val="FFFFFF"/>
          </a:solidFill>
          <a:ln w="12700">
            <a:solidFill>
              <a:srgbClr val="8EC5F0"/>
            </a:solidFill>
            <a:prstDash val="solid"/>
          </a:ln>
          <a:effectLst>
            <a:outerShdw blurRad="101600" dist="25400" dir="54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s-GT">
              <a:latin typeface="Century Schoolbook" panose="02040604050505020304" pitchFamily="18" charset="0"/>
            </a:endParaRPr>
          </a:p>
        </p:txBody>
      </p:sp>
      <p:pic>
        <p:nvPicPr>
          <p:cNvPr id="8" name="Image 0" descr="/home/claude/img/a3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06240" y="1280160"/>
            <a:ext cx="4480560" cy="2810805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206240" y="416052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5B7A99"/>
                </a:solidFill>
                <a:latin typeface="Century Schoolbook" panose="02040604050505020304" pitchFamily="18" charset="0"/>
                <a:ea typeface="Calibri" pitchFamily="34" charset="-122"/>
                <a:cs typeface="Calibri" pitchFamily="34" charset="-120"/>
              </a:rPr>
              <a:t>Anexo 3 · Registros por fuente en Staging</a:t>
            </a:r>
            <a:endParaRPr lang="en-US" sz="1100" dirty="0">
              <a:latin typeface="Century Schoolbook" panose="02040604050505020304" pitchFamily="18" charset="0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9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A2540"/>
                </a:solidFill>
                <a:latin typeface="Century Schoolbook" panose="02040604050505020304" pitchFamily="18" charset="0"/>
                <a:ea typeface="Cambria" pitchFamily="34" charset="-122"/>
                <a:cs typeface="Cambria" pitchFamily="34" charset="-120"/>
              </a:rPr>
              <a:t>Fase 01 · CDC y calidad en Silver</a:t>
            </a:r>
            <a:endParaRPr lang="en-US" sz="2800" dirty="0">
              <a:latin typeface="Century Schoolbook" panose="02040604050505020304" pitchFamily="18" charset="0"/>
            </a:endParaRPr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3383280" cy="868680"/>
          </a:xfrm>
          <a:prstGeom prst="roundRect">
            <a:avLst>
              <a:gd name="adj" fmla="val 8421"/>
            </a:avLst>
          </a:prstGeom>
          <a:solidFill>
            <a:srgbClr val="E8F3FC"/>
          </a:solidFill>
          <a:ln w="9525">
            <a:solidFill>
              <a:srgbClr val="8EC5F0"/>
            </a:solidFill>
            <a:prstDash val="solid"/>
          </a:ln>
        </p:spPr>
        <p:txBody>
          <a:bodyPr/>
          <a:lstStyle/>
          <a:p>
            <a:endParaRPr lang="es-GT">
              <a:latin typeface="Century Schoolbook" panose="02040604050505020304" pitchFamily="18" charset="0"/>
            </a:endParaRPr>
          </a:p>
        </p:txBody>
      </p:sp>
      <p:sp>
        <p:nvSpPr>
          <p:cNvPr id="4" name="Text 2"/>
          <p:cNvSpPr txBox="1"/>
          <p:nvPr/>
        </p:nvSpPr>
        <p:spPr>
          <a:xfrm>
            <a:off x="594360" y="12344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565C0"/>
                </a:solidFill>
                <a:latin typeface="Century Schoolbook" panose="02040604050505020304" pitchFamily="18" charset="0"/>
                <a:ea typeface="Cambria" pitchFamily="34" charset="-122"/>
                <a:cs typeface="Cambria" pitchFamily="34" charset="-120"/>
              </a:rPr>
              <a:t>31,050</a:t>
            </a:r>
            <a:endParaRPr lang="en-US" sz="2400" dirty="0">
              <a:latin typeface="Century Schoolbook" panose="02040604050505020304" pitchFamily="18" charset="0"/>
            </a:endParaRPr>
          </a:p>
        </p:txBody>
      </p:sp>
      <p:sp>
        <p:nvSpPr>
          <p:cNvPr id="5" name="Text 3"/>
          <p:cNvSpPr txBox="1"/>
          <p:nvPr/>
        </p:nvSpPr>
        <p:spPr>
          <a:xfrm>
            <a:off x="594360" y="1664208"/>
            <a:ext cx="3108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2304F"/>
                </a:solidFill>
                <a:latin typeface="Century Schoolbook" panose="02040604050505020304" pitchFamily="18" charset="0"/>
                <a:ea typeface="Calibri" pitchFamily="34" charset="-122"/>
                <a:cs typeface="Calibri" pitchFamily="34" charset="-120"/>
              </a:rPr>
              <a:t>operaciones CDC (INSERT, UPDATE, DELETE)</a:t>
            </a:r>
            <a:endParaRPr lang="en-US" sz="1200" dirty="0">
              <a:latin typeface="Century Schoolbook" panose="02040604050505020304" pitchFamily="18" charset="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57200" y="2194560"/>
            <a:ext cx="3383280" cy="868680"/>
          </a:xfrm>
          <a:prstGeom prst="roundRect">
            <a:avLst>
              <a:gd name="adj" fmla="val 8421"/>
            </a:avLst>
          </a:prstGeom>
          <a:solidFill>
            <a:srgbClr val="E8F3FC"/>
          </a:solidFill>
          <a:ln w="9525">
            <a:solidFill>
              <a:srgbClr val="8EC5F0"/>
            </a:solidFill>
            <a:prstDash val="solid"/>
          </a:ln>
        </p:spPr>
        <p:txBody>
          <a:bodyPr/>
          <a:lstStyle/>
          <a:p>
            <a:endParaRPr lang="es-GT">
              <a:latin typeface="Century Schoolbook" panose="02040604050505020304" pitchFamily="18" charset="0"/>
            </a:endParaRPr>
          </a:p>
        </p:txBody>
      </p:sp>
      <p:sp>
        <p:nvSpPr>
          <p:cNvPr id="7" name="Text 5"/>
          <p:cNvSpPr txBox="1"/>
          <p:nvPr/>
        </p:nvSpPr>
        <p:spPr>
          <a:xfrm>
            <a:off x="594360" y="224028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565C0"/>
                </a:solidFill>
                <a:latin typeface="Century Schoolbook" panose="02040604050505020304" pitchFamily="18" charset="0"/>
                <a:ea typeface="Cambria" pitchFamily="34" charset="-122"/>
                <a:cs typeface="Cambria" pitchFamily="34" charset="-120"/>
              </a:rPr>
              <a:t>15,096 activas</a:t>
            </a:r>
            <a:endParaRPr lang="en-US" sz="2400" dirty="0">
              <a:latin typeface="Century Schoolbook" panose="02040604050505020304" pitchFamily="18" charset="0"/>
            </a:endParaRPr>
          </a:p>
        </p:txBody>
      </p:sp>
      <p:sp>
        <p:nvSpPr>
          <p:cNvPr id="8" name="Text 6"/>
          <p:cNvSpPr txBox="1"/>
          <p:nvPr/>
        </p:nvSpPr>
        <p:spPr>
          <a:xfrm>
            <a:off x="594360" y="2670048"/>
            <a:ext cx="3108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2304F"/>
                </a:solidFill>
                <a:latin typeface="Century Schoolbook" panose="02040604050505020304" pitchFamily="18" charset="0"/>
                <a:ea typeface="Calibri" pitchFamily="34" charset="-122"/>
                <a:cs typeface="Calibri" pitchFamily="34" charset="-120"/>
              </a:rPr>
              <a:t>de 17,432 tarjetas; borrado lógico</a:t>
            </a:r>
            <a:endParaRPr lang="en-US" sz="1200" dirty="0">
              <a:latin typeface="Century Schoolbook" panose="02040604050505020304" pitchFamily="18" charset="0"/>
            </a:endParaRPr>
          </a:p>
        </p:txBody>
      </p:sp>
      <p:sp>
        <p:nvSpPr>
          <p:cNvPr id="9" name="Shape 7"/>
          <p:cNvSpPr/>
          <p:nvPr/>
        </p:nvSpPr>
        <p:spPr>
          <a:xfrm>
            <a:off x="457200" y="3200400"/>
            <a:ext cx="3383280" cy="868680"/>
          </a:xfrm>
          <a:prstGeom prst="roundRect">
            <a:avLst>
              <a:gd name="adj" fmla="val 8421"/>
            </a:avLst>
          </a:prstGeom>
          <a:solidFill>
            <a:srgbClr val="1565C0"/>
          </a:solidFill>
          <a:ln w="9525">
            <a:solidFill>
              <a:srgbClr val="1565C0"/>
            </a:solidFill>
            <a:prstDash val="solid"/>
          </a:ln>
        </p:spPr>
        <p:txBody>
          <a:bodyPr/>
          <a:lstStyle/>
          <a:p>
            <a:endParaRPr lang="es-GT">
              <a:latin typeface="Century Schoolbook" panose="02040604050505020304" pitchFamily="18" charset="0"/>
            </a:endParaRPr>
          </a:p>
        </p:txBody>
      </p:sp>
      <p:sp>
        <p:nvSpPr>
          <p:cNvPr id="10" name="Text 8"/>
          <p:cNvSpPr txBox="1"/>
          <p:nvPr/>
        </p:nvSpPr>
        <p:spPr>
          <a:xfrm>
            <a:off x="594360" y="324612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entury Schoolbook" panose="02040604050505020304" pitchFamily="18" charset="0"/>
                <a:ea typeface="Cambria" pitchFamily="34" charset="-122"/>
                <a:cs typeface="Cambria" pitchFamily="34" charset="-120"/>
              </a:rPr>
              <a:t>18,431</a:t>
            </a:r>
            <a:endParaRPr lang="en-US" sz="2400" dirty="0">
              <a:latin typeface="Century Schoolbook" panose="02040604050505020304" pitchFamily="18" charset="0"/>
            </a:endParaRPr>
          </a:p>
        </p:txBody>
      </p:sp>
      <p:sp>
        <p:nvSpPr>
          <p:cNvPr id="11" name="Text 9"/>
          <p:cNvSpPr txBox="1"/>
          <p:nvPr/>
        </p:nvSpPr>
        <p:spPr>
          <a:xfrm>
            <a:off x="594360" y="3675888"/>
            <a:ext cx="3108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DCEBFA"/>
                </a:solidFill>
                <a:latin typeface="Century Schoolbook" panose="02040604050505020304" pitchFamily="18" charset="0"/>
                <a:ea typeface="Calibri" pitchFamily="34" charset="-122"/>
                <a:cs typeface="Calibri" pitchFamily="34" charset="-120"/>
              </a:rPr>
              <a:t>registros a cuarentena, con su motivo</a:t>
            </a:r>
            <a:endParaRPr lang="en-US" sz="1200" dirty="0">
              <a:latin typeface="Century Schoolbook" panose="02040604050505020304" pitchFamily="18" charset="0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4151376" y="1225296"/>
            <a:ext cx="4590288" cy="2920533"/>
          </a:xfrm>
          <a:prstGeom prst="rect">
            <a:avLst/>
          </a:prstGeom>
          <a:solidFill>
            <a:srgbClr val="FFFFFF"/>
          </a:solidFill>
          <a:ln w="12700">
            <a:solidFill>
              <a:srgbClr val="8EC5F0"/>
            </a:solidFill>
            <a:prstDash val="solid"/>
          </a:ln>
          <a:effectLst>
            <a:outerShdw blurRad="101600" dist="25400" dir="54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s-GT">
              <a:latin typeface="Century Schoolbook" panose="02040604050505020304" pitchFamily="18" charset="0"/>
            </a:endParaRPr>
          </a:p>
        </p:txBody>
      </p:sp>
      <p:pic>
        <p:nvPicPr>
          <p:cNvPr id="13" name="Image 0" descr="/home/claude/img/a9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06240" y="1280160"/>
            <a:ext cx="4480560" cy="2810805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206240" y="416052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5B7A99"/>
                </a:solidFill>
                <a:latin typeface="Century Schoolbook" panose="02040604050505020304" pitchFamily="18" charset="0"/>
                <a:ea typeface="Calibri" pitchFamily="34" charset="-122"/>
                <a:cs typeface="Calibri" pitchFamily="34" charset="-120"/>
              </a:rPr>
              <a:t>Anexo 9 · Cuarentena por regla incumplida</a:t>
            </a:r>
            <a:endParaRPr lang="en-US" sz="1100" dirty="0">
              <a:latin typeface="Century Schoolbook" panose="02040604050505020304" pitchFamily="18" charset="0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9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A2540"/>
                </a:solidFill>
                <a:latin typeface="Century Schoolbook" panose="02040604050505020304" pitchFamily="18" charset="0"/>
                <a:ea typeface="Cambria" pitchFamily="34" charset="-122"/>
                <a:cs typeface="Cambria" pitchFamily="34" charset="-120"/>
              </a:rPr>
              <a:t>Fase 01 · Modelo dimensional Gold</a:t>
            </a:r>
            <a:endParaRPr lang="en-US" sz="2800" dirty="0">
              <a:latin typeface="Century Schoolbook" panose="02040604050505020304" pitchFamily="18" charset="0"/>
            </a:endParaRPr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3383280" cy="868680"/>
          </a:xfrm>
          <a:prstGeom prst="roundRect">
            <a:avLst>
              <a:gd name="adj" fmla="val 8421"/>
            </a:avLst>
          </a:prstGeom>
          <a:solidFill>
            <a:srgbClr val="1565C0"/>
          </a:solidFill>
          <a:ln w="9525">
            <a:solidFill>
              <a:srgbClr val="1565C0"/>
            </a:solidFill>
            <a:prstDash val="solid"/>
          </a:ln>
        </p:spPr>
        <p:txBody>
          <a:bodyPr/>
          <a:lstStyle/>
          <a:p>
            <a:endParaRPr lang="es-GT">
              <a:latin typeface="Century Schoolbook" panose="02040604050505020304" pitchFamily="18" charset="0"/>
            </a:endParaRPr>
          </a:p>
        </p:txBody>
      </p:sp>
      <p:sp>
        <p:nvSpPr>
          <p:cNvPr id="4" name="Text 2"/>
          <p:cNvSpPr txBox="1"/>
          <p:nvPr/>
        </p:nvSpPr>
        <p:spPr>
          <a:xfrm>
            <a:off x="594360" y="12344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entury Schoolbook" panose="02040604050505020304" pitchFamily="18" charset="0"/>
                <a:ea typeface="Cambria" pitchFamily="34" charset="-122"/>
                <a:cs typeface="Cambria" pitchFamily="34" charset="-120"/>
              </a:rPr>
              <a:t>1,718,037</a:t>
            </a:r>
            <a:endParaRPr lang="en-US" sz="2400" dirty="0">
              <a:latin typeface="Century Schoolbook" panose="02040604050505020304" pitchFamily="18" charset="0"/>
            </a:endParaRPr>
          </a:p>
        </p:txBody>
      </p:sp>
      <p:sp>
        <p:nvSpPr>
          <p:cNvPr id="5" name="Text 3"/>
          <p:cNvSpPr txBox="1"/>
          <p:nvPr/>
        </p:nvSpPr>
        <p:spPr>
          <a:xfrm>
            <a:off x="594360" y="1664208"/>
            <a:ext cx="3108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DCEBFA"/>
                </a:solidFill>
                <a:latin typeface="Century Schoolbook" panose="02040604050505020304" pitchFamily="18" charset="0"/>
                <a:ea typeface="Calibri" pitchFamily="34" charset="-122"/>
                <a:cs typeface="Calibri" pitchFamily="34" charset="-120"/>
              </a:rPr>
              <a:t>registros en Gold</a:t>
            </a:r>
            <a:endParaRPr lang="en-US" sz="1200" dirty="0">
              <a:latin typeface="Century Schoolbook" panose="02040604050505020304" pitchFamily="18" charset="0"/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457200" y="228600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A2540"/>
                </a:solidFill>
                <a:latin typeface="Century Schoolbook" panose="02040604050505020304" pitchFamily="18" charset="0"/>
                <a:ea typeface="Cambria" pitchFamily="34" charset="-122"/>
                <a:cs typeface="Cambria" pitchFamily="34" charset="-120"/>
              </a:rPr>
              <a:t>Dimensiones conformadas</a:t>
            </a:r>
            <a:endParaRPr lang="en-US" sz="1500" dirty="0">
              <a:latin typeface="Century Schoolbook" panose="02040604050505020304" pitchFamily="18" charset="0"/>
            </a:endParaRPr>
          </a:p>
        </p:txBody>
      </p:sp>
      <p:sp>
        <p:nvSpPr>
          <p:cNvPr id="7" name="Text 5"/>
          <p:cNvSpPr txBox="1"/>
          <p:nvPr/>
        </p:nvSpPr>
        <p:spPr>
          <a:xfrm>
            <a:off x="457200" y="260604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2304F"/>
                </a:solidFill>
                <a:latin typeface="Century Schoolbook" panose="02040604050505020304" pitchFamily="18" charset="0"/>
                <a:ea typeface="Calibri" pitchFamily="34" charset="-122"/>
                <a:cs typeface="Calibri" pitchFamily="34" charset="-120"/>
              </a:rPr>
              <a:t>fecha · hora · modo · usuario · zona</a:t>
            </a:r>
            <a:endParaRPr lang="en-US" sz="1300" dirty="0">
              <a:latin typeface="Century Schoolbook" panose="02040604050505020304" pitchFamily="18" charset="0"/>
            </a:endParaRPr>
          </a:p>
        </p:txBody>
      </p:sp>
      <p:sp>
        <p:nvSpPr>
          <p:cNvPr id="8" name="Text 6"/>
          <p:cNvSpPr txBox="1"/>
          <p:nvPr/>
        </p:nvSpPr>
        <p:spPr>
          <a:xfrm>
            <a:off x="457200" y="310896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A2540"/>
                </a:solidFill>
                <a:latin typeface="Century Schoolbook" panose="02040604050505020304" pitchFamily="18" charset="0"/>
                <a:ea typeface="Cambria" pitchFamily="34" charset="-122"/>
                <a:cs typeface="Cambria" pitchFamily="34" charset="-120"/>
              </a:rPr>
              <a:t>Tablas de hechos</a:t>
            </a:r>
            <a:endParaRPr lang="en-US" sz="1500" dirty="0">
              <a:latin typeface="Century Schoolbook" panose="02040604050505020304" pitchFamily="18" charset="0"/>
            </a:endParaRPr>
          </a:p>
        </p:txBody>
      </p:sp>
      <p:sp>
        <p:nvSpPr>
          <p:cNvPr id="9" name="Text 7"/>
          <p:cNvSpPr txBox="1"/>
          <p:nvPr/>
        </p:nvSpPr>
        <p:spPr>
          <a:xfrm>
            <a:off x="457200" y="342900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2304F"/>
                </a:solidFill>
                <a:latin typeface="Century Schoolbook" panose="02040604050505020304" pitchFamily="18" charset="0"/>
                <a:ea typeface="Calibri" pitchFamily="34" charset="-122"/>
                <a:cs typeface="Calibri" pitchFamily="34" charset="-120"/>
              </a:rPr>
              <a:t>fct_abordajes: 1,352,058</a:t>
            </a:r>
            <a:endParaRPr lang="en-US" sz="1300" dirty="0">
              <a:latin typeface="Century Schoolbook" panose="02040604050505020304" pitchFamily="18" charset="0"/>
            </a:endParaRPr>
          </a:p>
          <a:p>
            <a:pPr marL="0" indent="0">
              <a:buNone/>
            </a:pPr>
            <a:r>
              <a:rPr lang="en-US" sz="1300" dirty="0">
                <a:solidFill>
                  <a:srgbClr val="12304F"/>
                </a:solidFill>
                <a:latin typeface="Century Schoolbook" panose="02040604050505020304" pitchFamily="18" charset="0"/>
                <a:ea typeface="Calibri" pitchFamily="34" charset="-122"/>
                <a:cs typeface="Calibri" pitchFamily="34" charset="-120"/>
              </a:rPr>
              <a:t>fct_viajes_metroriel: 295,511</a:t>
            </a:r>
            <a:endParaRPr lang="en-US" sz="1300" dirty="0">
              <a:latin typeface="Century Schoolbook" panose="02040604050505020304" pitchFamily="18" charset="0"/>
            </a:endParaRPr>
          </a:p>
        </p:txBody>
      </p:sp>
      <p:sp>
        <p:nvSpPr>
          <p:cNvPr id="10" name="Text 8"/>
          <p:cNvSpPr txBox="1"/>
          <p:nvPr/>
        </p:nvSpPr>
        <p:spPr>
          <a:xfrm>
            <a:off x="457200" y="411480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5B7A99"/>
                </a:solidFill>
                <a:latin typeface="Century Schoolbook" panose="02040604050505020304" pitchFamily="18" charset="0"/>
                <a:ea typeface="Calibri" pitchFamily="34" charset="-122"/>
                <a:cs typeface="Calibri" pitchFamily="34" charset="-120"/>
              </a:rPr>
              <a:t>Usuarios seudonimizados antes de Gold.</a:t>
            </a:r>
            <a:endParaRPr lang="en-US" sz="1100" dirty="0">
              <a:latin typeface="Century Schoolbook" panose="02040604050505020304" pitchFamily="18" charset="0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4151376" y="1225296"/>
            <a:ext cx="4590288" cy="2920533"/>
          </a:xfrm>
          <a:prstGeom prst="rect">
            <a:avLst/>
          </a:prstGeom>
          <a:solidFill>
            <a:srgbClr val="FFFFFF"/>
          </a:solidFill>
          <a:ln w="12700">
            <a:solidFill>
              <a:srgbClr val="8EC5F0"/>
            </a:solidFill>
            <a:prstDash val="solid"/>
          </a:ln>
          <a:effectLst>
            <a:outerShdw blurRad="101600" dist="25400" dir="54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s-GT">
              <a:latin typeface="Century Schoolbook" panose="02040604050505020304" pitchFamily="18" charset="0"/>
            </a:endParaRPr>
          </a:p>
        </p:txBody>
      </p:sp>
      <p:pic>
        <p:nvPicPr>
          <p:cNvPr id="12" name="Image 0" descr="/home/claude/img/a1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06240" y="1280160"/>
            <a:ext cx="4480560" cy="2810805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4206240" y="416052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5B7A99"/>
                </a:solidFill>
                <a:latin typeface="Century Schoolbook" panose="02040604050505020304" pitchFamily="18" charset="0"/>
                <a:ea typeface="Calibri" pitchFamily="34" charset="-122"/>
                <a:cs typeface="Calibri" pitchFamily="34" charset="-120"/>
              </a:rPr>
              <a:t>Anexo 10 · Conteos del esquema Gold</a:t>
            </a:r>
            <a:endParaRPr lang="en-US" sz="1100" dirty="0">
              <a:latin typeface="Century Schoolbook" panose="02040604050505020304" pitchFamily="18" charset="0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9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A2540"/>
                </a:solidFill>
                <a:latin typeface="Century Schoolbook" panose="02040604050505020304" pitchFamily="18" charset="0"/>
                <a:ea typeface="Cambria" pitchFamily="34" charset="-122"/>
                <a:cs typeface="Cambria" pitchFamily="34" charset="-120"/>
              </a:rPr>
              <a:t>Fase 01 · Idempotencia y pruebas</a:t>
            </a:r>
            <a:endParaRPr lang="en-US" sz="2800" dirty="0">
              <a:latin typeface="Century Schoolbook" panose="02040604050505020304" pitchFamily="18" charset="0"/>
            </a:endParaRPr>
          </a:p>
        </p:txBody>
      </p:sp>
      <p:sp>
        <p:nvSpPr>
          <p:cNvPr id="3" name="Shape 1"/>
          <p:cNvSpPr/>
          <p:nvPr/>
        </p:nvSpPr>
        <p:spPr>
          <a:xfrm>
            <a:off x="402336" y="1042416"/>
            <a:ext cx="4041648" cy="2576352"/>
          </a:xfrm>
          <a:prstGeom prst="rect">
            <a:avLst/>
          </a:prstGeom>
          <a:solidFill>
            <a:srgbClr val="FFFFFF"/>
          </a:solidFill>
          <a:ln w="12700">
            <a:solidFill>
              <a:srgbClr val="8EC5F0"/>
            </a:solidFill>
            <a:prstDash val="solid"/>
          </a:ln>
          <a:effectLst>
            <a:outerShdw blurRad="101600" dist="25400" dir="54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s-GT">
              <a:latin typeface="Century Schoolbook" panose="02040604050505020304" pitchFamily="18" charset="0"/>
            </a:endParaRPr>
          </a:p>
        </p:txBody>
      </p:sp>
      <p:pic>
        <p:nvPicPr>
          <p:cNvPr id="4" name="Image 0" descr="/home/claude/img/a1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097280"/>
            <a:ext cx="3931920" cy="246662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3611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5B7A99"/>
                </a:solidFill>
                <a:latin typeface="Century Schoolbook" panose="02040604050505020304" pitchFamily="18" charset="0"/>
                <a:ea typeface="Calibri" pitchFamily="34" charset="-122"/>
                <a:cs typeface="Calibri" pitchFamily="34" charset="-120"/>
              </a:rPr>
              <a:t>Anexo 11 · Dos corridas, mismos conteos</a:t>
            </a:r>
            <a:endParaRPr lang="en-US" sz="1100" dirty="0">
              <a:latin typeface="Century Schoolbook" panose="02040604050505020304" pitchFamily="18" charset="0"/>
            </a:endParaRPr>
          </a:p>
        </p:txBody>
      </p:sp>
      <p:sp>
        <p:nvSpPr>
          <p:cNvPr id="6" name="Shape 3"/>
          <p:cNvSpPr/>
          <p:nvPr/>
        </p:nvSpPr>
        <p:spPr>
          <a:xfrm>
            <a:off x="4700016" y="1042416"/>
            <a:ext cx="4041648" cy="2576352"/>
          </a:xfrm>
          <a:prstGeom prst="rect">
            <a:avLst/>
          </a:prstGeom>
          <a:solidFill>
            <a:srgbClr val="FFFFFF"/>
          </a:solidFill>
          <a:ln w="12700">
            <a:solidFill>
              <a:srgbClr val="8EC5F0"/>
            </a:solidFill>
            <a:prstDash val="solid"/>
          </a:ln>
          <a:effectLst>
            <a:outerShdw blurRad="101600" dist="25400" dir="54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s-GT">
              <a:latin typeface="Century Schoolbook" panose="02040604050505020304" pitchFamily="18" charset="0"/>
            </a:endParaRPr>
          </a:p>
        </p:txBody>
      </p:sp>
      <p:pic>
        <p:nvPicPr>
          <p:cNvPr id="7" name="Image 1" descr="/home/claude/img/a13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0" y="1097280"/>
            <a:ext cx="3931920" cy="2466624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4754880" y="3611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5B7A99"/>
                </a:solidFill>
                <a:latin typeface="Century Schoolbook" panose="02040604050505020304" pitchFamily="18" charset="0"/>
                <a:ea typeface="Calibri" pitchFamily="34" charset="-122"/>
                <a:cs typeface="Calibri" pitchFamily="34" charset="-120"/>
              </a:rPr>
              <a:t>Anexo 13 · dbt: PASS=79, ERROR=0</a:t>
            </a:r>
            <a:endParaRPr lang="en-US" sz="1100" dirty="0">
              <a:latin typeface="Century Schoolbook" panose="02040604050505020304" pitchFamily="18" charset="0"/>
            </a:endParaRPr>
          </a:p>
        </p:txBody>
      </p:sp>
      <p:sp>
        <p:nvSpPr>
          <p:cNvPr id="9" name="Shape 5"/>
          <p:cNvSpPr/>
          <p:nvPr/>
        </p:nvSpPr>
        <p:spPr>
          <a:xfrm>
            <a:off x="457200" y="4023360"/>
            <a:ext cx="3931920" cy="868680"/>
          </a:xfrm>
          <a:prstGeom prst="roundRect">
            <a:avLst>
              <a:gd name="adj" fmla="val 8421"/>
            </a:avLst>
          </a:prstGeom>
          <a:solidFill>
            <a:srgbClr val="E8F3FC"/>
          </a:solidFill>
          <a:ln w="9525">
            <a:solidFill>
              <a:srgbClr val="8EC5F0"/>
            </a:solidFill>
            <a:prstDash val="solid"/>
          </a:ln>
        </p:spPr>
        <p:txBody>
          <a:bodyPr/>
          <a:lstStyle/>
          <a:p>
            <a:endParaRPr lang="es-GT">
              <a:latin typeface="Century Schoolbook" panose="02040604050505020304" pitchFamily="18" charset="0"/>
            </a:endParaRPr>
          </a:p>
        </p:txBody>
      </p:sp>
      <p:sp>
        <p:nvSpPr>
          <p:cNvPr id="10" name="Text 6"/>
          <p:cNvSpPr txBox="1"/>
          <p:nvPr/>
        </p:nvSpPr>
        <p:spPr>
          <a:xfrm>
            <a:off x="594360" y="40690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565C0"/>
                </a:solidFill>
                <a:latin typeface="Century Schoolbook" panose="02040604050505020304" pitchFamily="18" charset="0"/>
                <a:ea typeface="Cambria" pitchFamily="34" charset="-122"/>
                <a:cs typeface="Cambria" pitchFamily="34" charset="-120"/>
              </a:rPr>
              <a:t>2 corridas</a:t>
            </a:r>
            <a:endParaRPr lang="en-US" sz="2400" dirty="0">
              <a:latin typeface="Century Schoolbook" panose="02040604050505020304" pitchFamily="18" charset="0"/>
            </a:endParaRPr>
          </a:p>
        </p:txBody>
      </p:sp>
      <p:sp>
        <p:nvSpPr>
          <p:cNvPr id="11" name="Text 7"/>
          <p:cNvSpPr txBox="1"/>
          <p:nvPr/>
        </p:nvSpPr>
        <p:spPr>
          <a:xfrm>
            <a:off x="594360" y="4498848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2304F"/>
                </a:solidFill>
                <a:latin typeface="Century Schoolbook" panose="02040604050505020304" pitchFamily="18" charset="0"/>
                <a:ea typeface="Calibri" pitchFamily="34" charset="-122"/>
                <a:cs typeface="Calibri" pitchFamily="34" charset="-120"/>
              </a:rPr>
              <a:t>idénticas: sin duplicados (~72 s c/u)</a:t>
            </a:r>
            <a:endParaRPr lang="en-US" sz="1200" dirty="0">
              <a:latin typeface="Century Schoolbook" panose="02040604050505020304" pitchFamily="18" charset="0"/>
            </a:endParaRPr>
          </a:p>
        </p:txBody>
      </p:sp>
      <p:sp>
        <p:nvSpPr>
          <p:cNvPr id="12" name="Shape 8"/>
          <p:cNvSpPr/>
          <p:nvPr/>
        </p:nvSpPr>
        <p:spPr>
          <a:xfrm>
            <a:off x="4754880" y="4023360"/>
            <a:ext cx="3931920" cy="868680"/>
          </a:xfrm>
          <a:prstGeom prst="roundRect">
            <a:avLst>
              <a:gd name="adj" fmla="val 8421"/>
            </a:avLst>
          </a:prstGeom>
          <a:solidFill>
            <a:srgbClr val="E8F3FC"/>
          </a:solidFill>
          <a:ln w="9525">
            <a:solidFill>
              <a:srgbClr val="8EC5F0"/>
            </a:solidFill>
            <a:prstDash val="solid"/>
          </a:ln>
        </p:spPr>
        <p:txBody>
          <a:bodyPr/>
          <a:lstStyle/>
          <a:p>
            <a:endParaRPr lang="es-GT">
              <a:latin typeface="Century Schoolbook" panose="02040604050505020304" pitchFamily="18" charset="0"/>
            </a:endParaRPr>
          </a:p>
        </p:txBody>
      </p:sp>
      <p:sp>
        <p:nvSpPr>
          <p:cNvPr id="13" name="Text 9"/>
          <p:cNvSpPr txBox="1"/>
          <p:nvPr/>
        </p:nvSpPr>
        <p:spPr>
          <a:xfrm>
            <a:off x="4892040" y="40690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565C0"/>
                </a:solidFill>
                <a:latin typeface="Century Schoolbook" panose="02040604050505020304" pitchFamily="18" charset="0"/>
                <a:ea typeface="Cambria" pitchFamily="34" charset="-122"/>
                <a:cs typeface="Cambria" pitchFamily="34" charset="-120"/>
              </a:rPr>
              <a:t>79 pruebas</a:t>
            </a:r>
            <a:endParaRPr lang="en-US" sz="2400" dirty="0">
              <a:latin typeface="Century Schoolbook" panose="02040604050505020304" pitchFamily="18" charset="0"/>
            </a:endParaRPr>
          </a:p>
        </p:txBody>
      </p:sp>
      <p:sp>
        <p:nvSpPr>
          <p:cNvPr id="14" name="Text 10"/>
          <p:cNvSpPr txBox="1"/>
          <p:nvPr/>
        </p:nvSpPr>
        <p:spPr>
          <a:xfrm>
            <a:off x="4892040" y="4498848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2304F"/>
                </a:solidFill>
                <a:latin typeface="Century Schoolbook" panose="02040604050505020304" pitchFamily="18" charset="0"/>
                <a:ea typeface="Calibri" pitchFamily="34" charset="-122"/>
                <a:cs typeface="Calibri" pitchFamily="34" charset="-120"/>
              </a:rPr>
              <a:t>dbt aprobadas, sin errores ni advertencias</a:t>
            </a:r>
            <a:endParaRPr lang="en-US" sz="1200" dirty="0">
              <a:latin typeface="Century Schoolbook" panose="02040604050505020304" pitchFamily="18" charset="0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25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entury Schoolbook" panose="02040604050505020304" pitchFamily="18" charset="0"/>
                <a:ea typeface="Cambria" pitchFamily="34" charset="-122"/>
                <a:cs typeface="Cambria" pitchFamily="34" charset="-120"/>
              </a:rPr>
              <a:t>Fase 02 · Visualización y features</a:t>
            </a:r>
            <a:endParaRPr lang="en-US" sz="2800" dirty="0">
              <a:latin typeface="Century Schoolbook" panose="02040604050505020304" pitchFamily="18" charset="0"/>
            </a:endParaRPr>
          </a:p>
        </p:txBody>
      </p:sp>
      <p:sp>
        <p:nvSpPr>
          <p:cNvPr id="3" name="Shape 1"/>
          <p:cNvSpPr/>
          <p:nvPr/>
        </p:nvSpPr>
        <p:spPr>
          <a:xfrm>
            <a:off x="457200" y="1463040"/>
            <a:ext cx="365760" cy="365760"/>
          </a:xfrm>
          <a:prstGeom prst="ellipse">
            <a:avLst/>
          </a:prstGeom>
          <a:solidFill>
            <a:srgbClr val="2F80ED"/>
          </a:solidFill>
          <a:ln w="12700">
            <a:solidFill>
              <a:srgbClr val="2F80ED"/>
            </a:solidFill>
            <a:prstDash val="solid"/>
          </a:ln>
        </p:spPr>
        <p:txBody>
          <a:bodyPr/>
          <a:lstStyle/>
          <a:p>
            <a:endParaRPr lang="es-GT">
              <a:latin typeface="Century Schoolbook" panose="02040604050505020304" pitchFamily="18" charset="0"/>
            </a:endParaRPr>
          </a:p>
        </p:txBody>
      </p:sp>
      <p:sp>
        <p:nvSpPr>
          <p:cNvPr id="4" name="Text 2"/>
          <p:cNvSpPr txBox="1"/>
          <p:nvPr/>
        </p:nvSpPr>
        <p:spPr>
          <a:xfrm>
            <a:off x="457200" y="14630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entury Schoolbook" panose="02040604050505020304" pitchFamily="18" charset="0"/>
                <a:ea typeface="Cambria" pitchFamily="34" charset="-122"/>
                <a:cs typeface="Cambria" pitchFamily="34" charset="-120"/>
              </a:rPr>
              <a:t>1</a:t>
            </a:r>
            <a:endParaRPr lang="en-US" sz="1300" dirty="0">
              <a:latin typeface="Century Schoolbook" panose="02040604050505020304" pitchFamily="18" charset="0"/>
            </a:endParaRPr>
          </a:p>
        </p:txBody>
      </p:sp>
      <p:sp>
        <p:nvSpPr>
          <p:cNvPr id="5" name="Text 3"/>
          <p:cNvSpPr txBox="1"/>
          <p:nvPr/>
        </p:nvSpPr>
        <p:spPr>
          <a:xfrm>
            <a:off x="1051560" y="13716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entury Schoolbook" panose="02040604050505020304" pitchFamily="18" charset="0"/>
                <a:ea typeface="Cambria" pitchFamily="34" charset="-122"/>
                <a:cs typeface="Cambria" pitchFamily="34" charset="-120"/>
              </a:rPr>
              <a:t>Tableau sobre Gold</a:t>
            </a:r>
            <a:endParaRPr lang="en-US" sz="2000" dirty="0">
              <a:latin typeface="Century Schoolbook" panose="02040604050505020304" pitchFamily="18" charset="0"/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1051560" y="17830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8EC5F0"/>
                </a:solidFill>
                <a:latin typeface="Century Schoolbook" panose="02040604050505020304" pitchFamily="18" charset="0"/>
                <a:ea typeface="Calibri" pitchFamily="34" charset="-122"/>
                <a:cs typeface="Calibri" pitchFamily="34" charset="-120"/>
              </a:rPr>
              <a:t>Modelo conectado a fct_abordajes y sus dimensiones</a:t>
            </a:r>
            <a:endParaRPr lang="en-US" sz="1400" dirty="0">
              <a:latin typeface="Century Schoolbook" panose="02040604050505020304" pitchFamily="18" charset="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457200" y="2560320"/>
            <a:ext cx="365760" cy="365760"/>
          </a:xfrm>
          <a:prstGeom prst="ellipse">
            <a:avLst/>
          </a:prstGeom>
          <a:solidFill>
            <a:srgbClr val="2F80ED"/>
          </a:solidFill>
          <a:ln w="12700">
            <a:solidFill>
              <a:srgbClr val="2F80ED"/>
            </a:solidFill>
            <a:prstDash val="solid"/>
          </a:ln>
        </p:spPr>
        <p:txBody>
          <a:bodyPr/>
          <a:lstStyle/>
          <a:p>
            <a:endParaRPr lang="es-GT">
              <a:latin typeface="Century Schoolbook" panose="02040604050505020304" pitchFamily="18" charset="0"/>
            </a:endParaRPr>
          </a:p>
        </p:txBody>
      </p:sp>
      <p:sp>
        <p:nvSpPr>
          <p:cNvPr id="8" name="Text 6"/>
          <p:cNvSpPr txBox="1"/>
          <p:nvPr/>
        </p:nvSpPr>
        <p:spPr>
          <a:xfrm>
            <a:off x="457200" y="25603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entury Schoolbook" panose="02040604050505020304" pitchFamily="18" charset="0"/>
                <a:ea typeface="Cambria" pitchFamily="34" charset="-122"/>
                <a:cs typeface="Cambria" pitchFamily="34" charset="-120"/>
              </a:rPr>
              <a:t>2</a:t>
            </a:r>
            <a:endParaRPr lang="en-US" sz="1300" dirty="0">
              <a:latin typeface="Century Schoolbook" panose="02040604050505020304" pitchFamily="18" charset="0"/>
            </a:endParaRPr>
          </a:p>
        </p:txBody>
      </p:sp>
      <p:sp>
        <p:nvSpPr>
          <p:cNvPr id="9" name="Text 7"/>
          <p:cNvSpPr txBox="1"/>
          <p:nvPr/>
        </p:nvSpPr>
        <p:spPr>
          <a:xfrm>
            <a:off x="1051560" y="24688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entury Schoolbook" panose="02040604050505020304" pitchFamily="18" charset="0"/>
                <a:ea typeface="Cambria" pitchFamily="34" charset="-122"/>
                <a:cs typeface="Cambria" pitchFamily="34" charset="-120"/>
              </a:rPr>
              <a:t>Dashboard Red Metropolitana</a:t>
            </a:r>
            <a:endParaRPr lang="en-US" sz="2000" dirty="0">
              <a:latin typeface="Century Schoolbook" panose="02040604050505020304" pitchFamily="18" charset="0"/>
            </a:endParaRPr>
          </a:p>
        </p:txBody>
      </p:sp>
      <p:sp>
        <p:nvSpPr>
          <p:cNvPr id="10" name="Text 8"/>
          <p:cNvSpPr txBox="1"/>
          <p:nvPr/>
        </p:nvSpPr>
        <p:spPr>
          <a:xfrm>
            <a:off x="1051560" y="28803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8EC5F0"/>
                </a:solidFill>
                <a:latin typeface="Century Schoolbook" panose="02040604050505020304" pitchFamily="18" charset="0"/>
                <a:ea typeface="Calibri" pitchFamily="34" charset="-122"/>
                <a:cs typeface="Calibri" pitchFamily="34" charset="-120"/>
              </a:rPr>
              <a:t>Modo, zona, hora, multimodales y MetroRiel</a:t>
            </a:r>
            <a:endParaRPr lang="en-US" sz="1400" dirty="0">
              <a:latin typeface="Century Schoolbook" panose="02040604050505020304" pitchFamily="18" charset="0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457200" y="3657600"/>
            <a:ext cx="365760" cy="365760"/>
          </a:xfrm>
          <a:prstGeom prst="ellipse">
            <a:avLst/>
          </a:prstGeom>
          <a:solidFill>
            <a:srgbClr val="2F80ED"/>
          </a:solidFill>
          <a:ln w="12700">
            <a:solidFill>
              <a:srgbClr val="2F80ED"/>
            </a:solidFill>
            <a:prstDash val="solid"/>
          </a:ln>
        </p:spPr>
        <p:txBody>
          <a:bodyPr/>
          <a:lstStyle/>
          <a:p>
            <a:endParaRPr lang="es-GT">
              <a:latin typeface="Century Schoolbook" panose="02040604050505020304" pitchFamily="18" charset="0"/>
            </a:endParaRPr>
          </a:p>
        </p:txBody>
      </p:sp>
      <p:sp>
        <p:nvSpPr>
          <p:cNvPr id="12" name="Text 10"/>
          <p:cNvSpPr txBox="1"/>
          <p:nvPr/>
        </p:nvSpPr>
        <p:spPr>
          <a:xfrm>
            <a:off x="457200" y="36576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entury Schoolbook" panose="02040604050505020304" pitchFamily="18" charset="0"/>
                <a:ea typeface="Cambria" pitchFamily="34" charset="-122"/>
                <a:cs typeface="Cambria" pitchFamily="34" charset="-120"/>
              </a:rPr>
              <a:t>3</a:t>
            </a:r>
            <a:endParaRPr lang="en-US" sz="1300" dirty="0">
              <a:latin typeface="Century Schoolbook" panose="02040604050505020304" pitchFamily="18" charset="0"/>
            </a:endParaRPr>
          </a:p>
        </p:txBody>
      </p:sp>
      <p:sp>
        <p:nvSpPr>
          <p:cNvPr id="13" name="Text 11"/>
          <p:cNvSpPr txBox="1"/>
          <p:nvPr/>
        </p:nvSpPr>
        <p:spPr>
          <a:xfrm>
            <a:off x="1051560" y="35661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entury Schoolbook" panose="02040604050505020304" pitchFamily="18" charset="0"/>
                <a:ea typeface="Cambria" pitchFamily="34" charset="-122"/>
                <a:cs typeface="Cambria" pitchFamily="34" charset="-120"/>
              </a:rPr>
              <a:t>Features de movilidad</a:t>
            </a:r>
            <a:endParaRPr lang="en-US" sz="2000" dirty="0">
              <a:latin typeface="Century Schoolbook" panose="02040604050505020304" pitchFamily="18" charset="0"/>
            </a:endParaRPr>
          </a:p>
        </p:txBody>
      </p:sp>
      <p:sp>
        <p:nvSpPr>
          <p:cNvPr id="14" name="Text 12"/>
          <p:cNvSpPr txBox="1"/>
          <p:nvPr/>
        </p:nvSpPr>
        <p:spPr>
          <a:xfrm>
            <a:off x="1051560" y="3977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8EC5F0"/>
                </a:solidFill>
                <a:latin typeface="Century Schoolbook" panose="02040604050505020304" pitchFamily="18" charset="0"/>
                <a:ea typeface="Calibri" pitchFamily="34" charset="-122"/>
                <a:cs typeface="Calibri" pitchFamily="34" charset="-120"/>
              </a:rPr>
              <a:t>66,140 usuarios con variables listas para análisis</a:t>
            </a:r>
            <a:endParaRPr lang="en-US" sz="1400" dirty="0">
              <a:latin typeface="Century Schoolbook" panose="02040604050505020304" pitchFamily="18" charset="0"/>
            </a:endParaRPr>
          </a:p>
        </p:txBody>
      </p:sp>
      <p:sp>
        <p:nvSpPr>
          <p:cNvPr id="15" name="Text 13"/>
          <p:cNvSpPr txBox="1"/>
          <p:nvPr/>
        </p:nvSpPr>
        <p:spPr>
          <a:xfrm>
            <a:off x="457200" y="44805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DE7F8"/>
                </a:solidFill>
                <a:latin typeface="Century Schoolbook" panose="02040604050505020304" pitchFamily="18" charset="0"/>
                <a:ea typeface="Calibri" pitchFamily="34" charset="-122"/>
                <a:cs typeface="Calibri" pitchFamily="34" charset="-120"/>
              </a:rPr>
              <a:t>29 modelos dbt construidos · 82 pruebas PASS</a:t>
            </a:r>
            <a:endParaRPr lang="en-US" sz="1400" dirty="0">
              <a:latin typeface="Century Schoolbook" panose="02040604050505020304" pitchFamily="18" charset="0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700" b="1" i="0">
                <a:solidFill>
                  <a:srgbClr val="072A49"/>
                </a:solidFill>
                <a:latin typeface="Century Schoolbook" panose="02040604050505020304" pitchFamily="18" charset="0"/>
              </a:rPr>
              <a:t>Cómo resolvimos la Fase 02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207008"/>
            <a:ext cx="2514600" cy="1353312"/>
          </a:xfrm>
          <a:prstGeom prst="roundRect">
            <a:avLst/>
          </a:prstGeom>
          <a:solidFill>
            <a:srgbClr val="E7F2FA"/>
          </a:solidFill>
          <a:ln>
            <a:solidFill>
              <a:srgbClr val="A8CF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Century Schoolbook" panose="02040604050505020304" pitchFamily="18" charset="0"/>
            </a:endParaRPr>
          </a:p>
        </p:txBody>
      </p:sp>
      <p:sp>
        <p:nvSpPr>
          <p:cNvPr id="4" name="Oval 3"/>
          <p:cNvSpPr/>
          <p:nvPr/>
        </p:nvSpPr>
        <p:spPr>
          <a:xfrm>
            <a:off x="585216" y="1335024"/>
            <a:ext cx="365760" cy="365760"/>
          </a:xfrm>
          <a:prstGeom prst="ellipse">
            <a:avLst/>
          </a:prstGeom>
          <a:solidFill>
            <a:srgbClr val="246B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Century Schoolbook" panose="02040604050505020304" pitchFamily="18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85216" y="1387099"/>
            <a:ext cx="365760" cy="26161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entury Schoolbook" panose="02040604050505020304" pitchFamily="18" charset="0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" y="1229723"/>
            <a:ext cx="1819656" cy="56938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50" b="1" i="0" dirty="0" err="1">
                <a:solidFill>
                  <a:srgbClr val="072A49"/>
                </a:solidFill>
                <a:latin typeface="Century Schoolbook" panose="02040604050505020304" pitchFamily="18" charset="0"/>
              </a:rPr>
              <a:t>Partimos</a:t>
            </a:r>
            <a:r>
              <a:rPr sz="1550" b="1" i="0" dirty="0">
                <a:solidFill>
                  <a:srgbClr val="072A49"/>
                </a:solidFill>
                <a:latin typeface="Century Schoolbook" panose="02040604050505020304" pitchFamily="18" charset="0"/>
              </a:rPr>
              <a:t> de Gold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791496"/>
            <a:ext cx="2148840" cy="6232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526576"/>
                </a:solidFill>
                <a:latin typeface="Century Schoolbook" panose="02040604050505020304" pitchFamily="18" charset="0"/>
              </a:rPr>
              <a:t>Tableau se conectó a fct_abordajes, dimensiones y fct_viajes_metroriel.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64408" y="1207008"/>
            <a:ext cx="2514600" cy="1353312"/>
          </a:xfrm>
          <a:prstGeom prst="roundRect">
            <a:avLst/>
          </a:prstGeom>
          <a:solidFill>
            <a:srgbClr val="E7F2FA"/>
          </a:solidFill>
          <a:ln>
            <a:solidFill>
              <a:srgbClr val="A8CF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Century Schoolbook" panose="02040604050505020304" pitchFamily="18" charset="0"/>
            </a:endParaRPr>
          </a:p>
        </p:txBody>
      </p:sp>
      <p:sp>
        <p:nvSpPr>
          <p:cNvPr id="9" name="Oval 8"/>
          <p:cNvSpPr/>
          <p:nvPr/>
        </p:nvSpPr>
        <p:spPr>
          <a:xfrm>
            <a:off x="3392424" y="1335024"/>
            <a:ext cx="365760" cy="365760"/>
          </a:xfrm>
          <a:prstGeom prst="ellipse">
            <a:avLst/>
          </a:prstGeom>
          <a:solidFill>
            <a:srgbClr val="246B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Century Schoolbook" panose="02040604050505020304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392424" y="1387099"/>
            <a:ext cx="365760" cy="26161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entury Schoolbook" panose="02040604050505020304" pitchFamily="18" charset="0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50712" y="1253595"/>
            <a:ext cx="1819656" cy="56938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50" b="1" i="0" dirty="0" err="1">
                <a:solidFill>
                  <a:srgbClr val="072A49"/>
                </a:solidFill>
                <a:latin typeface="Century Schoolbook" panose="02040604050505020304" pitchFamily="18" charset="0"/>
              </a:rPr>
              <a:t>Construimos</a:t>
            </a:r>
            <a:r>
              <a:rPr sz="1550" b="1" i="0" dirty="0">
                <a:solidFill>
                  <a:srgbClr val="072A49"/>
                </a:solidFill>
                <a:latin typeface="Century Schoolbook" panose="02040604050505020304" pitchFamily="18" charset="0"/>
              </a:rPr>
              <a:t> las vistas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47288" y="1791496"/>
            <a:ext cx="2148840" cy="6232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526576"/>
                </a:solidFill>
                <a:latin typeface="Century Schoolbook" panose="02040604050505020304" pitchFamily="18" charset="0"/>
              </a:rPr>
              <a:t>Demanda por modo, zona y hora; multimodales, MetroRiel y cobertura.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71616" y="1207008"/>
            <a:ext cx="2514600" cy="1353312"/>
          </a:xfrm>
          <a:prstGeom prst="roundRect">
            <a:avLst/>
          </a:prstGeom>
          <a:solidFill>
            <a:srgbClr val="246BC9"/>
          </a:solidFill>
          <a:ln>
            <a:solidFill>
              <a:srgbClr val="246B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Century Schoolbook" panose="02040604050505020304" pitchFamily="18" charset="0"/>
            </a:endParaRPr>
          </a:p>
        </p:txBody>
      </p:sp>
      <p:sp>
        <p:nvSpPr>
          <p:cNvPr id="14" name="Oval 13"/>
          <p:cNvSpPr/>
          <p:nvPr/>
        </p:nvSpPr>
        <p:spPr>
          <a:xfrm>
            <a:off x="6199632" y="1335024"/>
            <a:ext cx="365760" cy="36576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Century Schoolbook" panose="02040604050505020304" pitchFamily="18" charset="0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6199632" y="1387099"/>
            <a:ext cx="365760" cy="26161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 i="0">
                <a:solidFill>
                  <a:srgbClr val="246BC9"/>
                </a:solidFill>
                <a:latin typeface="Century Schoolbook" panose="02040604050505020304" pitchFamily="18" charset="0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7688" y="1253595"/>
            <a:ext cx="1819656" cy="56938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50" b="1" i="0" dirty="0" err="1">
                <a:solidFill>
                  <a:srgbClr val="FFFFFF"/>
                </a:solidFill>
                <a:latin typeface="Century Schoolbook" panose="02040604050505020304" pitchFamily="18" charset="0"/>
              </a:rPr>
              <a:t>Integramos</a:t>
            </a:r>
            <a:r>
              <a:rPr sz="1550" b="1" i="0" dirty="0">
                <a:solidFill>
                  <a:srgbClr val="FFFFFF"/>
                </a:solidFill>
                <a:latin typeface="Century Schoolbook" panose="02040604050505020304" pitchFamily="18" charset="0"/>
              </a:rPr>
              <a:t> </a:t>
            </a:r>
            <a:r>
              <a:rPr sz="1550" b="1" i="0" dirty="0" err="1">
                <a:solidFill>
                  <a:srgbClr val="FFFFFF"/>
                </a:solidFill>
                <a:latin typeface="Century Schoolbook" panose="02040604050505020304" pitchFamily="18" charset="0"/>
              </a:rPr>
              <a:t>el</a:t>
            </a:r>
            <a:r>
              <a:rPr sz="1550" b="1" i="0" dirty="0">
                <a:solidFill>
                  <a:srgbClr val="FFFFFF"/>
                </a:solidFill>
                <a:latin typeface="Century Schoolbook" panose="02040604050505020304" pitchFamily="18" charset="0"/>
              </a:rPr>
              <a:t> dashboard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54496" y="1791496"/>
            <a:ext cx="2148840" cy="6232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FFFFFF"/>
                </a:solidFill>
                <a:latin typeface="Century Schoolbook" panose="02040604050505020304" pitchFamily="18" charset="0"/>
              </a:rPr>
              <a:t>Reunimos 6 vistas con filtros interactivos por modo y zona.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2845013"/>
            <a:ext cx="2514600" cy="1353312"/>
          </a:xfrm>
          <a:prstGeom prst="roundRect">
            <a:avLst/>
          </a:prstGeom>
          <a:solidFill>
            <a:srgbClr val="E7F2FA"/>
          </a:solidFill>
          <a:ln>
            <a:solidFill>
              <a:srgbClr val="A8CF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Century Schoolbook" panose="02040604050505020304" pitchFamily="18" charset="0"/>
            </a:endParaRPr>
          </a:p>
        </p:txBody>
      </p:sp>
      <p:sp>
        <p:nvSpPr>
          <p:cNvPr id="19" name="Oval 18"/>
          <p:cNvSpPr/>
          <p:nvPr/>
        </p:nvSpPr>
        <p:spPr>
          <a:xfrm>
            <a:off x="585216" y="2973029"/>
            <a:ext cx="365760" cy="365760"/>
          </a:xfrm>
          <a:prstGeom prst="ellipse">
            <a:avLst/>
          </a:prstGeom>
          <a:solidFill>
            <a:srgbClr val="246B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Century Schoolbook" panose="02040604050505020304" pitchFamily="18" charset="0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585216" y="3025104"/>
            <a:ext cx="365760" cy="26161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entury Schoolbook" panose="02040604050505020304" pitchFamily="18" charset="0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3272" y="2877230"/>
            <a:ext cx="1819656" cy="56938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50" b="1" i="0" dirty="0" err="1">
                <a:solidFill>
                  <a:srgbClr val="072A49"/>
                </a:solidFill>
                <a:latin typeface="Century Schoolbook" panose="02040604050505020304" pitchFamily="18" charset="0"/>
              </a:rPr>
              <a:t>Creamos</a:t>
            </a:r>
            <a:r>
              <a:rPr sz="1550" b="1" i="0" dirty="0">
                <a:solidFill>
                  <a:srgbClr val="072A49"/>
                </a:solidFill>
                <a:latin typeface="Century Schoolbook" panose="02040604050505020304" pitchFamily="18" charset="0"/>
              </a:rPr>
              <a:t> features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3429501"/>
            <a:ext cx="2148840" cy="6232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526576"/>
                </a:solidFill>
                <a:latin typeface="Century Schoolbook" panose="02040604050505020304" pitchFamily="18" charset="0"/>
              </a:rPr>
              <a:t>dbt generó features_usuario_movilidad con variables por usuario.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172967" y="2845013"/>
            <a:ext cx="2514600" cy="1353312"/>
          </a:xfrm>
          <a:prstGeom prst="roundRect">
            <a:avLst/>
          </a:prstGeom>
          <a:solidFill>
            <a:srgbClr val="E7F2FA"/>
          </a:solidFill>
          <a:ln>
            <a:solidFill>
              <a:srgbClr val="A8CF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Century Schoolbook" panose="02040604050505020304" pitchFamily="18" charset="0"/>
            </a:endParaRPr>
          </a:p>
        </p:txBody>
      </p:sp>
      <p:sp>
        <p:nvSpPr>
          <p:cNvPr id="24" name="Oval 23"/>
          <p:cNvSpPr/>
          <p:nvPr/>
        </p:nvSpPr>
        <p:spPr>
          <a:xfrm>
            <a:off x="3300983" y="2973029"/>
            <a:ext cx="365760" cy="365760"/>
          </a:xfrm>
          <a:prstGeom prst="ellipse">
            <a:avLst/>
          </a:prstGeom>
          <a:solidFill>
            <a:srgbClr val="246B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Century Schoolbook" panose="02040604050505020304" pitchFamily="18" charset="0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3300983" y="3025104"/>
            <a:ext cx="365760" cy="26161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entury Schoolbook" panose="02040604050505020304" pitchFamily="18" charset="0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735323" y="2877230"/>
            <a:ext cx="1819656" cy="56938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50" b="1" i="0" dirty="0" err="1">
                <a:solidFill>
                  <a:srgbClr val="072A49"/>
                </a:solidFill>
                <a:latin typeface="Century Schoolbook" panose="02040604050505020304" pitchFamily="18" charset="0"/>
              </a:rPr>
              <a:t>Validamos</a:t>
            </a:r>
            <a:r>
              <a:rPr sz="1550" b="1" i="0" dirty="0">
                <a:solidFill>
                  <a:srgbClr val="072A49"/>
                </a:solidFill>
                <a:latin typeface="Century Schoolbook" panose="02040604050505020304" pitchFamily="18" charset="0"/>
              </a:rPr>
              <a:t> </a:t>
            </a:r>
            <a:r>
              <a:rPr sz="1550" b="1" i="0" dirty="0" err="1">
                <a:solidFill>
                  <a:srgbClr val="072A49"/>
                </a:solidFill>
                <a:latin typeface="Century Schoolbook" panose="02040604050505020304" pitchFamily="18" charset="0"/>
              </a:rPr>
              <a:t>nuevamente</a:t>
            </a:r>
            <a:endParaRPr sz="1550" b="1" i="0" dirty="0">
              <a:solidFill>
                <a:srgbClr val="072A49"/>
              </a:solidFill>
              <a:latin typeface="Century Schoolbook" panose="02040604050505020304" pitchFamily="18" charset="0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3355848" y="3429501"/>
            <a:ext cx="2148840" cy="6232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526576"/>
                </a:solidFill>
                <a:latin typeface="Century Schoolbook" panose="02040604050505020304" pitchFamily="18" charset="0"/>
              </a:rPr>
              <a:t>La fase terminó con 29 modelos construidos y 82 pruebas PASS.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099047" y="2846336"/>
            <a:ext cx="2542033" cy="1353312"/>
          </a:xfrm>
          <a:prstGeom prst="roundRect">
            <a:avLst/>
          </a:prstGeom>
          <a:solidFill>
            <a:srgbClr val="E7F2FA"/>
          </a:solidFill>
          <a:ln>
            <a:solidFill>
              <a:srgbClr val="A8CF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Century Schoolbook" panose="02040604050505020304" pitchFamily="18" charset="0"/>
            </a:endParaRPr>
          </a:p>
        </p:txBody>
      </p:sp>
      <p:sp>
        <p:nvSpPr>
          <p:cNvPr id="29" name="Oval 28"/>
          <p:cNvSpPr/>
          <p:nvPr/>
        </p:nvSpPr>
        <p:spPr>
          <a:xfrm>
            <a:off x="6227063" y="2974352"/>
            <a:ext cx="365760" cy="365760"/>
          </a:xfrm>
          <a:prstGeom prst="ellipse">
            <a:avLst/>
          </a:prstGeom>
          <a:solidFill>
            <a:srgbClr val="246B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Century Schoolbook" panose="02040604050505020304" pitchFamily="18" charset="0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6227063" y="3026427"/>
            <a:ext cx="365760" cy="26161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entury Schoolbook" panose="02040604050505020304" pitchFamily="18" charset="0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47687" y="2880937"/>
            <a:ext cx="1819657" cy="56938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50" b="1" i="0" dirty="0" err="1">
                <a:solidFill>
                  <a:srgbClr val="072A49"/>
                </a:solidFill>
                <a:latin typeface="Century Schoolbook" panose="02040604050505020304" pitchFamily="18" charset="0"/>
              </a:rPr>
              <a:t>Interpretamos</a:t>
            </a:r>
            <a:r>
              <a:rPr sz="1550" b="1" i="0" dirty="0">
                <a:solidFill>
                  <a:srgbClr val="072A49"/>
                </a:solidFill>
                <a:latin typeface="Century Schoolbook" panose="02040604050505020304" pitchFamily="18" charset="0"/>
              </a:rPr>
              <a:t> </a:t>
            </a:r>
            <a:r>
              <a:rPr sz="1550" b="1" i="0" dirty="0" err="1">
                <a:solidFill>
                  <a:srgbClr val="072A49"/>
                </a:solidFill>
                <a:latin typeface="Century Schoolbook" panose="02040604050505020304" pitchFamily="18" charset="0"/>
              </a:rPr>
              <a:t>resultados</a:t>
            </a:r>
            <a:endParaRPr sz="1550" b="1" i="0" dirty="0">
              <a:solidFill>
                <a:srgbClr val="072A49"/>
              </a:solidFill>
              <a:latin typeface="Century Schoolbook" panose="02040604050505020304" pitchFamily="18" charset="0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6281926" y="3430824"/>
            <a:ext cx="2121409" cy="6232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 dirty="0" err="1">
                <a:solidFill>
                  <a:srgbClr val="526576"/>
                </a:solidFill>
                <a:latin typeface="Century Schoolbook" panose="02040604050505020304" pitchFamily="18" charset="0"/>
              </a:rPr>
              <a:t>Detectamos</a:t>
            </a:r>
            <a:r>
              <a:rPr sz="1150" b="0" i="0" dirty="0">
                <a:solidFill>
                  <a:srgbClr val="526576"/>
                </a:solidFill>
                <a:latin typeface="Century Schoolbook" panose="02040604050505020304" pitchFamily="18" charset="0"/>
              </a:rPr>
              <a:t> </a:t>
            </a:r>
            <a:r>
              <a:rPr sz="1150" b="0" i="0" dirty="0" err="1">
                <a:solidFill>
                  <a:srgbClr val="526576"/>
                </a:solidFill>
                <a:latin typeface="Century Schoolbook" panose="02040604050505020304" pitchFamily="18" charset="0"/>
              </a:rPr>
              <a:t>picos</a:t>
            </a:r>
            <a:r>
              <a:rPr sz="1150" b="0" i="0" dirty="0">
                <a:solidFill>
                  <a:srgbClr val="526576"/>
                </a:solidFill>
                <a:latin typeface="Century Schoolbook" panose="02040604050505020304" pitchFamily="18" charset="0"/>
              </a:rPr>
              <a:t>, </a:t>
            </a:r>
            <a:r>
              <a:rPr sz="1150" b="0" i="0" dirty="0" err="1">
                <a:solidFill>
                  <a:srgbClr val="526576"/>
                </a:solidFill>
                <a:latin typeface="Century Schoolbook" panose="02040604050505020304" pitchFamily="18" charset="0"/>
              </a:rPr>
              <a:t>multimodalidad</a:t>
            </a:r>
            <a:r>
              <a:rPr sz="1150" b="0" i="0" dirty="0">
                <a:solidFill>
                  <a:srgbClr val="526576"/>
                </a:solidFill>
                <a:latin typeface="Century Schoolbook" panose="02040604050505020304" pitchFamily="18" charset="0"/>
              </a:rPr>
              <a:t> y </a:t>
            </a:r>
            <a:r>
              <a:rPr sz="1150" b="0" i="0" dirty="0" err="1">
                <a:solidFill>
                  <a:srgbClr val="526576"/>
                </a:solidFill>
                <a:latin typeface="Century Schoolbook" panose="02040604050505020304" pitchFamily="18" charset="0"/>
              </a:rPr>
              <a:t>brechas</a:t>
            </a:r>
            <a:r>
              <a:rPr sz="1150" b="0" i="0" dirty="0">
                <a:solidFill>
                  <a:srgbClr val="526576"/>
                </a:solidFill>
                <a:latin typeface="Century Schoolbook" panose="02040604050505020304" pitchFamily="18" charset="0"/>
              </a:rPr>
              <a:t> para </a:t>
            </a:r>
            <a:r>
              <a:rPr sz="1150" b="0" i="0" dirty="0" err="1">
                <a:solidFill>
                  <a:srgbClr val="526576"/>
                </a:solidFill>
                <a:latin typeface="Century Schoolbook" panose="02040604050505020304" pitchFamily="18" charset="0"/>
              </a:rPr>
              <a:t>proponer</a:t>
            </a:r>
            <a:r>
              <a:rPr sz="1150" b="0" i="0" dirty="0">
                <a:solidFill>
                  <a:srgbClr val="526576"/>
                </a:solidFill>
                <a:latin typeface="Century Schoolbook" panose="02040604050505020304" pitchFamily="18" charset="0"/>
              </a:rPr>
              <a:t> </a:t>
            </a:r>
            <a:r>
              <a:rPr sz="1150" b="0" i="0" dirty="0" err="1">
                <a:solidFill>
                  <a:srgbClr val="526576"/>
                </a:solidFill>
                <a:latin typeface="Century Schoolbook" panose="02040604050505020304" pitchFamily="18" charset="0"/>
              </a:rPr>
              <a:t>acciones</a:t>
            </a:r>
            <a:r>
              <a:rPr sz="1150" b="0" i="0" dirty="0">
                <a:solidFill>
                  <a:srgbClr val="526576"/>
                </a:solidFill>
                <a:latin typeface="Century Schoolbook" panose="02040604050505020304" pitchFamily="18" charset="0"/>
              </a:rPr>
              <a:t>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9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A2540"/>
                </a:solidFill>
                <a:latin typeface="Century Schoolbook" panose="02040604050505020304" pitchFamily="18" charset="0"/>
                <a:ea typeface="Cambria" pitchFamily="34" charset="-122"/>
                <a:cs typeface="Cambria" pitchFamily="34" charset="-120"/>
              </a:rPr>
              <a:t>Fase 02 · Demanda por modo y por hora</a:t>
            </a:r>
            <a:endParaRPr lang="en-US" sz="2800" dirty="0">
              <a:latin typeface="Century Schoolbook" panose="02040604050505020304" pitchFamily="18" charset="0"/>
            </a:endParaRPr>
          </a:p>
        </p:txBody>
      </p:sp>
      <p:sp>
        <p:nvSpPr>
          <p:cNvPr id="3" name="Shape 1"/>
          <p:cNvSpPr/>
          <p:nvPr/>
        </p:nvSpPr>
        <p:spPr>
          <a:xfrm>
            <a:off x="402336" y="1133856"/>
            <a:ext cx="4041648" cy="2576352"/>
          </a:xfrm>
          <a:prstGeom prst="rect">
            <a:avLst/>
          </a:prstGeom>
          <a:solidFill>
            <a:srgbClr val="FFFFFF"/>
          </a:solidFill>
          <a:ln w="12700">
            <a:solidFill>
              <a:srgbClr val="8EC5F0"/>
            </a:solidFill>
            <a:prstDash val="solid"/>
          </a:ln>
          <a:effectLst>
            <a:outerShdw blurRad="101600" dist="25400" dir="54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s-GT">
              <a:latin typeface="Century Schoolbook" panose="02040604050505020304" pitchFamily="18" charset="0"/>
            </a:endParaRPr>
          </a:p>
        </p:txBody>
      </p:sp>
      <p:pic>
        <p:nvPicPr>
          <p:cNvPr id="4" name="Image 0" descr="/home/claude/img/a1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188720"/>
            <a:ext cx="3931920" cy="246662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37033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5B7A99"/>
                </a:solidFill>
                <a:latin typeface="Century Schoolbook" panose="02040604050505020304" pitchFamily="18" charset="0"/>
                <a:ea typeface="Calibri" pitchFamily="34" charset="-122"/>
                <a:cs typeface="Calibri" pitchFamily="34" charset="-120"/>
              </a:rPr>
              <a:t>Anexo 17 · Abordajes por modo</a:t>
            </a:r>
            <a:endParaRPr lang="en-US" sz="1100" dirty="0">
              <a:latin typeface="Century Schoolbook" panose="02040604050505020304" pitchFamily="18" charset="0"/>
            </a:endParaRPr>
          </a:p>
        </p:txBody>
      </p:sp>
      <p:sp>
        <p:nvSpPr>
          <p:cNvPr id="6" name="Shape 3"/>
          <p:cNvSpPr/>
          <p:nvPr/>
        </p:nvSpPr>
        <p:spPr>
          <a:xfrm>
            <a:off x="4700016" y="1133856"/>
            <a:ext cx="4041648" cy="2447910"/>
          </a:xfrm>
          <a:prstGeom prst="rect">
            <a:avLst/>
          </a:prstGeom>
          <a:solidFill>
            <a:srgbClr val="FFFFFF"/>
          </a:solidFill>
          <a:ln w="12700">
            <a:solidFill>
              <a:srgbClr val="8EC5F0"/>
            </a:solidFill>
            <a:prstDash val="solid"/>
          </a:ln>
          <a:effectLst>
            <a:outerShdw blurRad="101600" dist="25400" dir="54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s-GT">
              <a:latin typeface="Century Schoolbook" panose="02040604050505020304" pitchFamily="18" charset="0"/>
            </a:endParaRPr>
          </a:p>
        </p:txBody>
      </p:sp>
      <p:pic>
        <p:nvPicPr>
          <p:cNvPr id="7" name="Image 1" descr="/home/claude/img/a19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0" y="1188720"/>
            <a:ext cx="3931920" cy="2338182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4754880" y="37033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5B7A99"/>
                </a:solidFill>
                <a:latin typeface="Century Schoolbook" panose="02040604050505020304" pitchFamily="18" charset="0"/>
                <a:ea typeface="Calibri" pitchFamily="34" charset="-122"/>
                <a:cs typeface="Calibri" pitchFamily="34" charset="-120"/>
              </a:rPr>
              <a:t>Anexo 19 · Abordajes por hora</a:t>
            </a:r>
            <a:endParaRPr lang="en-US" sz="1100" dirty="0">
              <a:latin typeface="Century Schoolbook" panose="02040604050505020304" pitchFamily="18" charset="0"/>
            </a:endParaRPr>
          </a:p>
        </p:txBody>
      </p:sp>
      <p:sp>
        <p:nvSpPr>
          <p:cNvPr id="9" name="Text 5"/>
          <p:cNvSpPr txBox="1"/>
          <p:nvPr/>
        </p:nvSpPr>
        <p:spPr>
          <a:xfrm>
            <a:off x="457200" y="4023360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2304F"/>
                </a:solidFill>
                <a:latin typeface="Century Schoolbook" panose="02040604050505020304" pitchFamily="18" charset="0"/>
                <a:ea typeface="Calibri" pitchFamily="34" charset="-122"/>
                <a:cs typeface="Calibri" pitchFamily="34" charset="-120"/>
              </a:rPr>
              <a:t>Transurbano lidera: 786,398 abordajes (Transmetro 362,106 · Aerometro 203,554)</a:t>
            </a:r>
            <a:endParaRPr lang="en-US" sz="1300" dirty="0">
              <a:latin typeface="Century Schoolbook" panose="02040604050505020304" pitchFamily="18" charset="0"/>
            </a:endParaRPr>
          </a:p>
        </p:txBody>
      </p:sp>
      <p:sp>
        <p:nvSpPr>
          <p:cNvPr id="10" name="Text 6"/>
          <p:cNvSpPr txBox="1"/>
          <p:nvPr/>
        </p:nvSpPr>
        <p:spPr>
          <a:xfrm>
            <a:off x="4754880" y="4023360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2304F"/>
                </a:solidFill>
                <a:latin typeface="Century Schoolbook" panose="02040604050505020304" pitchFamily="18" charset="0"/>
                <a:ea typeface="Calibri" pitchFamily="34" charset="-122"/>
                <a:cs typeface="Calibri" pitchFamily="34" charset="-120"/>
              </a:rPr>
              <a:t>Dos picos: 7:00 con 162,014 y 17:00 con 137,152 abordajes</a:t>
            </a:r>
            <a:endParaRPr lang="en-US" sz="1300" dirty="0">
              <a:latin typeface="Century Schoolbook" panose="02040604050505020304" pitchFamily="18" charset="0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9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A2540"/>
                </a:solidFill>
                <a:latin typeface="Century Schoolbook" panose="02040604050505020304" pitchFamily="18" charset="0"/>
                <a:ea typeface="Cambria" pitchFamily="34" charset="-122"/>
                <a:cs typeface="Cambria" pitchFamily="34" charset="-120"/>
              </a:rPr>
              <a:t>Fase 02 · Demanda y cobertura por zona</a:t>
            </a:r>
            <a:endParaRPr lang="en-US" sz="2800" dirty="0">
              <a:latin typeface="Century Schoolbook" panose="02040604050505020304" pitchFamily="18" charset="0"/>
            </a:endParaRPr>
          </a:p>
        </p:txBody>
      </p:sp>
      <p:sp>
        <p:nvSpPr>
          <p:cNvPr id="3" name="Shape 1"/>
          <p:cNvSpPr/>
          <p:nvPr/>
        </p:nvSpPr>
        <p:spPr>
          <a:xfrm>
            <a:off x="402336" y="1133856"/>
            <a:ext cx="5230368" cy="3322076"/>
          </a:xfrm>
          <a:prstGeom prst="rect">
            <a:avLst/>
          </a:prstGeom>
          <a:solidFill>
            <a:srgbClr val="FFFFFF"/>
          </a:solidFill>
          <a:ln w="12700">
            <a:solidFill>
              <a:srgbClr val="8EC5F0"/>
            </a:solidFill>
            <a:prstDash val="solid"/>
          </a:ln>
          <a:effectLst>
            <a:outerShdw blurRad="101600" dist="25400" dir="54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s-GT">
              <a:latin typeface="Century Schoolbook" panose="02040604050505020304" pitchFamily="18" charset="0"/>
            </a:endParaRPr>
          </a:p>
        </p:txBody>
      </p:sp>
      <p:pic>
        <p:nvPicPr>
          <p:cNvPr id="4" name="Image 0" descr="/home/claude/img/a18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188720"/>
            <a:ext cx="5120640" cy="321234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452628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5B7A99"/>
                </a:solidFill>
                <a:latin typeface="Century Schoolbook" panose="02040604050505020304" pitchFamily="18" charset="0"/>
                <a:ea typeface="Calibri" pitchFamily="34" charset="-122"/>
                <a:cs typeface="Calibri" pitchFamily="34" charset="-120"/>
              </a:rPr>
              <a:t>Anexo 18 · Demanda por zona y modo</a:t>
            </a:r>
            <a:endParaRPr lang="en-US" sz="1100" dirty="0">
              <a:latin typeface="Century Schoolbook" panose="02040604050505020304" pitchFamily="18" charset="0"/>
            </a:endParaRPr>
          </a:p>
        </p:txBody>
      </p:sp>
      <p:sp>
        <p:nvSpPr>
          <p:cNvPr id="6" name="Shape 3"/>
          <p:cNvSpPr/>
          <p:nvPr/>
        </p:nvSpPr>
        <p:spPr>
          <a:xfrm>
            <a:off x="5943600" y="1188720"/>
            <a:ext cx="2743200" cy="868680"/>
          </a:xfrm>
          <a:prstGeom prst="roundRect">
            <a:avLst>
              <a:gd name="adj" fmla="val 8421"/>
            </a:avLst>
          </a:prstGeom>
          <a:solidFill>
            <a:srgbClr val="E8F3FC"/>
          </a:solidFill>
          <a:ln w="9525">
            <a:solidFill>
              <a:srgbClr val="8EC5F0"/>
            </a:solidFill>
            <a:prstDash val="solid"/>
          </a:ln>
        </p:spPr>
        <p:txBody>
          <a:bodyPr/>
          <a:lstStyle/>
          <a:p>
            <a:endParaRPr lang="es-GT">
              <a:latin typeface="Century Schoolbook" panose="02040604050505020304" pitchFamily="18" charset="0"/>
            </a:endParaRPr>
          </a:p>
        </p:txBody>
      </p:sp>
      <p:sp>
        <p:nvSpPr>
          <p:cNvPr id="7" name="Text 4"/>
          <p:cNvSpPr txBox="1"/>
          <p:nvPr/>
        </p:nvSpPr>
        <p:spPr>
          <a:xfrm>
            <a:off x="6080760" y="1261872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565C0"/>
                </a:solidFill>
                <a:latin typeface="Century Schoolbook" panose="02040604050505020304" pitchFamily="18" charset="0"/>
                <a:ea typeface="Cambria" pitchFamily="34" charset="-122"/>
                <a:cs typeface="Cambria" pitchFamily="34" charset="-120"/>
              </a:rPr>
              <a:t>Mixco</a:t>
            </a:r>
            <a:endParaRPr lang="en-US" sz="1500" dirty="0">
              <a:latin typeface="Century Schoolbook" panose="02040604050505020304" pitchFamily="18" charset="0"/>
            </a:endParaRPr>
          </a:p>
        </p:txBody>
      </p:sp>
      <p:sp>
        <p:nvSpPr>
          <p:cNvPr id="8" name="Text 5"/>
          <p:cNvSpPr txBox="1"/>
          <p:nvPr/>
        </p:nvSpPr>
        <p:spPr>
          <a:xfrm>
            <a:off x="6080760" y="1627632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2304F"/>
                </a:solidFill>
                <a:latin typeface="Century Schoolbook" panose="02040604050505020304" pitchFamily="18" charset="0"/>
                <a:ea typeface="Calibri" pitchFamily="34" charset="-122"/>
                <a:cs typeface="Calibri" pitchFamily="34" charset="-120"/>
              </a:rPr>
              <a:t>combina los tres operadores</a:t>
            </a:r>
            <a:endParaRPr lang="en-US" sz="1300" dirty="0">
              <a:latin typeface="Century Schoolbook" panose="02040604050505020304" pitchFamily="18" charset="0"/>
            </a:endParaRPr>
          </a:p>
        </p:txBody>
      </p:sp>
      <p:sp>
        <p:nvSpPr>
          <p:cNvPr id="9" name="Shape 6"/>
          <p:cNvSpPr/>
          <p:nvPr/>
        </p:nvSpPr>
        <p:spPr>
          <a:xfrm>
            <a:off x="5943600" y="2240280"/>
            <a:ext cx="2743200" cy="868680"/>
          </a:xfrm>
          <a:prstGeom prst="roundRect">
            <a:avLst>
              <a:gd name="adj" fmla="val 8421"/>
            </a:avLst>
          </a:prstGeom>
          <a:solidFill>
            <a:srgbClr val="E8F3FC"/>
          </a:solidFill>
          <a:ln w="9525">
            <a:solidFill>
              <a:srgbClr val="8EC5F0"/>
            </a:solidFill>
            <a:prstDash val="solid"/>
          </a:ln>
        </p:spPr>
        <p:txBody>
          <a:bodyPr/>
          <a:lstStyle/>
          <a:p>
            <a:endParaRPr lang="es-GT">
              <a:latin typeface="Century Schoolbook" panose="02040604050505020304" pitchFamily="18" charset="0"/>
            </a:endParaRPr>
          </a:p>
        </p:txBody>
      </p:sp>
      <p:sp>
        <p:nvSpPr>
          <p:cNvPr id="10" name="Text 7"/>
          <p:cNvSpPr txBox="1"/>
          <p:nvPr/>
        </p:nvSpPr>
        <p:spPr>
          <a:xfrm>
            <a:off x="6080760" y="2313432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565C0"/>
                </a:solidFill>
                <a:latin typeface="Century Schoolbook" panose="02040604050505020304" pitchFamily="18" charset="0"/>
                <a:ea typeface="Cambria" pitchFamily="34" charset="-122"/>
                <a:cs typeface="Cambria" pitchFamily="34" charset="-120"/>
              </a:rPr>
              <a:t>Aerometro</a:t>
            </a:r>
            <a:endParaRPr lang="en-US" sz="1500" dirty="0">
              <a:latin typeface="Century Schoolbook" panose="02040604050505020304" pitchFamily="18" charset="0"/>
            </a:endParaRPr>
          </a:p>
        </p:txBody>
      </p:sp>
      <p:sp>
        <p:nvSpPr>
          <p:cNvPr id="11" name="Text 8"/>
          <p:cNvSpPr txBox="1"/>
          <p:nvPr/>
        </p:nvSpPr>
        <p:spPr>
          <a:xfrm>
            <a:off x="6080760" y="2679192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2304F"/>
                </a:solidFill>
                <a:latin typeface="Century Schoolbook" panose="02040604050505020304" pitchFamily="18" charset="0"/>
                <a:ea typeface="Calibri" pitchFamily="34" charset="-122"/>
                <a:cs typeface="Calibri" pitchFamily="34" charset="-120"/>
              </a:rPr>
              <a:t>concentrado en pocas zonas</a:t>
            </a:r>
            <a:endParaRPr lang="en-US" sz="1300" dirty="0">
              <a:latin typeface="Century Schoolbook" panose="02040604050505020304" pitchFamily="18" charset="0"/>
            </a:endParaRPr>
          </a:p>
        </p:txBody>
      </p:sp>
      <p:sp>
        <p:nvSpPr>
          <p:cNvPr id="12" name="Shape 9"/>
          <p:cNvSpPr/>
          <p:nvPr/>
        </p:nvSpPr>
        <p:spPr>
          <a:xfrm>
            <a:off x="5943600" y="3291840"/>
            <a:ext cx="2743200" cy="868680"/>
          </a:xfrm>
          <a:prstGeom prst="roundRect">
            <a:avLst>
              <a:gd name="adj" fmla="val 8421"/>
            </a:avLst>
          </a:prstGeom>
          <a:solidFill>
            <a:srgbClr val="E8F3FC"/>
          </a:solidFill>
          <a:ln w="9525">
            <a:solidFill>
              <a:srgbClr val="8EC5F0"/>
            </a:solidFill>
            <a:prstDash val="solid"/>
          </a:ln>
        </p:spPr>
        <p:txBody>
          <a:bodyPr/>
          <a:lstStyle/>
          <a:p>
            <a:endParaRPr lang="es-GT">
              <a:latin typeface="Century Schoolbook" panose="02040604050505020304" pitchFamily="18" charset="0"/>
            </a:endParaRPr>
          </a:p>
        </p:txBody>
      </p:sp>
      <p:sp>
        <p:nvSpPr>
          <p:cNvPr id="13" name="Text 10"/>
          <p:cNvSpPr txBox="1"/>
          <p:nvPr/>
        </p:nvSpPr>
        <p:spPr>
          <a:xfrm>
            <a:off x="6080760" y="3364992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565C0"/>
                </a:solidFill>
                <a:latin typeface="Century Schoolbook" panose="02040604050505020304" pitchFamily="18" charset="0"/>
                <a:ea typeface="Cambria" pitchFamily="34" charset="-122"/>
                <a:cs typeface="Cambria" pitchFamily="34" charset="-120"/>
              </a:rPr>
              <a:t>Transmetro y Transurbano</a:t>
            </a:r>
            <a:endParaRPr lang="en-US" sz="1500" dirty="0">
              <a:latin typeface="Century Schoolbook" panose="02040604050505020304" pitchFamily="18" charset="0"/>
            </a:endParaRPr>
          </a:p>
        </p:txBody>
      </p:sp>
      <p:sp>
        <p:nvSpPr>
          <p:cNvPr id="14" name="Text 11"/>
          <p:cNvSpPr txBox="1"/>
          <p:nvPr/>
        </p:nvSpPr>
        <p:spPr>
          <a:xfrm>
            <a:off x="6080760" y="3730752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2304F"/>
                </a:solidFill>
                <a:latin typeface="Century Schoolbook" panose="02040604050505020304" pitchFamily="18" charset="0"/>
                <a:ea typeface="Calibri" pitchFamily="34" charset="-122"/>
                <a:cs typeface="Calibri" pitchFamily="34" charset="-120"/>
              </a:rPr>
              <a:t>presencia más amplia</a:t>
            </a:r>
            <a:endParaRPr lang="en-US" sz="1300" dirty="0">
              <a:latin typeface="Century Schoolbook" panose="02040604050505020304" pitchFamily="18" charset="0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9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A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Fase 02 · Usuarios multimodales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3383280" cy="868680"/>
          </a:xfrm>
          <a:prstGeom prst="roundRect">
            <a:avLst>
              <a:gd name="adj" fmla="val 8421"/>
            </a:avLst>
          </a:prstGeom>
          <a:solidFill>
            <a:srgbClr val="1565C0"/>
          </a:solidFill>
          <a:ln w="9525">
            <a:solidFill>
              <a:srgbClr val="1565C0"/>
            </a:solidFill>
            <a:prstDash val="solid"/>
          </a:ln>
        </p:spPr>
        <p:txBody>
          <a:bodyPr/>
          <a:lstStyle/>
          <a:p>
            <a:endParaRPr lang="es-GT">
              <a:latin typeface="Century Schoolbook" panose="02040604050505020304" pitchFamily="18" charset="0"/>
            </a:endParaRPr>
          </a:p>
        </p:txBody>
      </p:sp>
      <p:sp>
        <p:nvSpPr>
          <p:cNvPr id="4" name="Text 2"/>
          <p:cNvSpPr txBox="1"/>
          <p:nvPr/>
        </p:nvSpPr>
        <p:spPr>
          <a:xfrm>
            <a:off x="594360" y="12344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entury Schoolbook" panose="02040604050505020304" pitchFamily="18" charset="0"/>
                <a:ea typeface="Cambria" pitchFamily="34" charset="-122"/>
                <a:cs typeface="Cambria" pitchFamily="34" charset="-120"/>
              </a:rPr>
              <a:t>36,829</a:t>
            </a:r>
            <a:endParaRPr lang="en-US" sz="2400" dirty="0">
              <a:latin typeface="Century Schoolbook" panose="02040604050505020304" pitchFamily="18" charset="0"/>
            </a:endParaRPr>
          </a:p>
        </p:txBody>
      </p:sp>
      <p:sp>
        <p:nvSpPr>
          <p:cNvPr id="5" name="Text 3"/>
          <p:cNvSpPr txBox="1"/>
          <p:nvPr/>
        </p:nvSpPr>
        <p:spPr>
          <a:xfrm>
            <a:off x="594360" y="1664208"/>
            <a:ext cx="3108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DCEBFA"/>
                </a:solidFill>
                <a:latin typeface="Century Schoolbook" panose="02040604050505020304" pitchFamily="18" charset="0"/>
                <a:ea typeface="Calibri" pitchFamily="34" charset="-122"/>
                <a:cs typeface="Calibri" pitchFamily="34" charset="-120"/>
              </a:rPr>
              <a:t>usuarios con 2 o más modos</a:t>
            </a:r>
            <a:endParaRPr lang="en-US" sz="1200" dirty="0">
              <a:latin typeface="Century Schoolbook" panose="02040604050505020304" pitchFamily="18" charset="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57200" y="2194560"/>
            <a:ext cx="3383280" cy="868680"/>
          </a:xfrm>
          <a:prstGeom prst="roundRect">
            <a:avLst>
              <a:gd name="adj" fmla="val 8421"/>
            </a:avLst>
          </a:prstGeom>
          <a:solidFill>
            <a:srgbClr val="E8F3FC"/>
          </a:solidFill>
          <a:ln w="9525">
            <a:solidFill>
              <a:srgbClr val="8EC5F0"/>
            </a:solidFill>
            <a:prstDash val="solid"/>
          </a:ln>
        </p:spPr>
        <p:txBody>
          <a:bodyPr/>
          <a:lstStyle/>
          <a:p>
            <a:endParaRPr lang="es-GT">
              <a:latin typeface="Century Schoolbook" panose="02040604050505020304" pitchFamily="18" charset="0"/>
            </a:endParaRPr>
          </a:p>
        </p:txBody>
      </p:sp>
      <p:sp>
        <p:nvSpPr>
          <p:cNvPr id="7" name="Text 5"/>
          <p:cNvSpPr txBox="1"/>
          <p:nvPr/>
        </p:nvSpPr>
        <p:spPr>
          <a:xfrm>
            <a:off x="594360" y="2240280"/>
            <a:ext cx="298486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565C0"/>
                </a:solidFill>
                <a:latin typeface="Century Schoolbook" panose="02040604050505020304" pitchFamily="18" charset="0"/>
                <a:ea typeface="Cambria" pitchFamily="34" charset="-122"/>
                <a:cs typeface="Cambria" pitchFamily="34" charset="-120"/>
              </a:rPr>
              <a:t>33,551 · 26,833 · 9,996</a:t>
            </a:r>
            <a:endParaRPr lang="en-US" sz="2000" dirty="0">
              <a:latin typeface="Century Schoolbook" panose="02040604050505020304" pitchFamily="18" charset="0"/>
            </a:endParaRPr>
          </a:p>
        </p:txBody>
      </p:sp>
      <p:sp>
        <p:nvSpPr>
          <p:cNvPr id="8" name="Text 6"/>
          <p:cNvSpPr txBox="1"/>
          <p:nvPr/>
        </p:nvSpPr>
        <p:spPr>
          <a:xfrm>
            <a:off x="594360" y="2670048"/>
            <a:ext cx="3108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2304F"/>
                </a:solidFill>
                <a:latin typeface="Century Schoolbook" panose="02040604050505020304" pitchFamily="18" charset="0"/>
                <a:ea typeface="Calibri" pitchFamily="34" charset="-122"/>
                <a:cs typeface="Calibri" pitchFamily="34" charset="-120"/>
              </a:rPr>
              <a:t>usuarios con 1, 2 y 3 modos</a:t>
            </a:r>
            <a:endParaRPr lang="en-US" sz="1200" dirty="0">
              <a:latin typeface="Century Schoolbook" panose="02040604050505020304" pitchFamily="18" charset="0"/>
            </a:endParaRPr>
          </a:p>
        </p:txBody>
      </p:sp>
      <p:sp>
        <p:nvSpPr>
          <p:cNvPr id="9" name="Shape 7"/>
          <p:cNvSpPr/>
          <p:nvPr/>
        </p:nvSpPr>
        <p:spPr>
          <a:xfrm>
            <a:off x="457200" y="3200400"/>
            <a:ext cx="3383280" cy="868680"/>
          </a:xfrm>
          <a:prstGeom prst="roundRect">
            <a:avLst>
              <a:gd name="adj" fmla="val 8421"/>
            </a:avLst>
          </a:prstGeom>
          <a:solidFill>
            <a:srgbClr val="E8F3FC"/>
          </a:solidFill>
          <a:ln w="9525">
            <a:solidFill>
              <a:srgbClr val="8EC5F0"/>
            </a:solidFill>
            <a:prstDash val="solid"/>
          </a:ln>
        </p:spPr>
        <p:txBody>
          <a:bodyPr/>
          <a:lstStyle/>
          <a:p>
            <a:endParaRPr lang="es-GT">
              <a:latin typeface="Century Schoolbook" panose="02040604050505020304" pitchFamily="18" charset="0"/>
            </a:endParaRPr>
          </a:p>
        </p:txBody>
      </p:sp>
      <p:sp>
        <p:nvSpPr>
          <p:cNvPr id="10" name="Text 8"/>
          <p:cNvSpPr txBox="1"/>
          <p:nvPr/>
        </p:nvSpPr>
        <p:spPr>
          <a:xfrm>
            <a:off x="594360" y="324612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565C0"/>
                </a:solidFill>
                <a:latin typeface="Century Schoolbook" panose="02040604050505020304" pitchFamily="18" charset="0"/>
                <a:ea typeface="Cambria" pitchFamily="34" charset="-122"/>
                <a:cs typeface="Cambria" pitchFamily="34" charset="-120"/>
              </a:rPr>
              <a:t>66,140</a:t>
            </a:r>
            <a:endParaRPr lang="en-US" sz="2400" dirty="0">
              <a:latin typeface="Century Schoolbook" panose="02040604050505020304" pitchFamily="18" charset="0"/>
            </a:endParaRPr>
          </a:p>
        </p:txBody>
      </p:sp>
      <p:sp>
        <p:nvSpPr>
          <p:cNvPr id="11" name="Text 9"/>
          <p:cNvSpPr txBox="1"/>
          <p:nvPr/>
        </p:nvSpPr>
        <p:spPr>
          <a:xfrm>
            <a:off x="594360" y="3675888"/>
            <a:ext cx="3108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2304F"/>
                </a:solidFill>
                <a:latin typeface="Century Schoolbook" panose="02040604050505020304" pitchFamily="18" charset="0"/>
                <a:ea typeface="Calibri" pitchFamily="34" charset="-122"/>
                <a:cs typeface="Calibri" pitchFamily="34" charset="-120"/>
              </a:rPr>
              <a:t>usuarios en features_usuario_movilidad</a:t>
            </a:r>
            <a:endParaRPr lang="en-US" sz="1200" dirty="0">
              <a:latin typeface="Century Schoolbook" panose="02040604050505020304" pitchFamily="18" charset="0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4151376" y="1225296"/>
            <a:ext cx="4590288" cy="2920533"/>
          </a:xfrm>
          <a:prstGeom prst="rect">
            <a:avLst/>
          </a:prstGeom>
          <a:solidFill>
            <a:srgbClr val="FFFFFF"/>
          </a:solidFill>
          <a:ln w="12700">
            <a:solidFill>
              <a:srgbClr val="8EC5F0"/>
            </a:solidFill>
            <a:prstDash val="solid"/>
          </a:ln>
          <a:effectLst>
            <a:outerShdw blurRad="101600" dist="25400" dir="54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s-GT"/>
          </a:p>
        </p:txBody>
      </p:sp>
      <p:pic>
        <p:nvPicPr>
          <p:cNvPr id="13" name="Image 0" descr="/home/claude/img/a2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06240" y="1280160"/>
            <a:ext cx="4480560" cy="2810805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206240" y="416052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5B7A99"/>
                </a:solidFill>
                <a:latin typeface="Century Schoolbook" panose="02040604050505020304" pitchFamily="18" charset="0"/>
                <a:ea typeface="Calibri" pitchFamily="34" charset="-122"/>
                <a:cs typeface="Calibri" pitchFamily="34" charset="-120"/>
              </a:rPr>
              <a:t>Anexo 20 · Usuarios según cantidad de modos</a:t>
            </a:r>
            <a:endParaRPr lang="en-US" sz="1100" dirty="0">
              <a:latin typeface="Century Schoolbook" panose="02040604050505020304" pitchFamily="18" charset="0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9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A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Fase 02 · Dashboard Red Metropolitana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02336" y="1133856"/>
            <a:ext cx="5687568" cy="3426684"/>
          </a:xfrm>
          <a:prstGeom prst="rect">
            <a:avLst/>
          </a:prstGeom>
          <a:solidFill>
            <a:srgbClr val="FFFFFF"/>
          </a:solidFill>
          <a:ln w="12700">
            <a:solidFill>
              <a:srgbClr val="8EC5F0"/>
            </a:solidFill>
            <a:prstDash val="solid"/>
          </a:ln>
          <a:effectLst>
            <a:outerShdw blurRad="101600" dist="25400" dir="54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s-GT"/>
          </a:p>
        </p:txBody>
      </p:sp>
      <p:pic>
        <p:nvPicPr>
          <p:cNvPr id="4" name="Image 0" descr="/home/claude/img/a23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188720"/>
            <a:ext cx="5577840" cy="331695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4617720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5B7A99"/>
                </a:solidFill>
                <a:latin typeface="Century Schoolbook" panose="02040604050505020304" pitchFamily="18" charset="0"/>
                <a:ea typeface="Calibri" pitchFamily="34" charset="-122"/>
                <a:cs typeface="Calibri" pitchFamily="34" charset="-120"/>
              </a:rPr>
              <a:t>Anexo 23 · Dashboard interactivo en Tableau</a:t>
            </a:r>
            <a:endParaRPr lang="en-US" sz="1100" dirty="0">
              <a:latin typeface="Century Schoolbook" panose="02040604050505020304" pitchFamily="18" charset="0"/>
            </a:endParaRPr>
          </a:p>
        </p:txBody>
      </p:sp>
      <p:sp>
        <p:nvSpPr>
          <p:cNvPr id="6" name="Shape 3"/>
          <p:cNvSpPr/>
          <p:nvPr/>
        </p:nvSpPr>
        <p:spPr>
          <a:xfrm>
            <a:off x="6400800" y="1188720"/>
            <a:ext cx="2286000" cy="822960"/>
          </a:xfrm>
          <a:prstGeom prst="roundRect">
            <a:avLst>
              <a:gd name="adj" fmla="val 8889"/>
            </a:avLst>
          </a:prstGeom>
          <a:solidFill>
            <a:srgbClr val="E8F3FC"/>
          </a:solidFill>
          <a:ln w="9525">
            <a:solidFill>
              <a:srgbClr val="8EC5F0"/>
            </a:solidFill>
            <a:prstDash val="solid"/>
          </a:ln>
        </p:spPr>
        <p:txBody>
          <a:bodyPr/>
          <a:lstStyle/>
          <a:p>
            <a:endParaRPr lang="es-GT"/>
          </a:p>
        </p:txBody>
      </p:sp>
      <p:sp>
        <p:nvSpPr>
          <p:cNvPr id="7" name="Text 4"/>
          <p:cNvSpPr txBox="1"/>
          <p:nvPr/>
        </p:nvSpPr>
        <p:spPr>
          <a:xfrm>
            <a:off x="6492240" y="118872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23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Filtros por modo y zona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6400800" y="2194560"/>
            <a:ext cx="2286000" cy="822960"/>
          </a:xfrm>
          <a:prstGeom prst="roundRect">
            <a:avLst>
              <a:gd name="adj" fmla="val 8889"/>
            </a:avLst>
          </a:prstGeom>
          <a:solidFill>
            <a:srgbClr val="E8F3FC"/>
          </a:solidFill>
          <a:ln w="9525">
            <a:solidFill>
              <a:srgbClr val="8EC5F0"/>
            </a:solidFill>
            <a:prstDash val="solid"/>
          </a:ln>
        </p:spPr>
        <p:txBody>
          <a:bodyPr/>
          <a:lstStyle/>
          <a:p>
            <a:endParaRPr lang="es-GT"/>
          </a:p>
        </p:txBody>
      </p:sp>
      <p:sp>
        <p:nvSpPr>
          <p:cNvPr id="9" name="Text 6"/>
          <p:cNvSpPr txBox="1"/>
          <p:nvPr/>
        </p:nvSpPr>
        <p:spPr>
          <a:xfrm>
            <a:off x="6492240" y="219456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23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vistas integradas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6400800" y="3200400"/>
            <a:ext cx="2286000" cy="822960"/>
          </a:xfrm>
          <a:prstGeom prst="roundRect">
            <a:avLst>
              <a:gd name="adj" fmla="val 8889"/>
            </a:avLst>
          </a:prstGeom>
          <a:solidFill>
            <a:srgbClr val="1565C0"/>
          </a:solidFill>
          <a:ln w="9525">
            <a:solidFill>
              <a:srgbClr val="1565C0"/>
            </a:solidFill>
            <a:prstDash val="solid"/>
          </a:ln>
        </p:spPr>
        <p:txBody>
          <a:bodyPr/>
          <a:lstStyle/>
          <a:p>
            <a:endParaRPr lang="es-GT"/>
          </a:p>
        </p:txBody>
      </p:sp>
      <p:sp>
        <p:nvSpPr>
          <p:cNvPr id="11" name="Text 8"/>
          <p:cNvSpPr txBox="1"/>
          <p:nvPr/>
        </p:nvSpPr>
        <p:spPr>
          <a:xfrm>
            <a:off x="6492240" y="320040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Conectado solo a Gold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9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A2540"/>
                </a:solidFill>
                <a:latin typeface="Century Schoolbook" panose="02040604050505020304" pitchFamily="18" charset="0"/>
                <a:ea typeface="Cambria" pitchFamily="34" charset="-122"/>
                <a:cs typeface="Cambria" pitchFamily="34" charset="-120"/>
              </a:rPr>
              <a:t>Caso MetroRiel · brecha de cobertura</a:t>
            </a:r>
            <a:endParaRPr lang="en-US" sz="2800" dirty="0">
              <a:latin typeface="Century Schoolbook" panose="02040604050505020304" pitchFamily="18" charset="0"/>
            </a:endParaRPr>
          </a:p>
        </p:txBody>
      </p:sp>
      <p:sp>
        <p:nvSpPr>
          <p:cNvPr id="3" name="Shape 1"/>
          <p:cNvSpPr/>
          <p:nvPr/>
        </p:nvSpPr>
        <p:spPr>
          <a:xfrm>
            <a:off x="402336" y="1133856"/>
            <a:ext cx="4590288" cy="2917546"/>
          </a:xfrm>
          <a:prstGeom prst="rect">
            <a:avLst/>
          </a:prstGeom>
          <a:solidFill>
            <a:srgbClr val="FFFFFF"/>
          </a:solidFill>
          <a:ln w="12700">
            <a:solidFill>
              <a:srgbClr val="8EC5F0"/>
            </a:solidFill>
            <a:prstDash val="solid"/>
          </a:ln>
          <a:effectLst>
            <a:outerShdw blurRad="101600" dist="25400" dir="54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s-GT">
              <a:latin typeface="Century Schoolbook" panose="02040604050505020304" pitchFamily="18" charset="0"/>
            </a:endParaRPr>
          </a:p>
        </p:txBody>
      </p:sp>
      <p:pic>
        <p:nvPicPr>
          <p:cNvPr id="4" name="Image 0" descr="/home/claude/img/a3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188720"/>
            <a:ext cx="4480560" cy="280781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406908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5B7A99"/>
                </a:solidFill>
                <a:latin typeface="Century Schoolbook" panose="02040604050505020304" pitchFamily="18" charset="0"/>
                <a:ea typeface="Calibri" pitchFamily="34" charset="-122"/>
                <a:cs typeface="Calibri" pitchFamily="34" charset="-120"/>
              </a:rPr>
              <a:t>Anexo 31 · Demanda en zonas objetivo</a:t>
            </a:r>
            <a:endParaRPr lang="en-US" sz="1100" dirty="0">
              <a:latin typeface="Century Schoolbook" panose="02040604050505020304" pitchFamily="18" charset="0"/>
            </a:endParaRPr>
          </a:p>
        </p:txBody>
      </p:sp>
      <p:sp>
        <p:nvSpPr>
          <p:cNvPr id="6" name="Text 3"/>
          <p:cNvSpPr txBox="1"/>
          <p:nvPr/>
        </p:nvSpPr>
        <p:spPr>
          <a:xfrm>
            <a:off x="5303520" y="114300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A2540"/>
                </a:solidFill>
                <a:latin typeface="Century Schoolbook" panose="02040604050505020304" pitchFamily="18" charset="0"/>
                <a:ea typeface="Cambria" pitchFamily="34" charset="-122"/>
                <a:cs typeface="Cambria" pitchFamily="34" charset="-120"/>
              </a:rPr>
              <a:t>Abordajes en zonas objetivo</a:t>
            </a:r>
            <a:endParaRPr lang="en-US" sz="1600" dirty="0">
              <a:latin typeface="Century Schoolbook" panose="02040604050505020304" pitchFamily="18" charset="0"/>
            </a:endParaRPr>
          </a:p>
        </p:txBody>
      </p:sp>
      <p:sp>
        <p:nvSpPr>
          <p:cNvPr id="7" name="Text 4"/>
          <p:cNvSpPr txBox="1"/>
          <p:nvPr/>
        </p:nvSpPr>
        <p:spPr>
          <a:xfrm>
            <a:off x="5303520" y="1508760"/>
            <a:ext cx="3383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12304F"/>
                </a:solidFill>
                <a:latin typeface="Century Schoolbook" panose="02040604050505020304" pitchFamily="18" charset="0"/>
                <a:ea typeface="Calibri" pitchFamily="34" charset="-122"/>
                <a:cs typeface="Calibri" pitchFamily="34" charset="-120"/>
              </a:rPr>
              <a:t>Zona 17: 94,799</a:t>
            </a:r>
            <a:endParaRPr lang="en-US" sz="1400" dirty="0">
              <a:latin typeface="Century Schoolbook" panose="02040604050505020304" pitchFamily="18" charset="0"/>
            </a:endParaRPr>
          </a:p>
          <a:p>
            <a:pPr marL="0" indent="0">
              <a:buNone/>
            </a:pPr>
            <a:r>
              <a:rPr lang="en-US" sz="1400" dirty="0">
                <a:solidFill>
                  <a:srgbClr val="12304F"/>
                </a:solidFill>
                <a:latin typeface="Century Schoolbook" panose="02040604050505020304" pitchFamily="18" charset="0"/>
                <a:ea typeface="Calibri" pitchFamily="34" charset="-122"/>
                <a:cs typeface="Calibri" pitchFamily="34" charset="-120"/>
              </a:rPr>
              <a:t>Zona 12: 93,933</a:t>
            </a:r>
            <a:endParaRPr lang="en-US" sz="1400" dirty="0">
              <a:latin typeface="Century Schoolbook" panose="02040604050505020304" pitchFamily="18" charset="0"/>
            </a:endParaRPr>
          </a:p>
          <a:p>
            <a:pPr marL="0" indent="0">
              <a:buNone/>
            </a:pPr>
            <a:r>
              <a:rPr lang="en-US" sz="1400" dirty="0">
                <a:solidFill>
                  <a:srgbClr val="12304F"/>
                </a:solidFill>
                <a:latin typeface="Century Schoolbook" panose="02040604050505020304" pitchFamily="18" charset="0"/>
                <a:ea typeface="Calibri" pitchFamily="34" charset="-122"/>
                <a:cs typeface="Calibri" pitchFamily="34" charset="-120"/>
              </a:rPr>
              <a:t>Zona 1: 83,367</a:t>
            </a:r>
            <a:endParaRPr lang="en-US" sz="1400" dirty="0">
              <a:latin typeface="Century Schoolbook" panose="02040604050505020304" pitchFamily="18" charset="0"/>
            </a:endParaRPr>
          </a:p>
          <a:p>
            <a:pPr marL="0" indent="0">
              <a:buNone/>
            </a:pPr>
            <a:r>
              <a:rPr lang="en-US" sz="1400" dirty="0">
                <a:solidFill>
                  <a:srgbClr val="12304F"/>
                </a:solidFill>
                <a:latin typeface="Century Schoolbook" panose="02040604050505020304" pitchFamily="18" charset="0"/>
                <a:ea typeface="Calibri" pitchFamily="34" charset="-122"/>
                <a:cs typeface="Calibri" pitchFamily="34" charset="-120"/>
              </a:rPr>
              <a:t>Zona 8: 80,157</a:t>
            </a:r>
            <a:endParaRPr lang="en-US" sz="1400" dirty="0">
              <a:latin typeface="Century Schoolbook" panose="02040604050505020304" pitchFamily="18" charset="0"/>
            </a:endParaRPr>
          </a:p>
          <a:p>
            <a:pPr marL="0" indent="0">
              <a:buNone/>
            </a:pPr>
            <a:r>
              <a:rPr lang="en-US" sz="1400" dirty="0">
                <a:solidFill>
                  <a:srgbClr val="12304F"/>
                </a:solidFill>
                <a:latin typeface="Century Schoolbook" panose="02040604050505020304" pitchFamily="18" charset="0"/>
                <a:ea typeface="Calibri" pitchFamily="34" charset="-122"/>
                <a:cs typeface="Calibri" pitchFamily="34" charset="-120"/>
              </a:rPr>
              <a:t>Zona 6: 71,840</a:t>
            </a:r>
            <a:endParaRPr lang="en-US" sz="1400" dirty="0">
              <a:latin typeface="Century Schoolbook" panose="02040604050505020304" pitchFamily="18" charset="0"/>
            </a:endParaRPr>
          </a:p>
        </p:txBody>
      </p:sp>
      <p:sp>
        <p:nvSpPr>
          <p:cNvPr id="8" name="Shape 5"/>
          <p:cNvSpPr/>
          <p:nvPr/>
        </p:nvSpPr>
        <p:spPr>
          <a:xfrm>
            <a:off x="5303520" y="3108960"/>
            <a:ext cx="3383280" cy="1371600"/>
          </a:xfrm>
          <a:prstGeom prst="roundRect">
            <a:avLst>
              <a:gd name="adj" fmla="val 6667"/>
            </a:avLst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  <p:txBody>
          <a:bodyPr/>
          <a:lstStyle/>
          <a:p>
            <a:endParaRPr lang="es-GT">
              <a:latin typeface="Century Schoolbook" panose="02040604050505020304" pitchFamily="18" charset="0"/>
            </a:endParaRPr>
          </a:p>
        </p:txBody>
      </p:sp>
      <p:sp>
        <p:nvSpPr>
          <p:cNvPr id="9" name="Text 6"/>
          <p:cNvSpPr txBox="1"/>
          <p:nvPr/>
        </p:nvSpPr>
        <p:spPr>
          <a:xfrm>
            <a:off x="5440680" y="3154680"/>
            <a:ext cx="31089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entury Schoolbook" panose="02040604050505020304" pitchFamily="18" charset="0"/>
                <a:ea typeface="Calibri" pitchFamily="34" charset="-122"/>
                <a:cs typeface="Calibri" pitchFamily="34" charset="-120"/>
              </a:rPr>
              <a:t>Propuesta: </a:t>
            </a:r>
            <a:r>
              <a:rPr lang="en-US" sz="1300" dirty="0">
                <a:solidFill>
                  <a:srgbClr val="DCEBFA"/>
                </a:solidFill>
                <a:latin typeface="Century Schoolbook" panose="02040604050505020304" pitchFamily="18" charset="0"/>
                <a:ea typeface="Calibri" pitchFamily="34" charset="-122"/>
                <a:cs typeface="Calibri" pitchFamily="34" charset="-120"/>
              </a:rPr>
              <a:t>MetroRiel no registra abordajes en estas zonas. Priorizar su cobertura y reforzar capacidad a las 7:00 y 17:00.</a:t>
            </a:r>
            <a:endParaRPr lang="en-US" sz="1300" dirty="0">
              <a:latin typeface="Century Schoolbook" panose="02040604050505020304" pitchFamily="18" charset="0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Rectangle 36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143" y="0"/>
            <a:ext cx="9141714" cy="51435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32" name="Imagen 31">
            <a:extLst>
              <a:ext uri="{FF2B5EF4-FFF2-40B4-BE49-F238E27FC236}">
                <a16:creationId xmlns:a16="http://schemas.microsoft.com/office/drawing/2014/main" id="{F067FC2C-6DA9-1295-808D-CC09BD47FAD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1317" b="2"/>
          <a:stretch>
            <a:fillRect/>
          </a:stretch>
        </p:blipFill>
        <p:spPr>
          <a:xfrm>
            <a:off x="20" y="961"/>
            <a:ext cx="9143980" cy="5142539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A25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entury Schoolbook" panose="02040604050505020304" pitchFamily="18" charset="0"/>
                <a:ea typeface="Cambria" pitchFamily="34" charset="-122"/>
                <a:cs typeface="Cambria" pitchFamily="34" charset="-120"/>
              </a:rPr>
              <a:t>Conclusiones y </a:t>
            </a:r>
            <a:r>
              <a:rPr lang="en-US" sz="2800" b="1" dirty="0" err="1">
                <a:solidFill>
                  <a:srgbClr val="FFFFFF"/>
                </a:solidFill>
                <a:latin typeface="Century Schoolbook" panose="02040604050505020304" pitchFamily="18" charset="0"/>
                <a:ea typeface="Cambria" pitchFamily="34" charset="-122"/>
                <a:cs typeface="Cambria" pitchFamily="34" charset="-120"/>
              </a:rPr>
              <a:t>Recomendaciones</a:t>
            </a:r>
            <a:endParaRPr lang="en-US" sz="2800" dirty="0">
              <a:latin typeface="Century Schoolbook" panose="02040604050505020304" pitchFamily="18" charset="0"/>
            </a:endParaRPr>
          </a:p>
        </p:txBody>
      </p:sp>
      <p:sp>
        <p:nvSpPr>
          <p:cNvPr id="3" name="Text 1"/>
          <p:cNvSpPr txBox="1"/>
          <p:nvPr/>
        </p:nvSpPr>
        <p:spPr>
          <a:xfrm>
            <a:off x="457200" y="114300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8EC5F0"/>
                </a:solidFill>
                <a:latin typeface="Century Schoolbook" panose="02040604050505020304" pitchFamily="18" charset="0"/>
                <a:ea typeface="Cambria" pitchFamily="34" charset="-122"/>
                <a:cs typeface="Cambria" pitchFamily="34" charset="-120"/>
              </a:rPr>
              <a:t>Conclusiones</a:t>
            </a:r>
            <a:endParaRPr lang="en-US" sz="2000" dirty="0">
              <a:latin typeface="Century Schoolbook" panose="02040604050505020304" pitchFamily="18" charset="0"/>
            </a:endParaRPr>
          </a:p>
        </p:txBody>
      </p:sp>
      <p:sp>
        <p:nvSpPr>
          <p:cNvPr id="4" name="Text 2"/>
          <p:cNvSpPr txBox="1"/>
          <p:nvPr/>
        </p:nvSpPr>
        <p:spPr>
          <a:xfrm>
            <a:off x="457200" y="1600200"/>
            <a:ext cx="384048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entury Schoolbook" panose="02040604050505020304" pitchFamily="18" charset="0"/>
                <a:ea typeface="Calibri" pitchFamily="34" charset="-122"/>
                <a:cs typeface="Calibri" pitchFamily="34" charset="-120"/>
              </a:rPr>
              <a:t>Pipeline completo, trazable e idempotente</a:t>
            </a:r>
            <a:endParaRPr lang="en-US" sz="1500" dirty="0">
              <a:latin typeface="Century Schoolbook" panose="02040604050505020304" pitchFamily="18" charset="0"/>
            </a:endParaRPr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entury Schoolbook" panose="02040604050505020304" pitchFamily="18" charset="0"/>
                <a:ea typeface="Calibri" pitchFamily="34" charset="-122"/>
                <a:cs typeface="Calibri" pitchFamily="34" charset="-120"/>
              </a:rPr>
              <a:t>Calidad medida: 18,431 rechazos auditables y 82 pruebas dbt PASS</a:t>
            </a:r>
            <a:endParaRPr lang="en-US" sz="1500" dirty="0">
              <a:latin typeface="Century Schoolbook" panose="02040604050505020304" pitchFamily="18" charset="0"/>
            </a:endParaRPr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entury Schoolbook" panose="02040604050505020304" pitchFamily="18" charset="0"/>
                <a:ea typeface="Calibri" pitchFamily="34" charset="-122"/>
                <a:cs typeface="Calibri" pitchFamily="34" charset="-120"/>
              </a:rPr>
              <a:t>Picos a las 7:00 y 17:00; 36,829 usuarios multimodales</a:t>
            </a:r>
            <a:endParaRPr lang="en-US" sz="1500" dirty="0">
              <a:latin typeface="Century Schoolbook" panose="02040604050505020304" pitchFamily="18" charset="0"/>
            </a:endParaRPr>
          </a:p>
        </p:txBody>
      </p:sp>
      <p:sp>
        <p:nvSpPr>
          <p:cNvPr id="5" name="Text 3"/>
          <p:cNvSpPr txBox="1"/>
          <p:nvPr/>
        </p:nvSpPr>
        <p:spPr>
          <a:xfrm>
            <a:off x="4754880" y="114300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 err="1">
                <a:solidFill>
                  <a:srgbClr val="8EC5F0"/>
                </a:solidFill>
                <a:latin typeface="Century Schoolbook" panose="02040604050505020304" pitchFamily="18" charset="0"/>
                <a:ea typeface="Cambria" pitchFamily="34" charset="-122"/>
                <a:cs typeface="Cambria" pitchFamily="34" charset="-120"/>
              </a:rPr>
              <a:t>Recomendaciones</a:t>
            </a:r>
            <a:endParaRPr lang="en-US" sz="2000" dirty="0">
              <a:latin typeface="Century Schoolbook" panose="02040604050505020304" pitchFamily="18" charset="0"/>
            </a:endParaRPr>
          </a:p>
        </p:txBody>
      </p:sp>
      <p:sp>
        <p:nvSpPr>
          <p:cNvPr id="13" name="Text 2">
            <a:extLst>
              <a:ext uri="{FF2B5EF4-FFF2-40B4-BE49-F238E27FC236}">
                <a16:creationId xmlns:a16="http://schemas.microsoft.com/office/drawing/2014/main" id="{200F9BF3-F42F-B0F6-1CDE-3BCADDDBECB3}"/>
              </a:ext>
            </a:extLst>
          </p:cNvPr>
          <p:cNvSpPr txBox="1"/>
          <p:nvPr/>
        </p:nvSpPr>
        <p:spPr>
          <a:xfrm>
            <a:off x="4572000" y="1600200"/>
            <a:ext cx="384048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 err="1">
                <a:solidFill>
                  <a:srgbClr val="FFFFFF"/>
                </a:solidFill>
                <a:latin typeface="Century Schoolbook" panose="02040604050505020304" pitchFamily="18" charset="0"/>
                <a:cs typeface="Calibri" pitchFamily="34" charset="-120"/>
              </a:rPr>
              <a:t>Mantener</a:t>
            </a:r>
            <a:r>
              <a:rPr lang="en-US" sz="1500" dirty="0">
                <a:solidFill>
                  <a:srgbClr val="FFFFFF"/>
                </a:solidFill>
                <a:latin typeface="Century Schoolbook" panose="02040604050505020304" pitchFamily="18" charset="0"/>
                <a:cs typeface="Calibri" pitchFamily="34" charset="-120"/>
              </a:rPr>
              <a:t> </a:t>
            </a:r>
            <a:r>
              <a:rPr lang="en-US" sz="1500" dirty="0" err="1">
                <a:solidFill>
                  <a:srgbClr val="FFFFFF"/>
                </a:solidFill>
                <a:latin typeface="Century Schoolbook" panose="02040604050505020304" pitchFamily="18" charset="0"/>
                <a:cs typeface="Calibri" pitchFamily="34" charset="-120"/>
              </a:rPr>
              <a:t>monitoreo</a:t>
            </a:r>
            <a:r>
              <a:rPr lang="en-US" sz="1500" dirty="0">
                <a:solidFill>
                  <a:srgbClr val="FFFFFF"/>
                </a:solidFill>
                <a:latin typeface="Century Schoolbook" panose="02040604050505020304" pitchFamily="18" charset="0"/>
                <a:cs typeface="Calibri" pitchFamily="34" charset="-120"/>
              </a:rPr>
              <a:t> continuo de la </a:t>
            </a:r>
            <a:r>
              <a:rPr lang="en-US" sz="1500" dirty="0" err="1">
                <a:solidFill>
                  <a:srgbClr val="FFFFFF"/>
                </a:solidFill>
                <a:latin typeface="Century Schoolbook" panose="02040604050505020304" pitchFamily="18" charset="0"/>
                <a:cs typeface="Calibri" pitchFamily="34" charset="-120"/>
              </a:rPr>
              <a:t>calidad</a:t>
            </a:r>
            <a:r>
              <a:rPr lang="en-US" sz="1500" dirty="0">
                <a:solidFill>
                  <a:srgbClr val="FFFFFF"/>
                </a:solidFill>
                <a:latin typeface="Century Schoolbook" panose="02040604050505020304" pitchFamily="18" charset="0"/>
                <a:cs typeface="Calibri" pitchFamily="34" charset="-120"/>
              </a:rPr>
              <a:t> e </a:t>
            </a:r>
            <a:r>
              <a:rPr lang="en-US" sz="1500" dirty="0" err="1">
                <a:solidFill>
                  <a:srgbClr val="FFFFFF"/>
                </a:solidFill>
                <a:latin typeface="Century Schoolbook" panose="02040604050505020304" pitchFamily="18" charset="0"/>
                <a:cs typeface="Calibri" pitchFamily="34" charset="-120"/>
              </a:rPr>
              <a:t>integridad</a:t>
            </a:r>
            <a:r>
              <a:rPr lang="en-US" sz="1500" dirty="0">
                <a:solidFill>
                  <a:srgbClr val="FFFFFF"/>
                </a:solidFill>
                <a:latin typeface="Century Schoolbook" panose="02040604050505020304" pitchFamily="18" charset="0"/>
                <a:cs typeface="Calibri" pitchFamily="34" charset="-120"/>
              </a:rPr>
              <a:t> de </a:t>
            </a:r>
            <a:r>
              <a:rPr lang="en-US" sz="1500" dirty="0" err="1">
                <a:solidFill>
                  <a:srgbClr val="FFFFFF"/>
                </a:solidFill>
                <a:latin typeface="Century Schoolbook" panose="02040604050505020304" pitchFamily="18" charset="0"/>
                <a:cs typeface="Calibri" pitchFamily="34" charset="-120"/>
              </a:rPr>
              <a:t>los</a:t>
            </a:r>
            <a:r>
              <a:rPr lang="en-US" sz="1500" dirty="0">
                <a:solidFill>
                  <a:srgbClr val="FFFFFF"/>
                </a:solidFill>
                <a:latin typeface="Century Schoolbook" panose="02040604050505020304" pitchFamily="18" charset="0"/>
                <a:cs typeface="Calibri" pitchFamily="34" charset="-120"/>
              </a:rPr>
              <a:t> </a:t>
            </a:r>
            <a:r>
              <a:rPr lang="en-US" sz="1500" dirty="0" err="1">
                <a:solidFill>
                  <a:srgbClr val="FFFFFF"/>
                </a:solidFill>
                <a:latin typeface="Century Schoolbook" panose="02040604050505020304" pitchFamily="18" charset="0"/>
                <a:cs typeface="Calibri" pitchFamily="34" charset="-120"/>
              </a:rPr>
              <a:t>datos</a:t>
            </a:r>
            <a:r>
              <a:rPr lang="en-US" sz="1500" dirty="0">
                <a:solidFill>
                  <a:srgbClr val="FFFFFF"/>
                </a:solidFill>
                <a:latin typeface="Century Schoolbook" panose="02040604050505020304" pitchFamily="18" charset="0"/>
                <a:cs typeface="Calibri" pitchFamily="34" charset="-120"/>
              </a:rPr>
              <a:t>.</a:t>
            </a:r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 err="1">
                <a:solidFill>
                  <a:schemeClr val="bg1"/>
                </a:solidFill>
                <a:latin typeface="Century Schoolbook" panose="02040604050505020304" pitchFamily="18" charset="0"/>
              </a:rPr>
              <a:t>Ampliar</a:t>
            </a:r>
            <a:r>
              <a:rPr lang="en-US" sz="1500" dirty="0">
                <a:solidFill>
                  <a:schemeClr val="bg1"/>
                </a:solidFill>
                <a:latin typeface="Century Schoolbook" panose="02040604050505020304" pitchFamily="18" charset="0"/>
              </a:rPr>
              <a:t> la </a:t>
            </a:r>
            <a:r>
              <a:rPr lang="en-US" sz="1500" dirty="0" err="1">
                <a:solidFill>
                  <a:schemeClr val="bg1"/>
                </a:solidFill>
                <a:latin typeface="Century Schoolbook" panose="02040604050505020304" pitchFamily="18" charset="0"/>
              </a:rPr>
              <a:t>cobertura</a:t>
            </a:r>
            <a:r>
              <a:rPr lang="en-US" sz="1500" dirty="0">
                <a:solidFill>
                  <a:schemeClr val="bg1"/>
                </a:solidFill>
                <a:latin typeface="Century Schoolbook" panose="02040604050505020304" pitchFamily="18" charset="0"/>
              </a:rPr>
              <a:t> de </a:t>
            </a:r>
            <a:r>
              <a:rPr lang="en-US" sz="1500" dirty="0" err="1">
                <a:solidFill>
                  <a:schemeClr val="bg1"/>
                </a:solidFill>
                <a:latin typeface="Century Schoolbook" panose="02040604050505020304" pitchFamily="18" charset="0"/>
              </a:rPr>
              <a:t>MetroRiel</a:t>
            </a:r>
            <a:r>
              <a:rPr lang="en-US" sz="1500" dirty="0">
                <a:solidFill>
                  <a:schemeClr val="bg1"/>
                </a:solidFill>
                <a:latin typeface="Century Schoolbook" panose="02040604050505020304" pitchFamily="18" charset="0"/>
              </a:rPr>
              <a:t> </a:t>
            </a:r>
            <a:r>
              <a:rPr lang="en-US" sz="1500" dirty="0" err="1">
                <a:solidFill>
                  <a:schemeClr val="bg1"/>
                </a:solidFill>
                <a:latin typeface="Century Schoolbook" panose="02040604050505020304" pitchFamily="18" charset="0"/>
              </a:rPr>
              <a:t>en</a:t>
            </a:r>
            <a:r>
              <a:rPr lang="en-US" sz="1500" dirty="0">
                <a:solidFill>
                  <a:schemeClr val="bg1"/>
                </a:solidFill>
                <a:latin typeface="Century Schoolbook" panose="02040604050505020304" pitchFamily="18" charset="0"/>
              </a:rPr>
              <a:t> las zonas con mayor </a:t>
            </a:r>
            <a:r>
              <a:rPr lang="en-US" sz="1500" dirty="0" err="1">
                <a:solidFill>
                  <a:schemeClr val="bg1"/>
                </a:solidFill>
                <a:latin typeface="Century Schoolbook" panose="02040604050505020304" pitchFamily="18" charset="0"/>
              </a:rPr>
              <a:t>demanda</a:t>
            </a:r>
            <a:r>
              <a:rPr lang="en-US" sz="1500" dirty="0">
                <a:solidFill>
                  <a:schemeClr val="bg1"/>
                </a:solidFill>
                <a:latin typeface="Century Schoolbook" panose="02040604050505020304" pitchFamily="18" charset="0"/>
              </a:rPr>
              <a:t>.</a:t>
            </a:r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 err="1">
                <a:solidFill>
                  <a:schemeClr val="bg1"/>
                </a:solidFill>
                <a:latin typeface="Century Schoolbook" panose="02040604050505020304" pitchFamily="18" charset="0"/>
              </a:rPr>
              <a:t>Actualizar</a:t>
            </a:r>
            <a:r>
              <a:rPr lang="en-US" sz="1500" dirty="0">
                <a:solidFill>
                  <a:schemeClr val="bg1"/>
                </a:solidFill>
                <a:latin typeface="Century Schoolbook" panose="02040604050505020304" pitchFamily="18" charset="0"/>
              </a:rPr>
              <a:t> </a:t>
            </a:r>
            <a:r>
              <a:rPr lang="en-US" sz="1500" dirty="0" err="1">
                <a:solidFill>
                  <a:schemeClr val="bg1"/>
                </a:solidFill>
                <a:latin typeface="Century Schoolbook" panose="02040604050505020304" pitchFamily="18" charset="0"/>
              </a:rPr>
              <a:t>periódicamente</a:t>
            </a:r>
            <a:r>
              <a:rPr lang="en-US" sz="1500" dirty="0">
                <a:solidFill>
                  <a:schemeClr val="bg1"/>
                </a:solidFill>
                <a:latin typeface="Century Schoolbook" panose="02040604050505020304" pitchFamily="18" charset="0"/>
              </a:rPr>
              <a:t> </a:t>
            </a:r>
            <a:r>
              <a:rPr lang="en-US" sz="1500" dirty="0" err="1">
                <a:solidFill>
                  <a:schemeClr val="bg1"/>
                </a:solidFill>
                <a:latin typeface="Century Schoolbook" panose="02040604050505020304" pitchFamily="18" charset="0"/>
              </a:rPr>
              <a:t>el</a:t>
            </a:r>
            <a:r>
              <a:rPr lang="en-US" sz="1500" dirty="0">
                <a:solidFill>
                  <a:schemeClr val="bg1"/>
                </a:solidFill>
                <a:latin typeface="Century Schoolbook" panose="02040604050505020304" pitchFamily="18" charset="0"/>
              </a:rPr>
              <a:t> dashboard para </a:t>
            </a:r>
            <a:r>
              <a:rPr lang="en-US" sz="1500" dirty="0" err="1">
                <a:solidFill>
                  <a:schemeClr val="bg1"/>
                </a:solidFill>
                <a:latin typeface="Century Schoolbook" panose="02040604050505020304" pitchFamily="18" charset="0"/>
              </a:rPr>
              <a:t>apoyar</a:t>
            </a:r>
            <a:r>
              <a:rPr lang="en-US" sz="1500" dirty="0">
                <a:solidFill>
                  <a:schemeClr val="bg1"/>
                </a:solidFill>
                <a:latin typeface="Century Schoolbook" panose="02040604050505020304" pitchFamily="18" charset="0"/>
              </a:rPr>
              <a:t> la </a:t>
            </a:r>
            <a:r>
              <a:rPr lang="en-US" sz="1500" dirty="0" err="1">
                <a:solidFill>
                  <a:schemeClr val="bg1"/>
                </a:solidFill>
                <a:latin typeface="Century Schoolbook" panose="02040604050505020304" pitchFamily="18" charset="0"/>
              </a:rPr>
              <a:t>toma</a:t>
            </a:r>
            <a:r>
              <a:rPr lang="en-US" sz="1500" dirty="0">
                <a:solidFill>
                  <a:schemeClr val="bg1"/>
                </a:solidFill>
                <a:latin typeface="Century Schoolbook" panose="02040604050505020304" pitchFamily="18" charset="0"/>
              </a:rPr>
              <a:t> de </a:t>
            </a:r>
            <a:r>
              <a:rPr lang="en-US" sz="1500" dirty="0" err="1">
                <a:solidFill>
                  <a:schemeClr val="bg1"/>
                </a:solidFill>
                <a:latin typeface="Century Schoolbook" panose="02040604050505020304" pitchFamily="18" charset="0"/>
              </a:rPr>
              <a:t>decisiones</a:t>
            </a:r>
            <a:r>
              <a:rPr lang="en-US" sz="1500" dirty="0">
                <a:solidFill>
                  <a:schemeClr val="bg1"/>
                </a:solidFill>
                <a:latin typeface="Century Schoolbook" panose="02040604050505020304" pitchFamily="18" charset="0"/>
              </a:rPr>
              <a:t>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22</TotalTime>
  <Words>993</Words>
  <Application>Microsoft Macintosh PowerPoint</Application>
  <PresentationFormat>Presentación en pantalla (16:9)</PresentationFormat>
  <Paragraphs>211</Paragraphs>
  <Slides>18</Slides>
  <Notes>14</Notes>
  <HiddenSlides>0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18</vt:i4>
      </vt:variant>
    </vt:vector>
  </HeadingPairs>
  <TitlesOfParts>
    <vt:vector size="23" baseType="lpstr">
      <vt:lpstr>Arial</vt:lpstr>
      <vt:lpstr>Calibri</vt:lpstr>
      <vt:lpstr>Cambria</vt:lpstr>
      <vt:lpstr>Century Schoolbook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Proyecto Red Metropolitana - Fase 01 y Fase 02</dc:title>
  <dc:subject>PptxGenJS Presentation</dc:subject>
  <dc:creator>PptxGenJS</dc:creator>
  <cp:lastModifiedBy>HARRIETT GUZMAN LOPEZ</cp:lastModifiedBy>
  <cp:revision>2</cp:revision>
  <dcterms:created xsi:type="dcterms:W3CDTF">2026-10-01T02:17:54Z</dcterms:created>
  <dcterms:modified xsi:type="dcterms:W3CDTF">2026-10-01T02:52:16Z</dcterms:modified>
</cp:coreProperties>
</file>