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0" r:id="rId5"/>
    <p:sldId id="271" r:id="rId6"/>
    <p:sldId id="259" r:id="rId7"/>
    <p:sldId id="260" r:id="rId8"/>
    <p:sldId id="261" r:id="rId9"/>
    <p:sldId id="262" r:id="rId10"/>
    <p:sldId id="263" r:id="rId11"/>
    <p:sldId id="272" r:id="rId12"/>
    <p:sldId id="264" r:id="rId13"/>
    <p:sldId id="265" r:id="rId14"/>
    <p:sldId id="266" r:id="rId15"/>
    <p:sldId id="267" r:id="rId16"/>
    <p:sldId id="268" r:id="rId17"/>
    <p:sldId id="273" r:id="rId18"/>
    <p:sldId id="269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110735-EF7C-724B-B683-068339DB2F9E}" v="29" dt="2026-10-28T02:43:02.0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85"/>
    <p:restoredTop sz="94610"/>
  </p:normalViewPr>
  <p:slideViewPr>
    <p:cSldViewPr snapToGrid="0" snapToObjects="1">
      <p:cViewPr>
        <p:scale>
          <a:sx n="165" d="100"/>
          <a:sy n="165" d="100"/>
        </p:scale>
        <p:origin x="248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IETT GUZMAN LOPEZ" userId="809bac81-b980-4645-9732-895bcfc5ae10" providerId="ADAL" clId="{5140C7B6-806A-5418-ABAC-628B6C6783E8}"/>
    <pc:docChg chg="undo custSel modSld">
      <pc:chgData name="HARRIETT GUZMAN LOPEZ" userId="809bac81-b980-4645-9732-895bcfc5ae10" providerId="ADAL" clId="{5140C7B6-806A-5418-ABAC-628B6C6783E8}" dt="2026-10-28T02:43:04.135" v="271" actId="20577"/>
      <pc:docMkLst>
        <pc:docMk/>
      </pc:docMkLst>
      <pc:sldChg chg="modSp mod">
        <pc:chgData name="HARRIETT GUZMAN LOPEZ" userId="809bac81-b980-4645-9732-895bcfc5ae10" providerId="ADAL" clId="{5140C7B6-806A-5418-ABAC-628B6C6783E8}" dt="2026-10-28T02:33:46.277" v="11" actId="20577"/>
        <pc:sldMkLst>
          <pc:docMk/>
          <pc:sldMk cId="0" sldId="260"/>
        </pc:sldMkLst>
        <pc:spChg chg="mod">
          <ac:chgData name="HARRIETT GUZMAN LOPEZ" userId="809bac81-b980-4645-9732-895bcfc5ae10" providerId="ADAL" clId="{5140C7B6-806A-5418-ABAC-628B6C6783E8}" dt="2026-10-28T02:33:33.924" v="6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HARRIETT GUZMAN LOPEZ" userId="809bac81-b980-4645-9732-895bcfc5ae10" providerId="ADAL" clId="{5140C7B6-806A-5418-ABAC-628B6C6783E8}" dt="2026-10-28T02:33:46.277" v="11" actId="20577"/>
          <ac:spMkLst>
            <pc:docMk/>
            <pc:sldMk cId="0" sldId="260"/>
            <ac:spMk id="10" creationId="{00000000-0000-0000-0000-000000000000}"/>
          </ac:spMkLst>
        </pc:spChg>
      </pc:sldChg>
      <pc:sldChg chg="addSp delSp modSp mod">
        <pc:chgData name="HARRIETT GUZMAN LOPEZ" userId="809bac81-b980-4645-9732-895bcfc5ae10" providerId="ADAL" clId="{5140C7B6-806A-5418-ABAC-628B6C6783E8}" dt="2026-10-28T02:34:59.326" v="35" actId="478"/>
        <pc:sldMkLst>
          <pc:docMk/>
          <pc:sldMk cId="0" sldId="263"/>
        </pc:sldMkLst>
        <pc:spChg chg="mod">
          <ac:chgData name="HARRIETT GUZMAN LOPEZ" userId="809bac81-b980-4645-9732-895bcfc5ae10" providerId="ADAL" clId="{5140C7B6-806A-5418-ABAC-628B6C6783E8}" dt="2026-10-28T02:34:46.872" v="33" actId="20577"/>
          <ac:spMkLst>
            <pc:docMk/>
            <pc:sldMk cId="0" sldId="263"/>
            <ac:spMk id="14" creationId="{00000000-0000-0000-0000-000000000000}"/>
          </ac:spMkLst>
        </pc:spChg>
        <pc:spChg chg="del mod">
          <ac:chgData name="HARRIETT GUZMAN LOPEZ" userId="809bac81-b980-4645-9732-895bcfc5ae10" providerId="ADAL" clId="{5140C7B6-806A-5418-ABAC-628B6C6783E8}" dt="2026-10-28T02:34:59.326" v="35" actId="478"/>
          <ac:spMkLst>
            <pc:docMk/>
            <pc:sldMk cId="0" sldId="263"/>
            <ac:spMk id="15" creationId="{00000000-0000-0000-0000-000000000000}"/>
          </ac:spMkLst>
        </pc:spChg>
        <pc:spChg chg="add">
          <ac:chgData name="HARRIETT GUZMAN LOPEZ" userId="809bac81-b980-4645-9732-895bcfc5ae10" providerId="ADAL" clId="{5140C7B6-806A-5418-ABAC-628B6C6783E8}" dt="2026-10-28T02:34:15.892" v="12"/>
          <ac:spMkLst>
            <pc:docMk/>
            <pc:sldMk cId="0" sldId="263"/>
            <ac:spMk id="16" creationId="{82165CD9-EB48-03E4-3C48-661172A8BD0F}"/>
          </ac:spMkLst>
        </pc:spChg>
        <pc:spChg chg="add">
          <ac:chgData name="HARRIETT GUZMAN LOPEZ" userId="809bac81-b980-4645-9732-895bcfc5ae10" providerId="ADAL" clId="{5140C7B6-806A-5418-ABAC-628B6C6783E8}" dt="2026-10-28T02:34:19.622" v="14"/>
          <ac:spMkLst>
            <pc:docMk/>
            <pc:sldMk cId="0" sldId="263"/>
            <ac:spMk id="17" creationId="{C03949B8-E8A3-5756-8FC4-FF4E5A883FB5}"/>
          </ac:spMkLst>
        </pc:spChg>
        <pc:spChg chg="add">
          <ac:chgData name="HARRIETT GUZMAN LOPEZ" userId="809bac81-b980-4645-9732-895bcfc5ae10" providerId="ADAL" clId="{5140C7B6-806A-5418-ABAC-628B6C6783E8}" dt="2026-10-28T02:34:23.999" v="15"/>
          <ac:spMkLst>
            <pc:docMk/>
            <pc:sldMk cId="0" sldId="263"/>
            <ac:spMk id="18" creationId="{2D7E4F57-F8EC-7B21-7605-3EFB3B5A7419}"/>
          </ac:spMkLst>
        </pc:spChg>
        <pc:spChg chg="add">
          <ac:chgData name="HARRIETT GUZMAN LOPEZ" userId="809bac81-b980-4645-9732-895bcfc5ae10" providerId="ADAL" clId="{5140C7B6-806A-5418-ABAC-628B6C6783E8}" dt="2026-10-28T02:34:26.546" v="16"/>
          <ac:spMkLst>
            <pc:docMk/>
            <pc:sldMk cId="0" sldId="263"/>
            <ac:spMk id="19" creationId="{27FF6B6E-698E-C576-BA69-0F472D53CA90}"/>
          </ac:spMkLst>
        </pc:spChg>
        <pc:spChg chg="add mod">
          <ac:chgData name="HARRIETT GUZMAN LOPEZ" userId="809bac81-b980-4645-9732-895bcfc5ae10" providerId="ADAL" clId="{5140C7B6-806A-5418-ABAC-628B6C6783E8}" dt="2026-10-28T02:34:27.731" v="18"/>
          <ac:spMkLst>
            <pc:docMk/>
            <pc:sldMk cId="0" sldId="263"/>
            <ac:spMk id="20" creationId="{8F5C6C81-870E-80D2-98DB-BF9098211922}"/>
          </ac:spMkLst>
        </pc:spChg>
        <pc:spChg chg="add">
          <ac:chgData name="HARRIETT GUZMAN LOPEZ" userId="809bac81-b980-4645-9732-895bcfc5ae10" providerId="ADAL" clId="{5140C7B6-806A-5418-ABAC-628B6C6783E8}" dt="2026-10-28T02:34:34.211" v="21"/>
          <ac:spMkLst>
            <pc:docMk/>
            <pc:sldMk cId="0" sldId="263"/>
            <ac:spMk id="21" creationId="{CA1220A6-73FA-FA0F-C01F-345E205C1844}"/>
          </ac:spMkLst>
        </pc:spChg>
      </pc:sldChg>
      <pc:sldChg chg="addSp delSp modSp mod">
        <pc:chgData name="HARRIETT GUZMAN LOPEZ" userId="809bac81-b980-4645-9732-895bcfc5ae10" providerId="ADAL" clId="{5140C7B6-806A-5418-ABAC-628B6C6783E8}" dt="2026-10-28T02:38:25.540" v="101"/>
        <pc:sldMkLst>
          <pc:docMk/>
          <pc:sldMk cId="0" sldId="264"/>
        </pc:sldMkLst>
        <pc:spChg chg="mod">
          <ac:chgData name="HARRIETT GUZMAN LOPEZ" userId="809bac81-b980-4645-9732-895bcfc5ae10" providerId="ADAL" clId="{5140C7B6-806A-5418-ABAC-628B6C6783E8}" dt="2026-10-28T02:38:25.540" v="101"/>
          <ac:spMkLst>
            <pc:docMk/>
            <pc:sldMk cId="0" sldId="264"/>
            <ac:spMk id="9" creationId="{00000000-0000-0000-0000-000000000000}"/>
          </ac:spMkLst>
        </pc:spChg>
        <pc:picChg chg="del">
          <ac:chgData name="HARRIETT GUZMAN LOPEZ" userId="809bac81-b980-4645-9732-895bcfc5ae10" providerId="ADAL" clId="{5140C7B6-806A-5418-ABAC-628B6C6783E8}" dt="2026-10-28T02:36:22.837" v="36" actId="478"/>
          <ac:picMkLst>
            <pc:docMk/>
            <pc:sldMk cId="0" sldId="264"/>
            <ac:picMk id="4" creationId="{00000000-0000-0000-0000-000000000000}"/>
          </ac:picMkLst>
        </pc:picChg>
        <pc:picChg chg="add del mod">
          <ac:chgData name="HARRIETT GUZMAN LOPEZ" userId="809bac81-b980-4645-9732-895bcfc5ae10" providerId="ADAL" clId="{5140C7B6-806A-5418-ABAC-628B6C6783E8}" dt="2026-10-28T02:36:46.182" v="41" actId="478"/>
          <ac:picMkLst>
            <pc:docMk/>
            <pc:sldMk cId="0" sldId="264"/>
            <ac:picMk id="11" creationId="{475779A3-45E8-DABE-DEED-FBB5475A2A9F}"/>
          </ac:picMkLst>
        </pc:picChg>
        <pc:picChg chg="add del mod">
          <ac:chgData name="HARRIETT GUZMAN LOPEZ" userId="809bac81-b980-4645-9732-895bcfc5ae10" providerId="ADAL" clId="{5140C7B6-806A-5418-ABAC-628B6C6783E8}" dt="2026-10-28T02:37:05.903" v="48" actId="478"/>
          <ac:picMkLst>
            <pc:docMk/>
            <pc:sldMk cId="0" sldId="264"/>
            <ac:picMk id="12" creationId="{7EC68088-144B-10A7-3D7C-DEF011B632C0}"/>
          </ac:picMkLst>
        </pc:picChg>
        <pc:picChg chg="add mod">
          <ac:chgData name="HARRIETT GUZMAN LOPEZ" userId="809bac81-b980-4645-9732-895bcfc5ae10" providerId="ADAL" clId="{5140C7B6-806A-5418-ABAC-628B6C6783E8}" dt="2026-10-28T02:37:26.151" v="53" actId="1076"/>
          <ac:picMkLst>
            <pc:docMk/>
            <pc:sldMk cId="0" sldId="264"/>
            <ac:picMk id="13" creationId="{640577B5-F17B-FD79-43D0-CC047046F116}"/>
          </ac:picMkLst>
        </pc:picChg>
      </pc:sldChg>
      <pc:sldChg chg="addSp delSp modSp mod">
        <pc:chgData name="HARRIETT GUZMAN LOPEZ" userId="809bac81-b980-4645-9732-895bcfc5ae10" providerId="ADAL" clId="{5140C7B6-806A-5418-ABAC-628B6C6783E8}" dt="2026-10-28T02:41:19.011" v="257" actId="20577"/>
        <pc:sldMkLst>
          <pc:docMk/>
          <pc:sldMk cId="0" sldId="266"/>
        </pc:sldMkLst>
        <pc:spChg chg="mod">
          <ac:chgData name="HARRIETT GUZMAN LOPEZ" userId="809bac81-b980-4645-9732-895bcfc5ae10" providerId="ADAL" clId="{5140C7B6-806A-5418-ABAC-628B6C6783E8}" dt="2026-10-28T02:39:02.556" v="118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HARRIETT GUZMAN LOPEZ" userId="809bac81-b980-4645-9732-895bcfc5ae10" providerId="ADAL" clId="{5140C7B6-806A-5418-ABAC-628B6C6783E8}" dt="2026-10-28T02:40:00.235" v="146" actId="20577"/>
          <ac:spMkLst>
            <pc:docMk/>
            <pc:sldMk cId="0" sldId="266"/>
            <ac:spMk id="5" creationId="{00000000-0000-0000-0000-000000000000}"/>
          </ac:spMkLst>
        </pc:spChg>
        <pc:spChg chg="mod">
          <ac:chgData name="HARRIETT GUZMAN LOPEZ" userId="809bac81-b980-4645-9732-895bcfc5ae10" providerId="ADAL" clId="{5140C7B6-806A-5418-ABAC-628B6C6783E8}" dt="2026-10-28T02:40:14.385" v="153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HARRIETT GUZMAN LOPEZ" userId="809bac81-b980-4645-9732-895bcfc5ae10" providerId="ADAL" clId="{5140C7B6-806A-5418-ABAC-628B6C6783E8}" dt="2026-10-28T02:41:19.011" v="257" actId="20577"/>
          <ac:spMkLst>
            <pc:docMk/>
            <pc:sldMk cId="0" sldId="266"/>
            <ac:spMk id="8" creationId="{00000000-0000-0000-0000-000000000000}"/>
          </ac:spMkLst>
        </pc:spChg>
        <pc:spChg chg="mod">
          <ac:chgData name="HARRIETT GUZMAN LOPEZ" userId="809bac81-b980-4645-9732-895bcfc5ae10" providerId="ADAL" clId="{5140C7B6-806A-5418-ABAC-628B6C6783E8}" dt="2026-10-28T02:41:00.204" v="227" actId="20577"/>
          <ac:spMkLst>
            <pc:docMk/>
            <pc:sldMk cId="0" sldId="266"/>
            <ac:spMk id="10" creationId="{00000000-0000-0000-0000-000000000000}"/>
          </ac:spMkLst>
        </pc:spChg>
        <pc:spChg chg="mod">
          <ac:chgData name="HARRIETT GUZMAN LOPEZ" userId="809bac81-b980-4645-9732-895bcfc5ae10" providerId="ADAL" clId="{5140C7B6-806A-5418-ABAC-628B6C6783E8}" dt="2026-10-28T02:41:17.524" v="256" actId="20577"/>
          <ac:spMkLst>
            <pc:docMk/>
            <pc:sldMk cId="0" sldId="266"/>
            <ac:spMk id="11" creationId="{00000000-0000-0000-0000-000000000000}"/>
          </ac:spMkLst>
        </pc:spChg>
        <pc:picChg chg="del">
          <ac:chgData name="HARRIETT GUZMAN LOPEZ" userId="809bac81-b980-4645-9732-895bcfc5ae10" providerId="ADAL" clId="{5140C7B6-806A-5418-ABAC-628B6C6783E8}" dt="2026-10-28T02:39:04.273" v="119" actId="478"/>
          <ac:picMkLst>
            <pc:docMk/>
            <pc:sldMk cId="0" sldId="266"/>
            <ac:picMk id="13" creationId="{00000000-0000-0000-0000-000000000000}"/>
          </ac:picMkLst>
        </pc:picChg>
        <pc:picChg chg="add mod">
          <ac:chgData name="HARRIETT GUZMAN LOPEZ" userId="809bac81-b980-4645-9732-895bcfc5ae10" providerId="ADAL" clId="{5140C7B6-806A-5418-ABAC-628B6C6783E8}" dt="2026-10-28T02:39:19.883" v="124" actId="1076"/>
          <ac:picMkLst>
            <pc:docMk/>
            <pc:sldMk cId="0" sldId="266"/>
            <ac:picMk id="15" creationId="{BFDB7E06-8792-E7DB-0732-3D35ABCC2418}"/>
          </ac:picMkLst>
        </pc:picChg>
      </pc:sldChg>
      <pc:sldChg chg="addSp delSp modSp mod">
        <pc:chgData name="HARRIETT GUZMAN LOPEZ" userId="809bac81-b980-4645-9732-895bcfc5ae10" providerId="ADAL" clId="{5140C7B6-806A-5418-ABAC-628B6C6783E8}" dt="2026-10-28T02:42:16.506" v="263" actId="1076"/>
        <pc:sldMkLst>
          <pc:docMk/>
          <pc:sldMk cId="0" sldId="267"/>
        </pc:sldMkLst>
        <pc:picChg chg="del">
          <ac:chgData name="HARRIETT GUZMAN LOPEZ" userId="809bac81-b980-4645-9732-895bcfc5ae10" providerId="ADAL" clId="{5140C7B6-806A-5418-ABAC-628B6C6783E8}" dt="2026-10-28T02:41:55.312" v="258" actId="478"/>
          <ac:picMkLst>
            <pc:docMk/>
            <pc:sldMk cId="0" sldId="267"/>
            <ac:picMk id="4" creationId="{00000000-0000-0000-0000-000000000000}"/>
          </ac:picMkLst>
        </pc:picChg>
        <pc:picChg chg="add mod">
          <ac:chgData name="HARRIETT GUZMAN LOPEZ" userId="809bac81-b980-4645-9732-895bcfc5ae10" providerId="ADAL" clId="{5140C7B6-806A-5418-ABAC-628B6C6783E8}" dt="2026-10-28T02:42:16.506" v="263" actId="1076"/>
          <ac:picMkLst>
            <pc:docMk/>
            <pc:sldMk cId="0" sldId="267"/>
            <ac:picMk id="12" creationId="{61E64541-E079-7026-6720-F007403B12AF}"/>
          </ac:picMkLst>
        </pc:picChg>
      </pc:sldChg>
      <pc:sldChg chg="addSp modSp mod">
        <pc:chgData name="HARRIETT GUZMAN LOPEZ" userId="809bac81-b980-4645-9732-895bcfc5ae10" providerId="ADAL" clId="{5140C7B6-806A-5418-ABAC-628B6C6783E8}" dt="2026-10-28T02:43:04.135" v="271" actId="20577"/>
        <pc:sldMkLst>
          <pc:docMk/>
          <pc:sldMk cId="0" sldId="268"/>
        </pc:sldMkLst>
        <pc:spChg chg="mod">
          <ac:chgData name="HARRIETT GUZMAN LOPEZ" userId="809bac81-b980-4645-9732-895bcfc5ae10" providerId="ADAL" clId="{5140C7B6-806A-5418-ABAC-628B6C6783E8}" dt="2026-10-28T02:43:04.135" v="271" actId="20577"/>
          <ac:spMkLst>
            <pc:docMk/>
            <pc:sldMk cId="0" sldId="268"/>
            <ac:spMk id="9" creationId="{00000000-0000-0000-0000-000000000000}"/>
          </ac:spMkLst>
        </pc:spChg>
        <pc:spChg chg="add">
          <ac:chgData name="HARRIETT GUZMAN LOPEZ" userId="809bac81-b980-4645-9732-895bcfc5ae10" providerId="ADAL" clId="{5140C7B6-806A-5418-ABAC-628B6C6783E8}" dt="2026-10-28T02:42:48.294" v="264"/>
          <ac:spMkLst>
            <pc:docMk/>
            <pc:sldMk cId="0" sldId="268"/>
            <ac:spMk id="10" creationId="{78C72B8B-CC43-2BF1-836D-370CFC157F16}"/>
          </ac:spMkLst>
        </pc:spChg>
        <pc:spChg chg="add">
          <ac:chgData name="HARRIETT GUZMAN LOPEZ" userId="809bac81-b980-4645-9732-895bcfc5ae10" providerId="ADAL" clId="{5140C7B6-806A-5418-ABAC-628B6C6783E8}" dt="2026-10-28T02:42:51.778" v="267"/>
          <ac:spMkLst>
            <pc:docMk/>
            <pc:sldMk cId="0" sldId="268"/>
            <ac:spMk id="11" creationId="{220F6D0A-B8CB-7808-0AB3-8F6674B58C8E}"/>
          </ac:spMkLst>
        </pc:spChg>
        <pc:spChg chg="add">
          <ac:chgData name="HARRIETT GUZMAN LOPEZ" userId="809bac81-b980-4645-9732-895bcfc5ae10" providerId="ADAL" clId="{5140C7B6-806A-5418-ABAC-628B6C6783E8}" dt="2026-10-28T02:42:54.874" v="268"/>
          <ac:spMkLst>
            <pc:docMk/>
            <pc:sldMk cId="0" sldId="268"/>
            <ac:spMk id="12" creationId="{6F93CEFB-F4AE-3A0E-F050-1A9E3A6F9568}"/>
          </ac:spMkLst>
        </pc:spChg>
        <pc:spChg chg="add">
          <ac:chgData name="HARRIETT GUZMAN LOPEZ" userId="809bac81-b980-4645-9732-895bcfc5ae10" providerId="ADAL" clId="{5140C7B6-806A-5418-ABAC-628B6C6783E8}" dt="2026-10-28T02:43:00.587" v="269"/>
          <ac:spMkLst>
            <pc:docMk/>
            <pc:sldMk cId="0" sldId="268"/>
            <ac:spMk id="13" creationId="{C4AC54AC-AF50-E04D-09F3-9D59C52438A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183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754880" cy="4754880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7132320" y="2377440"/>
            <a:ext cx="3291840" cy="3291840"/>
          </a:xfrm>
          <a:prstGeom prst="ellipse">
            <a:avLst/>
          </a:prstGeom>
          <a:solidFill>
            <a:srgbClr val="8EC5F0">
              <a:alpha val="30000"/>
            </a:srgbClr>
          </a:solidFill>
          <a:ln w="12700">
            <a:solidFill>
              <a:srgbClr val="8EC5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C5F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Universidad Rafael Landívar · Ciencia de Datos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780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Proyecto Red Metropolitana</a:t>
            </a:r>
            <a:endParaRPr lang="en-US" sz="4000" dirty="0">
              <a:latin typeface="Century Schoolbook" panose="020406040505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DE7F8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Fase 01 y Fase 02: de los datos integrados al análisis de demanda</a:t>
            </a:r>
            <a:endParaRPr lang="en-US" sz="2000" dirty="0">
              <a:latin typeface="Century Schoolbook" panose="020406040505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C5F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Rochelle Esquivel · Susana García · Harriett Guzmán</a:t>
            </a:r>
            <a:endParaRPr lang="en-US" sz="1300" dirty="0"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8EC5F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Inge. Max Cerna · Guatemala, </a:t>
            </a:r>
            <a:r>
              <a:rPr lang="en-US" sz="1300" dirty="0" err="1">
                <a:solidFill>
                  <a:srgbClr val="8EC5F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octubre</a:t>
            </a:r>
            <a:r>
              <a:rPr lang="en-US" sz="1300" dirty="0">
                <a:solidFill>
                  <a:srgbClr val="8EC5F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de 2026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El reto: cuatro operadores, cuatro formatos</a:t>
            </a:r>
            <a:endParaRPr lang="en-US" sz="2800" dirty="0">
              <a:latin typeface="Century Schoolbook" panose="020406040505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8EC5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Transmetro</a:t>
            </a:r>
            <a:endParaRPr lang="en-US" sz="1600" dirty="0">
              <a:latin typeface="Century Schoolbook" panose="020406040505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Validaciones y padrón con cambios CDC</a:t>
            </a:r>
            <a:endParaRPr lang="en-US" sz="1200" dirty="0">
              <a:latin typeface="Century Schoolbook" panose="020406040505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42032" y="128016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8EC5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24912" y="1463040"/>
            <a:ext cx="365760" cy="36576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2724912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2724912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Transurbano</a:t>
            </a:r>
            <a:endParaRPr lang="en-US" sz="1600" dirty="0">
              <a:latin typeface="Century Schoolbook" panose="020406040505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724912" y="2286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Montos en centavos, archivo batch</a:t>
            </a:r>
            <a:endParaRPr lang="en-US" sz="1200" dirty="0">
              <a:latin typeface="Century Schoolbook" panose="020406040505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26864" y="128016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8EC5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09744" y="1463040"/>
            <a:ext cx="365760" cy="36576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809744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809744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MetroRiel</a:t>
            </a:r>
            <a:endParaRPr lang="en-US" sz="1600" dirty="0">
              <a:latin typeface="Century Schoolbook" panose="020406040505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809744" y="2286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Viajes completos con entrada y salida</a:t>
            </a:r>
            <a:endParaRPr lang="en-US" sz="1200" dirty="0">
              <a:latin typeface="Century Schoolbook" panose="020406040505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711696" y="128016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8EC5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894576" y="1463040"/>
            <a:ext cx="365760" cy="36576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894576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894576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Aerometro</a:t>
            </a:r>
            <a:endParaRPr lang="en-US" sz="1600" dirty="0">
              <a:latin typeface="Century Schoolbook" panose="02040604050505020304" pitchFamily="18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894576" y="2286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Abordajes en hora UTC</a:t>
            </a:r>
            <a:endParaRPr lang="en-US" sz="1200" dirty="0">
              <a:latin typeface="Century Schoolbook" panose="020406040505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731520" y="3474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Problema: </a:t>
            </a:r>
            <a:r>
              <a:rPr lang="en-US" sz="1600" dirty="0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no existe una plataforma unificada que integre, limpie y valide los datos sin perder los originales ni el historial de los usuarios.</a:t>
            </a:r>
            <a:endParaRPr lang="en-US" sz="1600" dirty="0">
              <a:latin typeface="Century Schoolbook" panose="020406040505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Arquitectura por capas</a:t>
            </a:r>
            <a:endParaRPr lang="en-US" sz="2800" dirty="0">
              <a:latin typeface="Century Schoolbook" panose="020406040505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8EC5F0"/>
          </a:solidFill>
          <a:ln w="12700">
            <a:solidFill>
              <a:srgbClr val="8EC5F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254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Fuentes</a:t>
            </a:r>
            <a:endParaRPr lang="en-US" sz="1800" dirty="0">
              <a:latin typeface="Century Schoolbook" panose="020406040505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254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Streaming Kafka</a:t>
            </a:r>
            <a:endParaRPr lang="en-US" sz="1300" dirty="0">
              <a:latin typeface="Century Schoolbook" panose="02040604050505020304" pitchFamily="18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0A254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300" dirty="0">
              <a:latin typeface="Century Schoolbook" panose="02040604050505020304" pitchFamily="18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0A254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CDC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920240" y="20574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80ED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>
              <a:latin typeface="Century Schoolbook" panose="020406040505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148840" y="137160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6FB1EA"/>
          </a:solidFill>
          <a:ln w="12700">
            <a:solidFill>
              <a:srgbClr val="6FB1EA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14884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254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800" dirty="0">
              <a:latin typeface="Century Schoolbook" panose="020406040505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2240280" y="20116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254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Parquet por fecha</a:t>
            </a:r>
            <a:endParaRPr lang="en-US" sz="1300" dirty="0">
              <a:latin typeface="Century Schoolbook" panose="02040604050505020304" pitchFamily="18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0A254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67 MB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611880" y="20574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80ED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>
              <a:latin typeface="Century Schoolbook" panose="020406040505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840480" y="137160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84048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Staging</a:t>
            </a:r>
            <a:endParaRPr lang="en-US" sz="1800" dirty="0">
              <a:latin typeface="Century Schoolbook" panose="020406040505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931920" y="20116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>
              <a:latin typeface="Century Schoolbook" panose="02040604050505020304" pitchFamily="18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carga temporal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303520" y="20574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80ED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>
              <a:latin typeface="Century Schoolbook" panose="020406040505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532120" y="137160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53212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800" dirty="0">
              <a:latin typeface="Century Schoolbook" panose="020406040505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623560" y="20116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Limpieza, calidad</a:t>
            </a:r>
            <a:endParaRPr lang="en-US" sz="1300" dirty="0">
              <a:latin typeface="Century Schoolbook" panose="02040604050505020304" pitchFamily="18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y cuarentena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995160" y="20574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80ED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>
              <a:latin typeface="Century Schoolbook" panose="020406040505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223760" y="137160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722376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800" dirty="0">
              <a:latin typeface="Century Schoolbook" panose="02040604050505020304" pitchFamily="18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7315200" y="20116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5 dimensiones</a:t>
            </a:r>
            <a:endParaRPr lang="en-US" sz="1300" dirty="0">
              <a:latin typeface="Century Schoolbook" panose="02040604050505020304" pitchFamily="18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2 hechos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E8F3FC"/>
          </a:solidFill>
          <a:ln w="12700">
            <a:solidFill>
              <a:srgbClr val="8EC5F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548640" y="37947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dbt · transformaciones y pruebas</a:t>
            </a:r>
            <a:endParaRPr lang="en-US" sz="1200" dirty="0">
              <a:latin typeface="Century Schoolbook" panose="020406040505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542032" y="379476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E8F3FC"/>
          </a:solidFill>
          <a:ln w="12700">
            <a:solidFill>
              <a:srgbClr val="8EC5F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2633472" y="37947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Prefect · orquestación</a:t>
            </a:r>
            <a:endParaRPr lang="en-US" sz="1200" dirty="0">
              <a:latin typeface="Century Schoolbook" panose="020406040505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626864" y="379476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E8F3FC"/>
          </a:solidFill>
          <a:ln w="12700">
            <a:solidFill>
              <a:srgbClr val="8EC5F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4718304" y="37947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Docker · infraestructura</a:t>
            </a:r>
            <a:endParaRPr lang="en-US" sz="1200" dirty="0">
              <a:latin typeface="Century Schoolbook" panose="020406040505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711696" y="379476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E8F3FC"/>
          </a:solidFill>
          <a:ln w="12700">
            <a:solidFill>
              <a:srgbClr val="8EC5F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6803136" y="37947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Tableau · consume Gold</a:t>
            </a:r>
            <a:endParaRPr lang="en-US" sz="1200" dirty="0">
              <a:latin typeface="Century Schoolbook" panose="02040604050505020304" pitchFamily="18" charset="0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Gold nunca consulta Bronze: todo pasa primero por Silver.</a:t>
            </a:r>
            <a:endParaRPr lang="en-US" sz="1100" dirty="0">
              <a:latin typeface="Century Schoolbook" panose="020406040505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72A49"/>
                </a:solidFill>
                <a:latin typeface="Century Schoolbook" panose="02040604050505020304" pitchFamily="18" charset="0"/>
              </a:rPr>
              <a:t>Cómo resolvimos la Fase 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987552"/>
            <a:ext cx="1965960" cy="1371600"/>
          </a:xfrm>
          <a:prstGeom prst="roundRect">
            <a:avLst/>
          </a:prstGeom>
          <a:solidFill>
            <a:srgbClr val="E7F2FA"/>
          </a:solidFill>
          <a:ln>
            <a:solidFill>
              <a:srgbClr val="A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539496" y="1115568"/>
            <a:ext cx="365760" cy="365760"/>
          </a:xfrm>
          <a:prstGeom prst="ellipse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" y="1167643"/>
            <a:ext cx="365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991118"/>
            <a:ext cx="1380744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 dirty="0" err="1">
                <a:solidFill>
                  <a:srgbClr val="072A49"/>
                </a:solidFill>
                <a:latin typeface="Century Schoolbook" panose="02040604050505020304" pitchFamily="18" charset="0"/>
              </a:rPr>
              <a:t>Preparamos</a:t>
            </a:r>
            <a:r>
              <a:rPr sz="1400" b="1" i="0" dirty="0">
                <a:solidFill>
                  <a:srgbClr val="072A49"/>
                </a:solidFill>
                <a:latin typeface="Century Schoolbook" panose="02040604050505020304" pitchFamily="18" charset="0"/>
              </a:rPr>
              <a:t> </a:t>
            </a:r>
            <a:r>
              <a:rPr sz="1400" b="1" i="0" dirty="0" err="1">
                <a:solidFill>
                  <a:srgbClr val="072A49"/>
                </a:solidFill>
                <a:latin typeface="Century Schoolbook" panose="02040604050505020304" pitchFamily="18" charset="0"/>
              </a:rPr>
              <a:t>el</a:t>
            </a:r>
            <a:r>
              <a:rPr sz="1400" b="1" i="0" dirty="0">
                <a:solidFill>
                  <a:srgbClr val="072A49"/>
                </a:solidFill>
                <a:latin typeface="Century Schoolbook" panose="02040604050505020304" pitchFamily="18" charset="0"/>
              </a:rPr>
              <a:t> </a:t>
            </a:r>
            <a:r>
              <a:rPr sz="1400" b="1" i="0" dirty="0" err="1">
                <a:solidFill>
                  <a:srgbClr val="072A49"/>
                </a:solidFill>
                <a:latin typeface="Century Schoolbook" panose="02040604050505020304" pitchFamily="18" charset="0"/>
              </a:rPr>
              <a:t>entorno</a:t>
            </a:r>
            <a:endParaRPr sz="1400" b="1" i="0" dirty="0">
              <a:solidFill>
                <a:srgbClr val="072A49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508088"/>
            <a:ext cx="1837944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 dirty="0">
                <a:solidFill>
                  <a:srgbClr val="526576"/>
                </a:solidFill>
                <a:latin typeface="Century Schoolbook" panose="02040604050505020304" pitchFamily="18" charset="0"/>
              </a:rPr>
              <a:t>Docker </a:t>
            </a:r>
            <a:r>
              <a:rPr sz="1100" b="0" i="0" dirty="0" err="1">
                <a:solidFill>
                  <a:srgbClr val="526576"/>
                </a:solidFill>
                <a:latin typeface="Century Schoolbook" panose="02040604050505020304" pitchFamily="18" charset="0"/>
              </a:rPr>
              <a:t>levantó</a:t>
            </a:r>
            <a:r>
              <a:rPr sz="1100" b="0" i="0" dirty="0">
                <a:solidFill>
                  <a:srgbClr val="526576"/>
                </a:solidFill>
                <a:latin typeface="Century Schoolbook" panose="02040604050505020304" pitchFamily="18" charset="0"/>
              </a:rPr>
              <a:t> PostgreSQL y Kafka; </a:t>
            </a:r>
            <a:r>
              <a:rPr sz="1100" b="0" i="0" dirty="0" err="1">
                <a:solidFill>
                  <a:srgbClr val="526576"/>
                </a:solidFill>
                <a:latin typeface="Century Schoolbook" panose="02040604050505020304" pitchFamily="18" charset="0"/>
              </a:rPr>
              <a:t>configuramos</a:t>
            </a:r>
            <a:r>
              <a:rPr sz="1100" b="0" i="0" dirty="0">
                <a:solidFill>
                  <a:srgbClr val="526576"/>
                </a:solidFill>
                <a:latin typeface="Century Schoolbook" panose="02040604050505020304" pitchFamily="18" charset="0"/>
              </a:rPr>
              <a:t> </a:t>
            </a:r>
            <a:r>
              <a:rPr sz="1100" b="0" i="0" dirty="0" err="1">
                <a:solidFill>
                  <a:srgbClr val="526576"/>
                </a:solidFill>
                <a:latin typeface="Century Schoolbook" panose="02040604050505020304" pitchFamily="18" charset="0"/>
              </a:rPr>
              <a:t>credenciales</a:t>
            </a:r>
            <a:r>
              <a:rPr sz="1100" b="0" i="0" dirty="0">
                <a:solidFill>
                  <a:srgbClr val="526576"/>
                </a:solidFill>
                <a:latin typeface="Century Schoolbook" panose="02040604050505020304" pitchFamily="18" charset="0"/>
              </a:rPr>
              <a:t> y </a:t>
            </a:r>
            <a:r>
              <a:rPr sz="1100" b="0" i="0" dirty="0" err="1">
                <a:solidFill>
                  <a:srgbClr val="526576"/>
                </a:solidFill>
                <a:latin typeface="Century Schoolbook" panose="02040604050505020304" pitchFamily="18" charset="0"/>
              </a:rPr>
              <a:t>esquemas</a:t>
            </a:r>
            <a:r>
              <a:rPr sz="1100" b="0" i="0" dirty="0">
                <a:solidFill>
                  <a:srgbClr val="526576"/>
                </a:solidFill>
                <a:latin typeface="Century Schoolbook" panose="02040604050505020304" pitchFamily="18" charset="0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7168" y="987552"/>
            <a:ext cx="1965960" cy="1371600"/>
          </a:xfrm>
          <a:prstGeom prst="roundRect">
            <a:avLst/>
          </a:prstGeom>
          <a:solidFill>
            <a:srgbClr val="E7F2FA"/>
          </a:solidFill>
          <a:ln>
            <a:solidFill>
              <a:srgbClr val="A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2615184" y="1115568"/>
            <a:ext cx="365760" cy="365760"/>
          </a:xfrm>
          <a:prstGeom prst="ellipse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15184" y="1167643"/>
            <a:ext cx="365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991118"/>
            <a:ext cx="127101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72A49"/>
                </a:solidFill>
                <a:latin typeface="Century Schoolbook" panose="02040604050505020304" pitchFamily="18" charset="0"/>
              </a:rPr>
              <a:t>Ingestamos las fuentes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1508088"/>
            <a:ext cx="160020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26576"/>
                </a:solidFill>
                <a:latin typeface="Century Schoolbook" panose="02040604050505020304" pitchFamily="18" charset="0"/>
              </a:rPr>
              <a:t>Batch, streaming con Kafka y CDC según la naturaleza de cada fuente.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62856" y="987552"/>
            <a:ext cx="1965960" cy="1371600"/>
          </a:xfrm>
          <a:prstGeom prst="roundRect">
            <a:avLst/>
          </a:prstGeom>
          <a:solidFill>
            <a:srgbClr val="E7F2FA"/>
          </a:solidFill>
          <a:ln>
            <a:solidFill>
              <a:srgbClr val="A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4690872" y="1115568"/>
            <a:ext cx="365760" cy="365760"/>
          </a:xfrm>
          <a:prstGeom prst="ellipse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90872" y="1167643"/>
            <a:ext cx="365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000843"/>
            <a:ext cx="14721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 dirty="0" err="1">
                <a:solidFill>
                  <a:srgbClr val="072A49"/>
                </a:solidFill>
                <a:latin typeface="Century Schoolbook" panose="02040604050505020304" pitchFamily="18" charset="0"/>
              </a:rPr>
              <a:t>Conservamos</a:t>
            </a:r>
            <a:r>
              <a:rPr sz="1400" b="1" i="0" dirty="0">
                <a:solidFill>
                  <a:srgbClr val="072A49"/>
                </a:solidFill>
                <a:latin typeface="Century Schoolbook" panose="02040604050505020304" pitchFamily="18" charset="0"/>
              </a:rPr>
              <a:t> Bronze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5736" y="1508088"/>
            <a:ext cx="160020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26576"/>
                </a:solidFill>
                <a:latin typeface="Century Schoolbook" panose="02040604050505020304" pitchFamily="18" charset="0"/>
              </a:rPr>
              <a:t>Guardamos los datos originales en Parquet por fecha para reprocesarlos.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38544" y="987552"/>
            <a:ext cx="1965960" cy="1371600"/>
          </a:xfrm>
          <a:prstGeom prst="roundRect">
            <a:avLst/>
          </a:prstGeom>
          <a:solidFill>
            <a:srgbClr val="E7F2FA"/>
          </a:solidFill>
          <a:ln>
            <a:solidFill>
              <a:srgbClr val="A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766559" y="1115568"/>
            <a:ext cx="365760" cy="365760"/>
          </a:xfrm>
          <a:prstGeom prst="ellipse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6559" y="1167643"/>
            <a:ext cx="365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14616" y="991118"/>
            <a:ext cx="127101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 dirty="0" err="1">
                <a:solidFill>
                  <a:srgbClr val="072A49"/>
                </a:solidFill>
                <a:latin typeface="Century Schoolbook" panose="02040604050505020304" pitchFamily="18" charset="0"/>
              </a:rPr>
              <a:t>Cargamos</a:t>
            </a:r>
            <a:r>
              <a:rPr sz="1400" b="1" i="0" dirty="0">
                <a:solidFill>
                  <a:srgbClr val="072A49"/>
                </a:solidFill>
                <a:latin typeface="Century Schoolbook" panose="02040604050505020304" pitchFamily="18" charset="0"/>
              </a:rPr>
              <a:t> Staging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1581184"/>
            <a:ext cx="160020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26576"/>
                </a:solidFill>
                <a:latin typeface="Century Schoolbook" panose="02040604050505020304" pitchFamily="18" charset="0"/>
              </a:rPr>
              <a:t>PostgreSQL recibió la carga temporal de las 9 fuentes.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2761488"/>
            <a:ext cx="2286000" cy="1371600"/>
          </a:xfrm>
          <a:prstGeom prst="roundRect">
            <a:avLst/>
          </a:prstGeom>
          <a:solidFill>
            <a:srgbClr val="E7F2FA"/>
          </a:solidFill>
          <a:ln>
            <a:solidFill>
              <a:srgbClr val="A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996695" y="2889504"/>
            <a:ext cx="365760" cy="365760"/>
          </a:xfrm>
          <a:prstGeom prst="ellipse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96695" y="2941579"/>
            <a:ext cx="365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2864402"/>
            <a:ext cx="159105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 dirty="0" err="1">
                <a:solidFill>
                  <a:srgbClr val="072A49"/>
                </a:solidFill>
                <a:latin typeface="Century Schoolbook" panose="02040604050505020304" pitchFamily="18" charset="0"/>
              </a:rPr>
              <a:t>Limpiamos</a:t>
            </a:r>
            <a:r>
              <a:rPr sz="1400" b="1" i="0" dirty="0">
                <a:solidFill>
                  <a:srgbClr val="072A49"/>
                </a:solidFill>
                <a:latin typeface="Century Schoolbook" panose="02040604050505020304" pitchFamily="18" charset="0"/>
              </a:rPr>
              <a:t> </a:t>
            </a:r>
            <a:r>
              <a:rPr sz="1400" b="1" i="0" dirty="0" err="1">
                <a:solidFill>
                  <a:srgbClr val="072A49"/>
                </a:solidFill>
                <a:latin typeface="Century Schoolbook" panose="02040604050505020304" pitchFamily="18" charset="0"/>
              </a:rPr>
              <a:t>en</a:t>
            </a:r>
            <a:r>
              <a:rPr sz="1400" b="1" i="0" dirty="0">
                <a:solidFill>
                  <a:srgbClr val="072A49"/>
                </a:solidFill>
                <a:latin typeface="Century Schoolbook" panose="02040604050505020304" pitchFamily="18" charset="0"/>
              </a:rPr>
              <a:t> Silver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355120"/>
            <a:ext cx="192024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26576"/>
                </a:solidFill>
                <a:latin typeface="Century Schoolbook" panose="02040604050505020304" pitchFamily="18" charset="0"/>
              </a:rPr>
              <a:t>Unificamos formatos, horas, montos, zonas e identidad.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10712" y="2761488"/>
            <a:ext cx="2286000" cy="1371600"/>
          </a:xfrm>
          <a:prstGeom prst="roundRect">
            <a:avLst/>
          </a:prstGeom>
          <a:solidFill>
            <a:srgbClr val="E7F2FA"/>
          </a:solidFill>
          <a:ln>
            <a:solidFill>
              <a:srgbClr val="A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3538728" y="2889504"/>
            <a:ext cx="365760" cy="365760"/>
          </a:xfrm>
          <a:prstGeom prst="ellipse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538728" y="2941579"/>
            <a:ext cx="365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86784" y="2864402"/>
            <a:ext cx="159105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72A49"/>
                </a:solidFill>
                <a:latin typeface="Century Schoolbook" panose="02040604050505020304" pitchFamily="18" charset="0"/>
              </a:rPr>
              <a:t>Aplicamos calidad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93592" y="3355120"/>
            <a:ext cx="192024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26576"/>
                </a:solidFill>
                <a:latin typeface="Century Schoolbook" panose="02040604050505020304" pitchFamily="18" charset="0"/>
              </a:rPr>
              <a:t>Los inválidos fueron a cuarentena con el motivo del rechazo.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52744" y="2761488"/>
            <a:ext cx="2286000" cy="1371600"/>
          </a:xfrm>
          <a:prstGeom prst="roundRect">
            <a:avLst/>
          </a:prstGeom>
          <a:solidFill>
            <a:srgbClr val="246BC9"/>
          </a:solidFill>
          <a:ln>
            <a:solidFill>
              <a:srgbClr val="246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080759" y="288950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080759" y="2941579"/>
            <a:ext cx="365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246BC9"/>
                </a:solidFill>
                <a:latin typeface="Century Schoolbook" panose="02040604050505020304" pitchFamily="18" charset="0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8816" y="2864402"/>
            <a:ext cx="159105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Construimos Gold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35624" y="3355120"/>
            <a:ext cx="192024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entury Schoolbook" panose="02040604050505020304" pitchFamily="18" charset="0"/>
              </a:rPr>
              <a:t>dbt generó 5 dimensiones y 2 hechos listos para análisis.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310782"/>
            <a:ext cx="7863840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 i="0">
                <a:solidFill>
                  <a:srgbClr val="246BC9"/>
                </a:solidFill>
                <a:latin typeface="Century Schoolbook" panose="02040604050505020304" pitchFamily="18" charset="0"/>
              </a:rPr>
              <a:t>Resultado: pipeline trazable, reproducible e idempotente; Gold queda como fuente analítica.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72A49"/>
                </a:solidFill>
                <a:latin typeface="Century Schoolbook" panose="02040604050505020304" pitchFamily="18" charset="0"/>
              </a:rPr>
              <a:t>Fase 01 · Implementación y validación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08042"/>
            <a:ext cx="374903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072A49"/>
                </a:solidFill>
                <a:latin typeface="Century Schoolbook" panose="02040604050505020304" pitchFamily="18" charset="0"/>
              </a:rPr>
              <a:t>Herramientas que usamos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7"/>
            <a:ext cx="3794760" cy="633409"/>
          </a:xfrm>
          <a:prstGeom prst="roundRect">
            <a:avLst/>
          </a:prstGeom>
          <a:solidFill>
            <a:srgbClr val="E7F2FA"/>
          </a:solidFill>
          <a:ln>
            <a:solidFill>
              <a:srgbClr val="A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0936" y="1426464"/>
            <a:ext cx="365760" cy="365760"/>
          </a:xfrm>
          <a:prstGeom prst="ellipse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0936" y="1478539"/>
            <a:ext cx="365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27405"/>
            <a:ext cx="309981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 dirty="0">
                <a:solidFill>
                  <a:srgbClr val="072A49"/>
                </a:solidFill>
                <a:latin typeface="Century Schoolbook" panose="02040604050505020304" pitchFamily="18" charset="0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05916"/>
            <a:ext cx="3291840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 dirty="0">
                <a:solidFill>
                  <a:srgbClr val="526576"/>
                </a:solidFill>
                <a:latin typeface="Century Schoolbook" panose="02040604050505020304" pitchFamily="18" charset="0"/>
              </a:rPr>
              <a:t>ingesta batch, CDC, streaming y carga a Staging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" y="2020824"/>
            <a:ext cx="3794760" cy="594360"/>
          </a:xfrm>
          <a:prstGeom prst="roundRect">
            <a:avLst/>
          </a:prstGeom>
          <a:solidFill>
            <a:srgbClr val="E7F2FA"/>
          </a:solidFill>
          <a:ln>
            <a:solidFill>
              <a:srgbClr val="A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21792" y="2148840"/>
            <a:ext cx="365760" cy="365760"/>
          </a:xfrm>
          <a:prstGeom prst="ellipse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1792" y="2200915"/>
            <a:ext cx="365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049781"/>
            <a:ext cx="309981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72A49"/>
                </a:solidFill>
                <a:latin typeface="Century Schoolbook" panose="02040604050505020304" pitchFamily="18" charset="0"/>
              </a:rPr>
              <a:t>Kafka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2316778"/>
            <a:ext cx="361188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26576"/>
                </a:solidFill>
                <a:latin typeface="Century Schoolbook" panose="02040604050505020304" pitchFamily="18" charset="0"/>
              </a:rPr>
              <a:t>productor y consumidor de eventos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" y="2670048"/>
            <a:ext cx="3794760" cy="594360"/>
          </a:xfrm>
          <a:prstGeom prst="roundRect">
            <a:avLst/>
          </a:prstGeom>
          <a:solidFill>
            <a:srgbClr val="E7F2FA"/>
          </a:solidFill>
          <a:ln>
            <a:solidFill>
              <a:srgbClr val="A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21792" y="2798064"/>
            <a:ext cx="365760" cy="365760"/>
          </a:xfrm>
          <a:prstGeom prst="ellipse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1792" y="2850139"/>
            <a:ext cx="365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" y="2699005"/>
            <a:ext cx="309981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72A49"/>
                </a:solidFill>
                <a:latin typeface="Century Schoolbook" panose="02040604050505020304" pitchFamily="18" charset="0"/>
              </a:rP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" y="2966002"/>
            <a:ext cx="361188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26576"/>
                </a:solidFill>
                <a:latin typeface="Century Schoolbook" panose="02040604050505020304" pitchFamily="18" charset="0"/>
              </a:rPr>
              <a:t>staging, silver, gold, quarantine y audit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" y="3319272"/>
            <a:ext cx="3794760" cy="594360"/>
          </a:xfrm>
          <a:prstGeom prst="roundRect">
            <a:avLst/>
          </a:prstGeom>
          <a:solidFill>
            <a:srgbClr val="E7F2FA"/>
          </a:solidFill>
          <a:ln>
            <a:solidFill>
              <a:srgbClr val="A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21792" y="3447288"/>
            <a:ext cx="365760" cy="365760"/>
          </a:xfrm>
          <a:prstGeom prst="ellipse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1792" y="3499363"/>
            <a:ext cx="365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" y="3348229"/>
            <a:ext cx="309981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72A49"/>
                </a:solidFill>
                <a:latin typeface="Century Schoolbook" panose="02040604050505020304" pitchFamily="18" charset="0"/>
              </a:rPr>
              <a:t>dbt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" y="3615225"/>
            <a:ext cx="361188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26576"/>
                </a:solidFill>
                <a:latin typeface="Century Schoolbook" panose="02040604050505020304" pitchFamily="18" charset="0"/>
              </a:rPr>
              <a:t>transformaciones y pruebas de calidad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" y="3968496"/>
            <a:ext cx="3794760" cy="594360"/>
          </a:xfrm>
          <a:prstGeom prst="roundRect">
            <a:avLst/>
          </a:prstGeom>
          <a:solidFill>
            <a:srgbClr val="E7F2FA"/>
          </a:solidFill>
          <a:ln>
            <a:solidFill>
              <a:srgbClr val="A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21792" y="4096511"/>
            <a:ext cx="365760" cy="365760"/>
          </a:xfrm>
          <a:prstGeom prst="ellipse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1792" y="4148586"/>
            <a:ext cx="365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" y="3997452"/>
            <a:ext cx="309981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72A49"/>
                </a:solidFill>
                <a:latin typeface="Century Schoolbook" panose="02040604050505020304" pitchFamily="18" charset="0"/>
              </a:rPr>
              <a:t>Prefect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" y="4264450"/>
            <a:ext cx="361188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26576"/>
                </a:solidFill>
                <a:latin typeface="Century Schoolbook" panose="02040604050505020304" pitchFamily="18" charset="0"/>
              </a:rPr>
              <a:t>orquestación del pipeline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17720" y="987552"/>
            <a:ext cx="3977639" cy="3383280"/>
          </a:xfrm>
          <a:prstGeom prst="roundRect">
            <a:avLst/>
          </a:prstGeom>
          <a:solidFill>
            <a:srgbClr val="246BC9"/>
          </a:solidFill>
          <a:ln>
            <a:solidFill>
              <a:srgbClr val="246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92040" y="1089583"/>
            <a:ext cx="347472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¿Cómo comprobamos que funcionó?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1756315"/>
            <a:ext cx="33832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✓  1,730,184 filas cargadas desde 9 fuentes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2240947"/>
            <a:ext cx="33832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✓  18,431 registros conservados en cuarentena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2825606"/>
            <a:ext cx="338328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✓  1,718,037 registros listos en Gold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310238"/>
            <a:ext cx="338328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✓  2 corridas con conteos idénticos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3794870"/>
            <a:ext cx="338328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✓  79 pruebas dbt PASS · ERROR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Fase 01 · Ingesta y Staging</a:t>
            </a:r>
            <a:endParaRPr lang="en-US" sz="2800" dirty="0">
              <a:latin typeface="Century Schoolbook" panose="020406040505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E8F3FC"/>
          </a:solidFill>
          <a:ln w="9525">
            <a:solidFill>
              <a:srgbClr val="8EC5F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9436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65C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1,730,184</a:t>
            </a:r>
            <a:endParaRPr lang="en-US" sz="2400" dirty="0">
              <a:latin typeface="Century Schoolbook" panose="020406040505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94360" y="17556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filas cargadas desde 9 fuentes</a:t>
            </a:r>
            <a:endParaRPr lang="en-US" sz="1200" dirty="0">
              <a:latin typeface="Century Schoolbook" panose="020406040505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565C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Streaming (Kafka): </a:t>
            </a:r>
            <a:r>
              <a:rPr lang="en-US" sz="14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validaciones Transmetro y abordajes Aerometro</a:t>
            </a:r>
            <a:endParaRPr lang="en-US" sz="1400" dirty="0">
              <a:latin typeface="Century Schoolbook" panose="02040604050505020304" pitchFamily="18" charset="0"/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565C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Batch: </a:t>
            </a:r>
            <a:r>
              <a:rPr lang="en-US" sz="14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catálogos, MetroRiel y Transurbano</a:t>
            </a:r>
            <a:endParaRPr lang="en-US" sz="1400" dirty="0">
              <a:latin typeface="Century Schoolbook" panose="02040604050505020304" pitchFamily="18" charset="0"/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565C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CDC: </a:t>
            </a:r>
            <a:r>
              <a:rPr lang="en-US" sz="14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padrón de usuarios de Transmetro</a:t>
            </a:r>
            <a:endParaRPr lang="en-US" sz="1400" dirty="0">
              <a:latin typeface="Century Schoolbook" panose="020406040505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51376" y="1225296"/>
            <a:ext cx="4590288" cy="2920533"/>
          </a:xfrm>
          <a:prstGeom prst="rect">
            <a:avLst/>
          </a:prstGeom>
          <a:solidFill>
            <a:srgbClr val="FFFFFF"/>
          </a:solidFill>
          <a:ln w="12700">
            <a:solidFill>
              <a:srgbClr val="8EC5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pic>
        <p:nvPicPr>
          <p:cNvPr id="8" name="Image 0" descr="/home/claude/img/a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80160"/>
            <a:ext cx="4480560" cy="28108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206240" y="4160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Anexo 3 · Registros por fuente en Staging</a:t>
            </a:r>
            <a:endParaRPr lang="en-US" sz="1100" dirty="0">
              <a:latin typeface="Century Schoolbook" panose="020406040505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Fase 01 · CDC y calidad en Silver</a:t>
            </a:r>
            <a:endParaRPr lang="en-US" sz="2800" dirty="0">
              <a:latin typeface="Century Schoolbook" panose="020406040505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E8F3FC"/>
          </a:solidFill>
          <a:ln w="9525">
            <a:solidFill>
              <a:srgbClr val="8EC5F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94360" y="1234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65C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15,611</a:t>
            </a:r>
            <a:endParaRPr lang="en-US" sz="2400" dirty="0">
              <a:latin typeface="Century Schoolbook" panose="020406040505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94360" y="16642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operaciones CDC (INSERT, UPDATE, DELETE)</a:t>
            </a:r>
            <a:endParaRPr lang="en-US" sz="1200" dirty="0">
              <a:latin typeface="Century Schoolbook" panose="020406040505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E8F3FC"/>
          </a:solidFill>
          <a:ln w="9525">
            <a:solidFill>
              <a:srgbClr val="8EC5F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94360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65C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15,096 activas</a:t>
            </a:r>
            <a:endParaRPr lang="en-US" sz="2400" dirty="0">
              <a:latin typeface="Century Schoolbook" panose="020406040505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94360" y="26700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de 17,432 tarjetas; borrado lógico</a:t>
            </a:r>
            <a:endParaRPr lang="en-US" sz="1200" dirty="0">
              <a:latin typeface="Century Schoolbook" panose="020406040505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1565C0"/>
          </a:solidFill>
          <a:ln w="95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9436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515</a:t>
            </a:r>
            <a:endParaRPr lang="en-US" sz="2400" dirty="0">
              <a:latin typeface="Century Schoolbook" panose="020406040505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94360" y="36758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registros a cuarentena, con su motivo</a:t>
            </a:r>
            <a:endParaRPr lang="en-US" sz="1200" dirty="0">
              <a:latin typeface="Century Schoolbook" panose="020406040505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51376" y="1225296"/>
            <a:ext cx="4590288" cy="2920533"/>
          </a:xfrm>
          <a:prstGeom prst="rect">
            <a:avLst/>
          </a:prstGeom>
          <a:solidFill>
            <a:srgbClr val="FFFFFF"/>
          </a:solidFill>
          <a:ln w="12700">
            <a:solidFill>
              <a:srgbClr val="8EC5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pic>
        <p:nvPicPr>
          <p:cNvPr id="13" name="Image 0" descr="/home/claude/img/a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80160"/>
            <a:ext cx="4480560" cy="28108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206240" y="4160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Anexo 9 · Cuarentena por regla incumplida</a:t>
            </a:r>
            <a:endParaRPr lang="en-US" sz="1100" dirty="0">
              <a:latin typeface="Century Schoolbook" panose="020406040505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Fase 01 · Modelo dimensional Gold</a:t>
            </a:r>
            <a:endParaRPr lang="en-US" sz="2800" dirty="0">
              <a:latin typeface="Century Schoolbook" panose="020406040505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1565C0"/>
          </a:solidFill>
          <a:ln w="95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94360" y="1234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1,718,037</a:t>
            </a:r>
            <a:endParaRPr lang="en-US" sz="2400" dirty="0">
              <a:latin typeface="Century Schoolbook" panose="020406040505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94360" y="16642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registros en Gold</a:t>
            </a:r>
            <a:endParaRPr lang="en-US" sz="1200" dirty="0">
              <a:latin typeface="Century Schoolbook" panose="020406040505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Dimensiones conformadas</a:t>
            </a:r>
            <a:endParaRPr lang="en-US" sz="1500" dirty="0">
              <a:latin typeface="Century Schoolbook" panose="020406040505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57200" y="2606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fecha · hora · modo · usuario · zona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5720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Tablas de hechos</a:t>
            </a:r>
            <a:endParaRPr lang="en-US" sz="1500" dirty="0">
              <a:latin typeface="Century Schoolbook" panose="020406040505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57200" y="3429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fct_abordajes: 1,352,058</a:t>
            </a:r>
            <a:endParaRPr lang="en-US" sz="1300" dirty="0"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fct_viajes_metroriel: 295,511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Usuarios seudonimizados antes de Gold.</a:t>
            </a:r>
            <a:endParaRPr lang="en-US" sz="1100" dirty="0">
              <a:latin typeface="Century Schoolbook" panose="020406040505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51376" y="1225296"/>
            <a:ext cx="4590288" cy="2920533"/>
          </a:xfrm>
          <a:prstGeom prst="rect">
            <a:avLst/>
          </a:prstGeom>
          <a:solidFill>
            <a:srgbClr val="FFFFFF"/>
          </a:solidFill>
          <a:ln w="12700">
            <a:solidFill>
              <a:srgbClr val="8EC5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pic>
        <p:nvPicPr>
          <p:cNvPr id="12" name="Image 0" descr="/home/claude/img/a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80160"/>
            <a:ext cx="4480560" cy="281080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206240" y="4160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Anexo 10 · Conteos del esquema Gold</a:t>
            </a:r>
            <a:endParaRPr lang="en-US" sz="1100" dirty="0">
              <a:latin typeface="Century Schoolbook" panose="020406040505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Fase 01 · Idempotencia y pruebas</a:t>
            </a:r>
            <a:endParaRPr lang="en-US" sz="2800" dirty="0">
              <a:latin typeface="Century Schoolbook" panose="020406040505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02336" y="1042416"/>
            <a:ext cx="4041648" cy="257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8EC5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pic>
        <p:nvPicPr>
          <p:cNvPr id="4" name="Image 0" descr="/home/claude/img/a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3931920" cy="2466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611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Anexo 11 · Dos corridas, mismos conteos</a:t>
            </a:r>
            <a:endParaRPr lang="en-US" sz="1100" dirty="0">
              <a:latin typeface="Century Schoolbook" panose="020406040505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700016" y="1042416"/>
            <a:ext cx="4041648" cy="257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8EC5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pic>
        <p:nvPicPr>
          <p:cNvPr id="7" name="Image 1" descr="/home/claude/img/a1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97280"/>
            <a:ext cx="3931920" cy="24666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54880" y="3611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Anexo 13 · dbt: PASS=79, ERROR=0</a:t>
            </a:r>
            <a:endParaRPr lang="en-US" sz="1100" dirty="0">
              <a:latin typeface="Century Schoolbook" panose="020406040505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57200" y="402336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E8F3FC"/>
          </a:solidFill>
          <a:ln w="9525">
            <a:solidFill>
              <a:srgbClr val="8EC5F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59436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65C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2 corridas</a:t>
            </a:r>
            <a:endParaRPr lang="en-US" sz="2400" dirty="0">
              <a:latin typeface="Century Schoolbook" panose="02040604050505020304" pitchFamily="18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594360" y="4498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idénticas: sin duplicados (~72 s c/u)</a:t>
            </a:r>
            <a:endParaRPr lang="en-US" sz="1200" dirty="0">
              <a:latin typeface="Century Schoolbook" panose="020406040505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754880" y="402336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E8F3FC"/>
          </a:solidFill>
          <a:ln w="9525">
            <a:solidFill>
              <a:srgbClr val="8EC5F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489204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65C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79 pruebas</a:t>
            </a:r>
            <a:endParaRPr lang="en-US" sz="2400" dirty="0">
              <a:latin typeface="Century Schoolbook" panose="02040604050505020304" pitchFamily="18" charset="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4892040" y="4498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dbt aprobadas, sin errores ni advertencias</a:t>
            </a:r>
            <a:endParaRPr lang="en-US" sz="1200" dirty="0">
              <a:latin typeface="Century Schoolbook" panose="020406040505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Fase 02 · Visualización y features</a:t>
            </a:r>
            <a:endParaRPr lang="en-US" sz="2800" dirty="0">
              <a:latin typeface="Century Schoolbook" panose="020406040505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65760" cy="36576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515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Tableau sobre Gold</a:t>
            </a:r>
            <a:endParaRPr lang="en-US" sz="2000" dirty="0">
              <a:latin typeface="Century Schoolbook" panose="020406040505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5156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C5F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Modelo conectado a fct_abordajes y sus dimensiones</a:t>
            </a:r>
            <a:endParaRPr lang="en-US" sz="1400" dirty="0">
              <a:latin typeface="Century Schoolbook" panose="020406040505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365760" cy="36576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5156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Dashboard Red Metropolitana</a:t>
            </a:r>
            <a:endParaRPr lang="en-US" sz="2000" dirty="0">
              <a:latin typeface="Century Schoolbook" panose="020406040505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05156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C5F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Modo, zona, hora, multimodales y MetroRiel</a:t>
            </a:r>
            <a:endParaRPr lang="en-US" sz="1400" dirty="0">
              <a:latin typeface="Century Schoolbook" panose="020406040505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365760" cy="36576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5720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05156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Features de movilidad</a:t>
            </a:r>
            <a:endParaRPr lang="en-US" sz="2000" dirty="0">
              <a:latin typeface="Century Schoolbook" panose="020406040505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05156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C5F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70,380 </a:t>
            </a:r>
            <a:r>
              <a:rPr lang="en-US" sz="1400" dirty="0" err="1">
                <a:solidFill>
                  <a:srgbClr val="8EC5F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usuarios</a:t>
            </a:r>
            <a:r>
              <a:rPr lang="en-US" sz="1400" dirty="0">
                <a:solidFill>
                  <a:srgbClr val="8EC5F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con variables </a:t>
            </a:r>
            <a:r>
              <a:rPr lang="en-US" sz="1400" dirty="0" err="1">
                <a:solidFill>
                  <a:srgbClr val="8EC5F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listas</a:t>
            </a:r>
            <a:r>
              <a:rPr lang="en-US" sz="1400" dirty="0">
                <a:solidFill>
                  <a:srgbClr val="8EC5F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400" dirty="0" err="1">
                <a:solidFill>
                  <a:srgbClr val="8EC5F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1400" dirty="0">
                <a:solidFill>
                  <a:srgbClr val="8EC5F0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>
              <a:latin typeface="Century Schoolbook" panose="020406040505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072A49"/>
                </a:solidFill>
                <a:latin typeface="Century Schoolbook" panose="02040604050505020304" pitchFamily="18" charset="0"/>
              </a:rPr>
              <a:t>Cómo resolvimos la Fase 02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07008"/>
            <a:ext cx="2514600" cy="1353312"/>
          </a:xfrm>
          <a:prstGeom prst="roundRect">
            <a:avLst/>
          </a:prstGeom>
          <a:solidFill>
            <a:srgbClr val="E7F2FA"/>
          </a:solidFill>
          <a:ln>
            <a:solidFill>
              <a:srgbClr val="A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585216" y="1335024"/>
            <a:ext cx="365760" cy="365760"/>
          </a:xfrm>
          <a:prstGeom prst="ellipse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1387099"/>
            <a:ext cx="365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" y="1229723"/>
            <a:ext cx="1819656" cy="5693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 i="0" dirty="0" err="1">
                <a:solidFill>
                  <a:srgbClr val="072A49"/>
                </a:solidFill>
                <a:latin typeface="Century Schoolbook" panose="02040604050505020304" pitchFamily="18" charset="0"/>
              </a:rPr>
              <a:t>Partimos</a:t>
            </a:r>
            <a:r>
              <a:rPr sz="1550" b="1" i="0" dirty="0">
                <a:solidFill>
                  <a:srgbClr val="072A49"/>
                </a:solidFill>
                <a:latin typeface="Century Schoolbook" panose="02040604050505020304" pitchFamily="18" charset="0"/>
              </a:rPr>
              <a:t> de Gold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91496"/>
            <a:ext cx="214884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26576"/>
                </a:solidFill>
                <a:latin typeface="Century Schoolbook" panose="02040604050505020304" pitchFamily="18" charset="0"/>
              </a:rPr>
              <a:t>Tableau se conectó a fct_abordajes, dimensiones y fct_viajes_metroriel.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4408" y="1207008"/>
            <a:ext cx="2514600" cy="1353312"/>
          </a:xfrm>
          <a:prstGeom prst="roundRect">
            <a:avLst/>
          </a:prstGeom>
          <a:solidFill>
            <a:srgbClr val="E7F2FA"/>
          </a:solidFill>
          <a:ln>
            <a:solidFill>
              <a:srgbClr val="A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3392424" y="1335024"/>
            <a:ext cx="365760" cy="365760"/>
          </a:xfrm>
          <a:prstGeom prst="ellipse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92424" y="1387099"/>
            <a:ext cx="365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0712" y="1253595"/>
            <a:ext cx="1819656" cy="5693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 i="0" dirty="0" err="1">
                <a:solidFill>
                  <a:srgbClr val="072A49"/>
                </a:solidFill>
                <a:latin typeface="Century Schoolbook" panose="02040604050505020304" pitchFamily="18" charset="0"/>
              </a:rPr>
              <a:t>Construimos</a:t>
            </a:r>
            <a:r>
              <a:rPr sz="1550" b="1" i="0" dirty="0">
                <a:solidFill>
                  <a:srgbClr val="072A49"/>
                </a:solidFill>
                <a:latin typeface="Century Schoolbook" panose="02040604050505020304" pitchFamily="18" charset="0"/>
              </a:rPr>
              <a:t> las vistas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1791496"/>
            <a:ext cx="214884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26576"/>
                </a:solidFill>
                <a:latin typeface="Century Schoolbook" panose="02040604050505020304" pitchFamily="18" charset="0"/>
              </a:rPr>
              <a:t>Demanda por modo, zona y hora; multimodales, MetroRiel y cobertura.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71616" y="1207008"/>
            <a:ext cx="2514600" cy="1353312"/>
          </a:xfrm>
          <a:prstGeom prst="roundRect">
            <a:avLst/>
          </a:prstGeom>
          <a:solidFill>
            <a:srgbClr val="246BC9"/>
          </a:solidFill>
          <a:ln>
            <a:solidFill>
              <a:srgbClr val="246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199632" y="13350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99632" y="1387099"/>
            <a:ext cx="365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246BC9"/>
                </a:solidFill>
                <a:latin typeface="Century Schoolbook" panose="02040604050505020304" pitchFamily="18" charset="0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1253595"/>
            <a:ext cx="1819656" cy="5693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 i="0" dirty="0" err="1">
                <a:solidFill>
                  <a:srgbClr val="FFFFFF"/>
                </a:solidFill>
                <a:latin typeface="Century Schoolbook" panose="02040604050505020304" pitchFamily="18" charset="0"/>
              </a:rPr>
              <a:t>Integramos</a:t>
            </a:r>
            <a:r>
              <a:rPr sz="1550" b="1" i="0" dirty="0">
                <a:solidFill>
                  <a:srgbClr val="FFFFFF"/>
                </a:solidFill>
                <a:latin typeface="Century Schoolbook" panose="02040604050505020304" pitchFamily="18" charset="0"/>
              </a:rPr>
              <a:t> </a:t>
            </a:r>
            <a:r>
              <a:rPr sz="1550" b="1" i="0" dirty="0" err="1">
                <a:solidFill>
                  <a:srgbClr val="FFFFFF"/>
                </a:solidFill>
                <a:latin typeface="Century Schoolbook" panose="02040604050505020304" pitchFamily="18" charset="0"/>
              </a:rPr>
              <a:t>el</a:t>
            </a:r>
            <a:r>
              <a:rPr sz="1550" b="1" i="0" dirty="0">
                <a:solidFill>
                  <a:srgbClr val="FFFFFF"/>
                </a:solidFill>
                <a:latin typeface="Century Schoolbook" panose="02040604050505020304" pitchFamily="18" charset="0"/>
              </a:rPr>
              <a:t>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1791496"/>
            <a:ext cx="214884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entury Schoolbook" panose="02040604050505020304" pitchFamily="18" charset="0"/>
              </a:rPr>
              <a:t>Reunimos 6 vistas con filtros interactivos por modo y zona.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45013"/>
            <a:ext cx="2514600" cy="1353312"/>
          </a:xfrm>
          <a:prstGeom prst="roundRect">
            <a:avLst/>
          </a:prstGeom>
          <a:solidFill>
            <a:srgbClr val="E7F2FA"/>
          </a:solidFill>
          <a:ln>
            <a:solidFill>
              <a:srgbClr val="A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85216" y="2973029"/>
            <a:ext cx="365760" cy="365760"/>
          </a:xfrm>
          <a:prstGeom prst="ellipse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5216" y="3025104"/>
            <a:ext cx="365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2877230"/>
            <a:ext cx="1819656" cy="5693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 i="0" dirty="0" err="1">
                <a:solidFill>
                  <a:srgbClr val="072A49"/>
                </a:solidFill>
                <a:latin typeface="Century Schoolbook" panose="02040604050505020304" pitchFamily="18" charset="0"/>
              </a:rPr>
              <a:t>Creamos</a:t>
            </a:r>
            <a:r>
              <a:rPr sz="1550" b="1" i="0" dirty="0">
                <a:solidFill>
                  <a:srgbClr val="072A49"/>
                </a:solidFill>
                <a:latin typeface="Century Schoolbook" panose="02040604050505020304" pitchFamily="18" charset="0"/>
              </a:rPr>
              <a:t>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429501"/>
            <a:ext cx="214884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26576"/>
                </a:solidFill>
                <a:latin typeface="Century Schoolbook" panose="02040604050505020304" pitchFamily="18" charset="0"/>
              </a:rPr>
              <a:t>dbt generó features_usuario_movilidad con variables por usuario.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72967" y="2845013"/>
            <a:ext cx="2514600" cy="1353312"/>
          </a:xfrm>
          <a:prstGeom prst="roundRect">
            <a:avLst/>
          </a:prstGeom>
          <a:solidFill>
            <a:srgbClr val="E7F2FA"/>
          </a:solidFill>
          <a:ln>
            <a:solidFill>
              <a:srgbClr val="A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3300983" y="2973029"/>
            <a:ext cx="365760" cy="365760"/>
          </a:xfrm>
          <a:prstGeom prst="ellipse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00983" y="3025104"/>
            <a:ext cx="365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5323" y="2877230"/>
            <a:ext cx="1819656" cy="5693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 i="0" dirty="0" err="1">
                <a:solidFill>
                  <a:srgbClr val="072A49"/>
                </a:solidFill>
                <a:latin typeface="Century Schoolbook" panose="02040604050505020304" pitchFamily="18" charset="0"/>
              </a:rPr>
              <a:t>Validamos</a:t>
            </a:r>
            <a:r>
              <a:rPr sz="1550" b="1" i="0" dirty="0">
                <a:solidFill>
                  <a:srgbClr val="072A49"/>
                </a:solidFill>
                <a:latin typeface="Century Schoolbook" panose="02040604050505020304" pitchFamily="18" charset="0"/>
              </a:rPr>
              <a:t> </a:t>
            </a:r>
            <a:r>
              <a:rPr sz="1550" b="1" i="0" dirty="0" err="1">
                <a:solidFill>
                  <a:srgbClr val="072A49"/>
                </a:solidFill>
                <a:latin typeface="Century Schoolbook" panose="02040604050505020304" pitchFamily="18" charset="0"/>
              </a:rPr>
              <a:t>nuevamente</a:t>
            </a:r>
            <a:endParaRPr sz="1550" b="1" i="0" dirty="0">
              <a:solidFill>
                <a:srgbClr val="072A49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355848" y="3429501"/>
            <a:ext cx="214884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26576"/>
                </a:solidFill>
                <a:latin typeface="Century Schoolbook" panose="02040604050505020304" pitchFamily="18" charset="0"/>
              </a:rPr>
              <a:t>La fase terminó con 29 modelos construidos y 82 pruebas PASS.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9047" y="2846336"/>
            <a:ext cx="2542033" cy="1353312"/>
          </a:xfrm>
          <a:prstGeom prst="roundRect">
            <a:avLst/>
          </a:prstGeom>
          <a:solidFill>
            <a:srgbClr val="E7F2FA"/>
          </a:solidFill>
          <a:ln>
            <a:solidFill>
              <a:srgbClr val="A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227063" y="2974352"/>
            <a:ext cx="365760" cy="365760"/>
          </a:xfrm>
          <a:prstGeom prst="ellipse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Schoolbook" panose="020406040505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27063" y="3026427"/>
            <a:ext cx="365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Schoolbook" panose="02040604050505020304" pitchFamily="18" charset="0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7687" y="2880937"/>
            <a:ext cx="1819657" cy="5693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 i="0" dirty="0" err="1">
                <a:solidFill>
                  <a:srgbClr val="072A49"/>
                </a:solidFill>
                <a:latin typeface="Century Schoolbook" panose="02040604050505020304" pitchFamily="18" charset="0"/>
              </a:rPr>
              <a:t>Interpretamos</a:t>
            </a:r>
            <a:r>
              <a:rPr sz="1550" b="1" i="0" dirty="0">
                <a:solidFill>
                  <a:srgbClr val="072A49"/>
                </a:solidFill>
                <a:latin typeface="Century Schoolbook" panose="02040604050505020304" pitchFamily="18" charset="0"/>
              </a:rPr>
              <a:t> </a:t>
            </a:r>
            <a:r>
              <a:rPr sz="1550" b="1" i="0" dirty="0" err="1">
                <a:solidFill>
                  <a:srgbClr val="072A49"/>
                </a:solidFill>
                <a:latin typeface="Century Schoolbook" panose="02040604050505020304" pitchFamily="18" charset="0"/>
              </a:rPr>
              <a:t>resultados</a:t>
            </a:r>
            <a:endParaRPr sz="1550" b="1" i="0" dirty="0">
              <a:solidFill>
                <a:srgbClr val="072A49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81926" y="3430824"/>
            <a:ext cx="2121409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 dirty="0" err="1">
                <a:solidFill>
                  <a:srgbClr val="526576"/>
                </a:solidFill>
                <a:latin typeface="Century Schoolbook" panose="02040604050505020304" pitchFamily="18" charset="0"/>
              </a:rPr>
              <a:t>Detectamos</a:t>
            </a:r>
            <a:r>
              <a:rPr sz="1150" b="0" i="0" dirty="0">
                <a:solidFill>
                  <a:srgbClr val="526576"/>
                </a:solidFill>
                <a:latin typeface="Century Schoolbook" panose="02040604050505020304" pitchFamily="18" charset="0"/>
              </a:rPr>
              <a:t> </a:t>
            </a:r>
            <a:r>
              <a:rPr sz="1150" b="0" i="0" dirty="0" err="1">
                <a:solidFill>
                  <a:srgbClr val="526576"/>
                </a:solidFill>
                <a:latin typeface="Century Schoolbook" panose="02040604050505020304" pitchFamily="18" charset="0"/>
              </a:rPr>
              <a:t>picos</a:t>
            </a:r>
            <a:r>
              <a:rPr sz="1150" b="0" i="0" dirty="0">
                <a:solidFill>
                  <a:srgbClr val="526576"/>
                </a:solidFill>
                <a:latin typeface="Century Schoolbook" panose="02040604050505020304" pitchFamily="18" charset="0"/>
              </a:rPr>
              <a:t>, </a:t>
            </a:r>
            <a:r>
              <a:rPr sz="1150" b="0" i="0" dirty="0" err="1">
                <a:solidFill>
                  <a:srgbClr val="526576"/>
                </a:solidFill>
                <a:latin typeface="Century Schoolbook" panose="02040604050505020304" pitchFamily="18" charset="0"/>
              </a:rPr>
              <a:t>multimodalidad</a:t>
            </a:r>
            <a:r>
              <a:rPr sz="1150" b="0" i="0" dirty="0">
                <a:solidFill>
                  <a:srgbClr val="526576"/>
                </a:solidFill>
                <a:latin typeface="Century Schoolbook" panose="02040604050505020304" pitchFamily="18" charset="0"/>
              </a:rPr>
              <a:t> y </a:t>
            </a:r>
            <a:r>
              <a:rPr sz="1150" b="0" i="0" dirty="0" err="1">
                <a:solidFill>
                  <a:srgbClr val="526576"/>
                </a:solidFill>
                <a:latin typeface="Century Schoolbook" panose="02040604050505020304" pitchFamily="18" charset="0"/>
              </a:rPr>
              <a:t>brechas</a:t>
            </a:r>
            <a:r>
              <a:rPr sz="1150" b="0" i="0" dirty="0">
                <a:solidFill>
                  <a:srgbClr val="526576"/>
                </a:solidFill>
                <a:latin typeface="Century Schoolbook" panose="02040604050505020304" pitchFamily="18" charset="0"/>
              </a:rPr>
              <a:t> para </a:t>
            </a:r>
            <a:r>
              <a:rPr sz="1150" b="0" i="0" dirty="0" err="1">
                <a:solidFill>
                  <a:srgbClr val="526576"/>
                </a:solidFill>
                <a:latin typeface="Century Schoolbook" panose="02040604050505020304" pitchFamily="18" charset="0"/>
              </a:rPr>
              <a:t>proponer</a:t>
            </a:r>
            <a:r>
              <a:rPr sz="1150" b="0" i="0" dirty="0">
                <a:solidFill>
                  <a:srgbClr val="526576"/>
                </a:solidFill>
                <a:latin typeface="Century Schoolbook" panose="02040604050505020304" pitchFamily="18" charset="0"/>
              </a:rPr>
              <a:t> </a:t>
            </a:r>
            <a:r>
              <a:rPr sz="1150" b="0" i="0" dirty="0" err="1">
                <a:solidFill>
                  <a:srgbClr val="526576"/>
                </a:solidFill>
                <a:latin typeface="Century Schoolbook" panose="02040604050505020304" pitchFamily="18" charset="0"/>
              </a:rPr>
              <a:t>acciones</a:t>
            </a:r>
            <a:r>
              <a:rPr sz="1150" b="0" i="0" dirty="0">
                <a:solidFill>
                  <a:srgbClr val="526576"/>
                </a:solidFill>
                <a:latin typeface="Century Schoolbook" panose="020406040505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Fase 02 · Demanda por modo y por hora</a:t>
            </a:r>
            <a:endParaRPr lang="en-US" sz="2800" dirty="0">
              <a:latin typeface="Century Schoolbook" panose="020406040505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02336" y="1133856"/>
            <a:ext cx="4041648" cy="257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8EC5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45720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Anexo 17 · Abordajes por modo</a:t>
            </a:r>
            <a:endParaRPr lang="en-US" sz="1100" dirty="0">
              <a:latin typeface="Century Schoolbook" panose="020406040505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700016" y="1133856"/>
            <a:ext cx="4041648" cy="2447910"/>
          </a:xfrm>
          <a:prstGeom prst="rect">
            <a:avLst/>
          </a:prstGeom>
          <a:solidFill>
            <a:srgbClr val="FFFFFF"/>
          </a:solidFill>
          <a:ln w="12700">
            <a:solidFill>
              <a:srgbClr val="8EC5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pic>
        <p:nvPicPr>
          <p:cNvPr id="7" name="Image 1" descr="/home/claude/img/a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188720"/>
            <a:ext cx="3931920" cy="233818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5488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Anexo 19 · Abordajes por hora</a:t>
            </a:r>
            <a:endParaRPr lang="en-US" sz="1100" dirty="0">
              <a:latin typeface="Century Schoolbook" panose="02040604050505020304" pitchFamily="18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457200" y="4023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Transurbano</a:t>
            </a:r>
            <a:r>
              <a:rPr lang="en-US" sz="1300" b="1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: 786,398 · </a:t>
            </a:r>
            <a:r>
              <a:rPr lang="en-US" sz="1300" b="1" dirty="0" err="1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Metroriel</a:t>
            </a:r>
            <a:r>
              <a:rPr lang="en-US" sz="1300" b="1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295,111 </a:t>
            </a:r>
            <a:r>
              <a:rPr lang="en-US" sz="1300" b="1" dirty="0" err="1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Transmetro</a:t>
            </a:r>
            <a:r>
              <a:rPr lang="en-US" sz="1300" b="1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362,106 · </a:t>
            </a:r>
            <a:r>
              <a:rPr lang="en-US" sz="1300" b="1" dirty="0" err="1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Aerometro</a:t>
            </a:r>
            <a:r>
              <a:rPr lang="en-US" sz="1300" b="1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203,554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4754880" y="4023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Dos picos: 7:00 con 162,014 y 17:00 con 137,152 abordajes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40577B5-F17B-FD79-43D0-CC047046F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1189577"/>
            <a:ext cx="4038374" cy="23921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Fase 02 · Demanda y cobertura por zona</a:t>
            </a:r>
            <a:endParaRPr lang="en-US" sz="2800" dirty="0">
              <a:latin typeface="Century Schoolbook" panose="020406040505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02336" y="1133856"/>
            <a:ext cx="5230368" cy="3322076"/>
          </a:xfrm>
          <a:prstGeom prst="rect">
            <a:avLst/>
          </a:prstGeom>
          <a:solidFill>
            <a:srgbClr val="FFFFFF"/>
          </a:solidFill>
          <a:ln w="12700">
            <a:solidFill>
              <a:srgbClr val="8EC5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pic>
        <p:nvPicPr>
          <p:cNvPr id="4" name="Image 0" descr="/home/claude/img/a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120640" cy="32123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526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Anexo 18 · Demanda por zona y modo</a:t>
            </a:r>
            <a:endParaRPr lang="en-US" sz="1100" dirty="0">
              <a:latin typeface="Century Schoolbook" panose="020406040505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943600" y="11887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E8F3FC"/>
          </a:solidFill>
          <a:ln w="9525">
            <a:solidFill>
              <a:srgbClr val="8EC5F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080760" y="12618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Mixco</a:t>
            </a:r>
            <a:endParaRPr lang="en-US" sz="1500" dirty="0">
              <a:latin typeface="Century Schoolbook" panose="020406040505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080760" y="1627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combina los tres operadores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0" y="22402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E8F3FC"/>
          </a:solidFill>
          <a:ln w="9525">
            <a:solidFill>
              <a:srgbClr val="8EC5F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080760" y="2313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Aerometro</a:t>
            </a:r>
            <a:endParaRPr lang="en-US" sz="1500" dirty="0">
              <a:latin typeface="Century Schoolbook" panose="020406040505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6080760" y="26791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concentrado en pocas zonas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943600" y="3291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E8F3FC"/>
          </a:solidFill>
          <a:ln w="9525">
            <a:solidFill>
              <a:srgbClr val="8EC5F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6080760" y="33649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Transmetro y Transurbano</a:t>
            </a:r>
            <a:endParaRPr lang="en-US" sz="1500" dirty="0">
              <a:latin typeface="Century Schoolbook" panose="02040604050505020304" pitchFamily="18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6080760" y="3730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presencia más amplia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02 · Usuarios multimodales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1565C0"/>
          </a:solidFill>
          <a:ln w="95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94360" y="1234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anose="02040604050505020304" pitchFamily="18" charset="0"/>
              </a:rPr>
              <a:t>70, 380</a:t>
            </a:r>
            <a:endParaRPr lang="en-US" sz="2400" dirty="0">
              <a:latin typeface="Century Schoolbook" panose="020406040505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94360" y="16642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usuarios</a:t>
            </a:r>
            <a:r>
              <a:rPr lang="en-US" sz="1200" dirty="0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analizados</a:t>
            </a:r>
            <a:endParaRPr lang="en-US" sz="1200" dirty="0">
              <a:latin typeface="Century Schoolbook" panose="020406040505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E8F3FC"/>
          </a:solidFill>
          <a:ln w="9525">
            <a:solidFill>
              <a:srgbClr val="8EC5F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94360" y="2240280"/>
            <a:ext cx="2984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65C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14, 496</a:t>
            </a:r>
            <a:endParaRPr lang="en-US" sz="2000" dirty="0">
              <a:latin typeface="Century Schoolbook" panose="020406040505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94360" y="26700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2304F"/>
                </a:solidFill>
                <a:latin typeface="Century Schoolbook" panose="02040604050505020304" pitchFamily="18" charset="0"/>
                <a:cs typeface="Calibri" pitchFamily="34" charset="-120"/>
              </a:rPr>
              <a:t>usuarios</a:t>
            </a:r>
            <a:r>
              <a:rPr lang="en-US" sz="1200" dirty="0">
                <a:solidFill>
                  <a:srgbClr val="12304F"/>
                </a:solidFill>
                <a:latin typeface="Century Schoolbook" panose="02040604050505020304" pitchFamily="18" charset="0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2304F"/>
                </a:solidFill>
                <a:latin typeface="Century Schoolbook" panose="02040604050505020304" pitchFamily="18" charset="0"/>
                <a:cs typeface="Calibri" pitchFamily="34" charset="-120"/>
              </a:rPr>
              <a:t>excluxivos</a:t>
            </a:r>
            <a:r>
              <a:rPr lang="en-US" sz="1200" dirty="0">
                <a:solidFill>
                  <a:srgbClr val="12304F"/>
                </a:solidFill>
                <a:latin typeface="Century Schoolbook" panose="02040604050505020304" pitchFamily="18" charset="0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12304F"/>
                </a:solidFill>
                <a:latin typeface="Century Schoolbook" panose="02040604050505020304" pitchFamily="18" charset="0"/>
                <a:cs typeface="Calibri" pitchFamily="34" charset="-120"/>
              </a:rPr>
              <a:t>Aerómetro</a:t>
            </a:r>
            <a:endParaRPr lang="en-US" sz="1200" dirty="0">
              <a:latin typeface="Century Schoolbook" panose="020406040505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E8F3FC"/>
          </a:solidFill>
          <a:ln w="9525">
            <a:solidFill>
              <a:srgbClr val="8EC5F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9436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65C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55, 884</a:t>
            </a:r>
            <a:endParaRPr lang="en-US" sz="2400" dirty="0">
              <a:latin typeface="Century Schoolbook" panose="020406040505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94360" y="36758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usuarios</a:t>
            </a:r>
            <a:r>
              <a:rPr lang="en-US" sz="12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200" dirty="0" err="1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excluir</a:t>
            </a:r>
            <a:r>
              <a:rPr lang="en-US" sz="12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Aerómetro</a:t>
            </a:r>
            <a:endParaRPr lang="en-US" sz="1200" dirty="0">
              <a:latin typeface="Century Schoolbook" panose="020406040505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51376" y="1225296"/>
            <a:ext cx="4590288" cy="2920533"/>
          </a:xfrm>
          <a:prstGeom prst="rect">
            <a:avLst/>
          </a:prstGeom>
          <a:solidFill>
            <a:srgbClr val="FFFFFF"/>
          </a:solidFill>
          <a:ln w="12700">
            <a:solidFill>
              <a:srgbClr val="8EC5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4" name="Text 11"/>
          <p:cNvSpPr txBox="1"/>
          <p:nvPr/>
        </p:nvSpPr>
        <p:spPr>
          <a:xfrm>
            <a:off x="4206240" y="4160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Anexo 20 · Usuarios según cantidad de modos</a:t>
            </a:r>
            <a:endParaRPr lang="en-US" sz="1100" dirty="0">
              <a:latin typeface="Century Schoolbook" panose="02040604050505020304" pitchFamily="18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FDB7E06-8792-E7DB-0732-3D35ABCC2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376" y="1307580"/>
            <a:ext cx="4692717" cy="27797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02 · Dashboard Red Metropolitana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02336" y="1133856"/>
            <a:ext cx="5687568" cy="3426684"/>
          </a:xfrm>
          <a:prstGeom prst="rect">
            <a:avLst/>
          </a:prstGeom>
          <a:solidFill>
            <a:srgbClr val="FFFFFF"/>
          </a:solidFill>
          <a:ln w="12700">
            <a:solidFill>
              <a:srgbClr val="8EC5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Text 2"/>
          <p:cNvSpPr txBox="1"/>
          <p:nvPr/>
        </p:nvSpPr>
        <p:spPr>
          <a:xfrm>
            <a:off x="457200" y="46177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Anexo 23 · Dashboard interactivo en Tableau</a:t>
            </a:r>
            <a:endParaRPr lang="en-US" sz="1100" dirty="0">
              <a:latin typeface="Century Schoolbook" panose="020406040505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0" y="118872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E8F3FC"/>
          </a:solidFill>
          <a:ln w="9525">
            <a:solidFill>
              <a:srgbClr val="8EC5F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4"/>
          <p:cNvSpPr txBox="1"/>
          <p:nvPr/>
        </p:nvSpPr>
        <p:spPr>
          <a:xfrm>
            <a:off x="6492240" y="1188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modo y zona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219456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E8F3FC"/>
          </a:solidFill>
          <a:ln w="9525">
            <a:solidFill>
              <a:srgbClr val="8EC5F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6"/>
          <p:cNvSpPr txBox="1"/>
          <p:nvPr/>
        </p:nvSpPr>
        <p:spPr>
          <a:xfrm>
            <a:off x="6492240" y="2194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vistas integradas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0" y="320040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1565C0"/>
          </a:solidFill>
          <a:ln w="95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8"/>
          <p:cNvSpPr txBox="1"/>
          <p:nvPr/>
        </p:nvSpPr>
        <p:spPr>
          <a:xfrm>
            <a:off x="6492240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solo a Gold</a:t>
            </a:r>
            <a:endParaRPr lang="en-US" sz="14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1E64541-E079-7026-6720-F007403B1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50" y="1163996"/>
            <a:ext cx="5782139" cy="342513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Caso MetroRiel · brecha de cobertura</a:t>
            </a:r>
            <a:endParaRPr lang="en-US" sz="2800" dirty="0">
              <a:latin typeface="Century Schoolbook" panose="020406040505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02336" y="1133856"/>
            <a:ext cx="4590288" cy="2917546"/>
          </a:xfrm>
          <a:prstGeom prst="rect">
            <a:avLst/>
          </a:prstGeom>
          <a:solidFill>
            <a:srgbClr val="FFFFFF"/>
          </a:solidFill>
          <a:ln w="12700">
            <a:solidFill>
              <a:srgbClr val="8EC5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pic>
        <p:nvPicPr>
          <p:cNvPr id="4" name="Image 0" descr="/home/claude/img/a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480560" cy="280781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069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Anexo 31 · Demanda en zonas objetivo</a:t>
            </a:r>
            <a:endParaRPr lang="en-US" sz="1100" dirty="0">
              <a:latin typeface="Century Schoolbook" panose="02040604050505020304" pitchFamily="18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30352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Abordajes en zonas objetivo</a:t>
            </a:r>
            <a:endParaRPr lang="en-US" sz="1600" dirty="0">
              <a:latin typeface="Century Schoolbook" panose="020406040505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5303520" y="15087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Zona 17: 94,799</a:t>
            </a:r>
            <a:endParaRPr lang="en-US" sz="1400" dirty="0"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Zona 12: 93,933</a:t>
            </a:r>
            <a:endParaRPr lang="en-US" sz="1400" dirty="0"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Zona 1: 83,367</a:t>
            </a:r>
            <a:endParaRPr lang="en-US" sz="1400" dirty="0"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Zona 8: 80,157</a:t>
            </a:r>
            <a:endParaRPr lang="en-US" sz="1400" dirty="0"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2304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Zona 6: 71,840</a:t>
            </a:r>
            <a:endParaRPr lang="en-US" sz="1400" dirty="0">
              <a:latin typeface="Century Schoolbook" panose="020406040505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303520" y="31089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GT">
              <a:latin typeface="Century Schoolbook" panose="020406040505050203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440680" y="31546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Propuesta</a:t>
            </a:r>
            <a:r>
              <a:rPr lang="en-US" sz="1300" b="1" dirty="0">
                <a:solidFill>
                  <a:srgbClr val="FFFFF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MetroRiel</a:t>
            </a:r>
            <a:r>
              <a:rPr lang="en-US" sz="1300" dirty="0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300" dirty="0" err="1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registra</a:t>
            </a:r>
            <a:r>
              <a:rPr lang="en-US" sz="1300" dirty="0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abordajes</a:t>
            </a:r>
            <a:r>
              <a:rPr lang="en-US" sz="1300" dirty="0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estas</a:t>
            </a:r>
            <a:r>
              <a:rPr lang="en-US" sz="1300" dirty="0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zonas. </a:t>
            </a:r>
            <a:r>
              <a:rPr lang="en-US" sz="1300" dirty="0" err="1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Priorizar</a:t>
            </a:r>
            <a:r>
              <a:rPr lang="en-US" sz="1300" dirty="0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300" dirty="0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cobertura</a:t>
            </a:r>
            <a:r>
              <a:rPr lang="en-US" sz="1300" dirty="0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dirty="0" err="1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reforzar</a:t>
            </a:r>
            <a:r>
              <a:rPr lang="en-US" sz="1300" dirty="0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capacidad</a:t>
            </a:r>
            <a:r>
              <a:rPr lang="en-US" sz="1300" dirty="0">
                <a:solidFill>
                  <a:srgbClr val="DCEBFA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a las 7:00 y 17:00.</a:t>
            </a:r>
            <a:endParaRPr lang="en-US" sz="1300" dirty="0">
              <a:latin typeface="Century Schoolbook" panose="020406040505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F067FC2C-6DA9-1295-808D-CC09BD47FA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7" b="2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Conclusiones y </a:t>
            </a:r>
            <a:r>
              <a:rPr lang="en-US" sz="2800" b="1" dirty="0" err="1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Recomendaciones</a:t>
            </a:r>
            <a:endParaRPr lang="en-US" sz="2800" dirty="0">
              <a:latin typeface="Century Schoolbook" panose="020406040505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EC5F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2000" dirty="0">
              <a:latin typeface="Century Schoolbook" panose="020406040505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3840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Pipeline completo, trazable e idempotente</a:t>
            </a:r>
            <a:endParaRPr lang="en-US" sz="1500" dirty="0">
              <a:latin typeface="Century Schoolbook" panose="020406040505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Calidad medida: 18,431 rechazos auditables y 82 pruebas dbt PASS</a:t>
            </a:r>
            <a:endParaRPr lang="en-US" sz="1500" dirty="0">
              <a:latin typeface="Century Schoolbook" panose="020406040505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Picos a las 7:00 y 17:00; 36,829 usuarios multimodales</a:t>
            </a:r>
            <a:endParaRPr lang="en-US" sz="1500" dirty="0">
              <a:latin typeface="Century Schoolbook" panose="020406040505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8EC5F0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Recomendaciones</a:t>
            </a:r>
            <a:endParaRPr lang="en-US" sz="2000" dirty="0">
              <a:latin typeface="Century Schoolbook" panose="02040604050505020304" pitchFamily="18" charset="0"/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200F9BF3-F42F-B0F6-1CDE-3BCADDDBECB3}"/>
              </a:ext>
            </a:extLst>
          </p:cNvPr>
          <p:cNvSpPr txBox="1"/>
          <p:nvPr/>
        </p:nvSpPr>
        <p:spPr>
          <a:xfrm>
            <a:off x="4572000" y="1600200"/>
            <a:ext cx="3840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 err="1">
                <a:solidFill>
                  <a:srgbClr val="FFFFFF"/>
                </a:solidFill>
                <a:latin typeface="Century Schoolbook" panose="02040604050505020304" pitchFamily="18" charset="0"/>
                <a:cs typeface="Calibri" pitchFamily="34" charset="-120"/>
              </a:rPr>
              <a:t>Mantener</a:t>
            </a:r>
            <a:r>
              <a:rPr lang="en-US" sz="1500" dirty="0">
                <a:solidFill>
                  <a:srgbClr val="FFFFFF"/>
                </a:solidFill>
                <a:latin typeface="Century Schoolbook" panose="02040604050505020304" pitchFamily="18" charset="0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entury Schoolbook" panose="02040604050505020304" pitchFamily="18" charset="0"/>
                <a:cs typeface="Calibri" pitchFamily="34" charset="-120"/>
              </a:rPr>
              <a:t>monitoreo</a:t>
            </a:r>
            <a:r>
              <a:rPr lang="en-US" sz="1500" dirty="0">
                <a:solidFill>
                  <a:srgbClr val="FFFFFF"/>
                </a:solidFill>
                <a:latin typeface="Century Schoolbook" panose="02040604050505020304" pitchFamily="18" charset="0"/>
                <a:cs typeface="Calibri" pitchFamily="34" charset="-120"/>
              </a:rPr>
              <a:t> continuo de la </a:t>
            </a:r>
            <a:r>
              <a:rPr lang="en-US" sz="1500" dirty="0" err="1">
                <a:solidFill>
                  <a:srgbClr val="FFFFFF"/>
                </a:solidFill>
                <a:latin typeface="Century Schoolbook" panose="02040604050505020304" pitchFamily="18" charset="0"/>
                <a:cs typeface="Calibri" pitchFamily="34" charset="-120"/>
              </a:rPr>
              <a:t>calidad</a:t>
            </a:r>
            <a:r>
              <a:rPr lang="en-US" sz="1500" dirty="0">
                <a:solidFill>
                  <a:srgbClr val="FFFFFF"/>
                </a:solidFill>
                <a:latin typeface="Century Schoolbook" panose="02040604050505020304" pitchFamily="18" charset="0"/>
                <a:cs typeface="Calibri" pitchFamily="34" charset="-120"/>
              </a:rPr>
              <a:t> e </a:t>
            </a:r>
            <a:r>
              <a:rPr lang="en-US" sz="1500" dirty="0" err="1">
                <a:solidFill>
                  <a:srgbClr val="FFFFFF"/>
                </a:solidFill>
                <a:latin typeface="Century Schoolbook" panose="02040604050505020304" pitchFamily="18" charset="0"/>
                <a:cs typeface="Calibri" pitchFamily="34" charset="-120"/>
              </a:rPr>
              <a:t>integridad</a:t>
            </a:r>
            <a:r>
              <a:rPr lang="en-US" sz="1500" dirty="0">
                <a:solidFill>
                  <a:srgbClr val="FFFFFF"/>
                </a:solidFill>
                <a:latin typeface="Century Schoolbook" panose="02040604050505020304" pitchFamily="18" charset="0"/>
                <a:cs typeface="Calibri" pitchFamily="34" charset="-120"/>
              </a:rPr>
              <a:t> de </a:t>
            </a:r>
            <a:r>
              <a:rPr lang="en-US" sz="1500" dirty="0" err="1">
                <a:solidFill>
                  <a:srgbClr val="FFFFFF"/>
                </a:solidFill>
                <a:latin typeface="Century Schoolbook" panose="02040604050505020304" pitchFamily="18" charset="0"/>
                <a:cs typeface="Calibri" pitchFamily="34" charset="-120"/>
              </a:rPr>
              <a:t>los</a:t>
            </a:r>
            <a:r>
              <a:rPr lang="en-US" sz="1500" dirty="0">
                <a:solidFill>
                  <a:srgbClr val="FFFFFF"/>
                </a:solidFill>
                <a:latin typeface="Century Schoolbook" panose="02040604050505020304" pitchFamily="18" charset="0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entury Schoolbook" panose="02040604050505020304" pitchFamily="18" charset="0"/>
                <a:cs typeface="Calibri" pitchFamily="34" charset="-120"/>
              </a:rPr>
              <a:t>datos</a:t>
            </a:r>
            <a:r>
              <a:rPr lang="en-US" sz="1500" dirty="0">
                <a:solidFill>
                  <a:srgbClr val="FFFFFF"/>
                </a:solidFill>
                <a:latin typeface="Century Schoolbook" panose="02040604050505020304" pitchFamily="18" charset="0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 err="1">
                <a:solidFill>
                  <a:schemeClr val="bg1"/>
                </a:solidFill>
                <a:latin typeface="Century Schoolbook" panose="02040604050505020304" pitchFamily="18" charset="0"/>
              </a:rPr>
              <a:t>Ampliar</a:t>
            </a:r>
            <a:r>
              <a:rPr lang="en-US" sz="1500" dirty="0">
                <a:solidFill>
                  <a:schemeClr val="bg1"/>
                </a:solidFill>
                <a:latin typeface="Century Schoolbook" panose="02040604050505020304" pitchFamily="18" charset="0"/>
              </a:rPr>
              <a:t> la </a:t>
            </a:r>
            <a:r>
              <a:rPr lang="en-US" sz="1500" dirty="0" err="1">
                <a:solidFill>
                  <a:schemeClr val="bg1"/>
                </a:solidFill>
                <a:latin typeface="Century Schoolbook" panose="02040604050505020304" pitchFamily="18" charset="0"/>
              </a:rPr>
              <a:t>cobertura</a:t>
            </a:r>
            <a:r>
              <a:rPr lang="en-US" sz="1500" dirty="0">
                <a:solidFill>
                  <a:schemeClr val="bg1"/>
                </a:solidFill>
                <a:latin typeface="Century Schoolbook" panose="02040604050505020304" pitchFamily="18" charset="0"/>
              </a:rPr>
              <a:t> de </a:t>
            </a:r>
            <a:r>
              <a:rPr lang="en-US" sz="1500" dirty="0" err="1">
                <a:solidFill>
                  <a:schemeClr val="bg1"/>
                </a:solidFill>
                <a:latin typeface="Century Schoolbook" panose="02040604050505020304" pitchFamily="18" charset="0"/>
              </a:rPr>
              <a:t>MetroRiel</a:t>
            </a:r>
            <a:r>
              <a:rPr lang="en-US" sz="1500" dirty="0">
                <a:solidFill>
                  <a:schemeClr val="bg1"/>
                </a:solidFill>
                <a:latin typeface="Century Schoolbook" panose="02040604050505020304" pitchFamily="18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entury Schoolbook" panose="02040604050505020304" pitchFamily="18" charset="0"/>
              </a:rPr>
              <a:t>en</a:t>
            </a:r>
            <a:r>
              <a:rPr lang="en-US" sz="1500" dirty="0">
                <a:solidFill>
                  <a:schemeClr val="bg1"/>
                </a:solidFill>
                <a:latin typeface="Century Schoolbook" panose="02040604050505020304" pitchFamily="18" charset="0"/>
              </a:rPr>
              <a:t> las zonas con mayor </a:t>
            </a:r>
            <a:r>
              <a:rPr lang="en-US" sz="1500" dirty="0" err="1">
                <a:solidFill>
                  <a:schemeClr val="bg1"/>
                </a:solidFill>
                <a:latin typeface="Century Schoolbook" panose="02040604050505020304" pitchFamily="18" charset="0"/>
              </a:rPr>
              <a:t>demanda</a:t>
            </a:r>
            <a:r>
              <a:rPr lang="en-US" sz="1500" dirty="0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 err="1">
                <a:solidFill>
                  <a:schemeClr val="bg1"/>
                </a:solidFill>
                <a:latin typeface="Century Schoolbook" panose="02040604050505020304" pitchFamily="18" charset="0"/>
              </a:rPr>
              <a:t>Actualizar</a:t>
            </a:r>
            <a:r>
              <a:rPr lang="en-US" sz="1500" dirty="0">
                <a:solidFill>
                  <a:schemeClr val="bg1"/>
                </a:solidFill>
                <a:latin typeface="Century Schoolbook" panose="02040604050505020304" pitchFamily="18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entury Schoolbook" panose="02040604050505020304" pitchFamily="18" charset="0"/>
              </a:rPr>
              <a:t>periódicamente</a:t>
            </a:r>
            <a:r>
              <a:rPr lang="en-US" sz="1500" dirty="0">
                <a:solidFill>
                  <a:schemeClr val="bg1"/>
                </a:solidFill>
                <a:latin typeface="Century Schoolbook" panose="02040604050505020304" pitchFamily="18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entury Schoolbook" panose="02040604050505020304" pitchFamily="18" charset="0"/>
              </a:rPr>
              <a:t>el</a:t>
            </a:r>
            <a:r>
              <a:rPr lang="en-US" sz="1500" dirty="0">
                <a:solidFill>
                  <a:schemeClr val="bg1"/>
                </a:solidFill>
                <a:latin typeface="Century Schoolbook" panose="02040604050505020304" pitchFamily="18" charset="0"/>
              </a:rPr>
              <a:t> dashboard para </a:t>
            </a:r>
            <a:r>
              <a:rPr lang="en-US" sz="1500" dirty="0" err="1">
                <a:solidFill>
                  <a:schemeClr val="bg1"/>
                </a:solidFill>
                <a:latin typeface="Century Schoolbook" panose="02040604050505020304" pitchFamily="18" charset="0"/>
              </a:rPr>
              <a:t>apoyar</a:t>
            </a:r>
            <a:r>
              <a:rPr lang="en-US" sz="1500" dirty="0">
                <a:solidFill>
                  <a:schemeClr val="bg1"/>
                </a:solidFill>
                <a:latin typeface="Century Schoolbook" panose="02040604050505020304" pitchFamily="18" charset="0"/>
              </a:rPr>
              <a:t> la </a:t>
            </a:r>
            <a:r>
              <a:rPr lang="en-US" sz="1500" dirty="0" err="1">
                <a:solidFill>
                  <a:schemeClr val="bg1"/>
                </a:solidFill>
                <a:latin typeface="Century Schoolbook" panose="02040604050505020304" pitchFamily="18" charset="0"/>
              </a:rPr>
              <a:t>toma</a:t>
            </a:r>
            <a:r>
              <a:rPr lang="en-US" sz="1500" dirty="0">
                <a:solidFill>
                  <a:schemeClr val="bg1"/>
                </a:solidFill>
                <a:latin typeface="Century Schoolbook" panose="02040604050505020304" pitchFamily="18" charset="0"/>
              </a:rPr>
              <a:t> de </a:t>
            </a:r>
            <a:r>
              <a:rPr lang="en-US" sz="1500" dirty="0" err="1">
                <a:solidFill>
                  <a:schemeClr val="bg1"/>
                </a:solidFill>
                <a:latin typeface="Century Schoolbook" panose="02040604050505020304" pitchFamily="18" charset="0"/>
              </a:rPr>
              <a:t>decisiones</a:t>
            </a:r>
            <a:r>
              <a:rPr lang="en-US" sz="1500" dirty="0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975</Words>
  <Application>Microsoft Macintosh PowerPoint</Application>
  <PresentationFormat>Presentación en pantalla (16:9)</PresentationFormat>
  <Paragraphs>210</Paragraphs>
  <Slides>18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Century Schoolbook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Red Metropolitana - Fase 01 y Fase 02</dc:title>
  <dc:subject>PptxGenJS Presentation</dc:subject>
  <dc:creator>PptxGenJS</dc:creator>
  <cp:lastModifiedBy>HARRIETT GUZMAN LOPEZ</cp:lastModifiedBy>
  <cp:revision>2</cp:revision>
  <dcterms:created xsi:type="dcterms:W3CDTF">2026-10-01T02:17:54Z</dcterms:created>
  <dcterms:modified xsi:type="dcterms:W3CDTF">2026-10-28T02:43:08Z</dcterms:modified>
</cp:coreProperties>
</file>